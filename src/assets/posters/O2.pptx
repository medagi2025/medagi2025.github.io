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619" r:id="rId3"/>
    <p:sldId id="604" r:id="rId4"/>
    <p:sldId id="621" r:id="rId5"/>
    <p:sldId id="622" r:id="rId6"/>
    <p:sldId id="620" r:id="rId7"/>
    <p:sldId id="257" r:id="rId8"/>
    <p:sldId id="609" r:id="rId9"/>
    <p:sldId id="612" r:id="rId10"/>
    <p:sldId id="611" r:id="rId11"/>
    <p:sldId id="613" r:id="rId12"/>
    <p:sldId id="614" r:id="rId13"/>
    <p:sldId id="615" r:id="rId14"/>
    <p:sldId id="618"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46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55"/>
    <p:restoredTop sz="91076"/>
  </p:normalViewPr>
  <p:slideViewPr>
    <p:cSldViewPr snapToGrid="0">
      <p:cViewPr>
        <p:scale>
          <a:sx n="117" d="100"/>
          <a:sy n="117" d="100"/>
        </p:scale>
        <p:origin x="86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5DE1AA-5053-C646-9154-6A61A696CAD9}" type="datetimeFigureOut">
              <a:rPr kumimoji="1" lang="zh-CN" altLang="en-US" smtClean="0"/>
              <a:t>2025/9/14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E3AF22-AF77-BD48-8A35-EDD8353441E5}" type="slidenum">
              <a:rPr kumimoji="1" lang="zh-CN" altLang="en-US" smtClean="0"/>
              <a:t>‹#›</a:t>
            </a:fld>
            <a:endParaRPr kumimoji="1" lang="zh-CN" altLang="en-US"/>
          </a:p>
        </p:txBody>
      </p:sp>
    </p:spTree>
    <p:extLst>
      <p:ext uri="{BB962C8B-B14F-4D97-AF65-F5344CB8AC3E}">
        <p14:creationId xmlns:p14="http://schemas.microsoft.com/office/powerpoint/2010/main" val="3454184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rPr>
              <a:t>Hello everyone, I’m </a:t>
            </a:r>
            <a:r>
              <a:rPr lang="en-US" altLang="zh-CN" sz="1200" b="0" i="0" u="none" strike="noStrike" kern="1200" dirty="0" err="1">
                <a:solidFill>
                  <a:schemeClr val="tx1"/>
                </a:solidFill>
                <a:effectLst/>
                <a:latin typeface="+mn-lt"/>
                <a:ea typeface="+mn-ea"/>
                <a:cs typeface="+mn-cs"/>
              </a:rPr>
              <a:t>Ziyu</a:t>
            </a:r>
            <a:r>
              <a:rPr lang="en-US" altLang="zh-CN" sz="1200" b="0" i="0" u="none" strike="noStrike" kern="1200" dirty="0">
                <a:solidFill>
                  <a:schemeClr val="tx1"/>
                </a:solidFill>
                <a:effectLst/>
                <a:latin typeface="+mn-lt"/>
                <a:ea typeface="+mn-ea"/>
                <a:cs typeface="+mn-cs"/>
              </a:rPr>
              <a:t> Zhou, </a:t>
            </a:r>
            <a:r>
              <a:rPr lang="en-US" altLang="zh-CN" sz="1200" b="0" i="0" u="none" strike="noStrike" kern="1200" dirty="0" err="1">
                <a:solidFill>
                  <a:schemeClr val="tx1"/>
                </a:solidFill>
                <a:effectLst/>
                <a:latin typeface="+mn-lt"/>
                <a:ea typeface="+mn-ea"/>
                <a:cs typeface="+mn-cs"/>
              </a:rPr>
              <a:t>phd</a:t>
            </a:r>
            <a:r>
              <a:rPr lang="en-US" altLang="zh-CN" sz="1200" b="0" i="0" u="none" strike="noStrike" kern="1200" dirty="0">
                <a:solidFill>
                  <a:schemeClr val="tx1"/>
                </a:solidFill>
                <a:effectLst/>
                <a:latin typeface="+mn-lt"/>
                <a:ea typeface="+mn-ea"/>
                <a:cs typeface="+mn-cs"/>
              </a:rPr>
              <a:t> student in Shanghai Jiao Tong University. It’s my pleasure to share our MICCAI workshop paper Lamps: learning anatomy from multiple perspectives via self-supervision in chest radiographs</a:t>
            </a:r>
            <a:endParaRPr lang="en-US" altLang="zh-CN" sz="1200" dirty="0"/>
          </a:p>
          <a:p>
            <a:endParaRPr kumimoji="1" lang="zh-CN" altLang="en-US" dirty="0"/>
          </a:p>
        </p:txBody>
      </p:sp>
      <p:sp>
        <p:nvSpPr>
          <p:cNvPr id="4" name="灯片编号占位符 3"/>
          <p:cNvSpPr>
            <a:spLocks noGrp="1"/>
          </p:cNvSpPr>
          <p:nvPr>
            <p:ph type="sldNum" sz="quarter" idx="5"/>
          </p:nvPr>
        </p:nvSpPr>
        <p:spPr/>
        <p:txBody>
          <a:bodyPr/>
          <a:lstStyle/>
          <a:p>
            <a:fld id="{37E3AF22-AF77-BD48-8A35-EDD8353441E5}" type="slidenum">
              <a:rPr kumimoji="1" lang="zh-CN" altLang="en-US" smtClean="0"/>
              <a:t>1</a:t>
            </a:fld>
            <a:endParaRPr kumimoji="1" lang="zh-CN" altLang="en-US"/>
          </a:p>
        </p:txBody>
      </p:sp>
    </p:spTree>
    <p:extLst>
      <p:ext uri="{BB962C8B-B14F-4D97-AF65-F5344CB8AC3E}">
        <p14:creationId xmlns:p14="http://schemas.microsoft.com/office/powerpoint/2010/main" val="3529727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800" dirty="0">
                <a:solidFill>
                  <a:srgbClr val="000000"/>
                </a:solidFill>
                <a:effectLst/>
                <a:latin typeface="NimbusRomNo9L-Regu"/>
              </a:rPr>
              <a:t>Medical </a:t>
            </a:r>
            <a:r>
              <a:rPr lang="en" altLang="zh-CN" sz="1800" dirty="0">
                <a:solidFill>
                  <a:srgbClr val="000000"/>
                </a:solidFill>
                <a:effectLst/>
                <a:latin typeface="NimbusRomNo9L-Regu"/>
                <a:ea typeface="STSong" panose="02010600040101010101" pitchFamily="2" charset="-122"/>
              </a:rPr>
              <a:t>images acquired with the same imaging protocol have </a:t>
            </a:r>
            <a:r>
              <a:rPr lang="en-US" altLang="zh-CN" sz="1800" dirty="0">
                <a:solidFill>
                  <a:srgbClr val="000000"/>
                </a:solidFill>
                <a:effectLst/>
                <a:latin typeface="NimbusRomNo9L-Regu"/>
                <a:ea typeface="STSong" panose="02010600040101010101" pitchFamily="2" charset="-122"/>
              </a:rPr>
              <a:t>(click) </a:t>
            </a:r>
            <a:r>
              <a:rPr lang="en" altLang="zh-CN" sz="1800" dirty="0">
                <a:solidFill>
                  <a:srgbClr val="000000"/>
                </a:solidFill>
                <a:effectLst/>
                <a:latin typeface="NimbusRomNo9L-Regu"/>
                <a:ea typeface="STSong" panose="02010600040101010101" pitchFamily="2" charset="-122"/>
              </a:rPr>
              <a:t>consistent anatomical structures, </a:t>
            </a:r>
            <a:r>
              <a:rPr lang="en" altLang="zh-CN" sz="1800" dirty="0">
                <a:solidFill>
                  <a:srgbClr val="000000"/>
                </a:solidFill>
                <a:effectLst/>
                <a:latin typeface="NimbusRomNo9L-Regu"/>
              </a:rPr>
              <a:t>and </a:t>
            </a:r>
            <a:r>
              <a:rPr lang="en-US" altLang="zh-CN" sz="1800" dirty="0">
                <a:solidFill>
                  <a:srgbClr val="000000"/>
                </a:solidFill>
                <a:effectLst/>
                <a:latin typeface="NimbusRomNo9L-Regu"/>
              </a:rPr>
              <a:t>(click)</a:t>
            </a:r>
            <a:r>
              <a:rPr lang="en" altLang="zh-CN" sz="1800" dirty="0">
                <a:solidFill>
                  <a:srgbClr val="000000"/>
                </a:solidFill>
                <a:effectLst/>
                <a:latin typeface="SFRM1000"/>
              </a:rPr>
              <a:t> The relative positions of organs and tissues remain stable due to the anatomical coherence of the human body</a:t>
            </a:r>
            <a:r>
              <a:rPr lang="en-US" altLang="zh-CN" sz="1800" dirty="0">
                <a:solidFill>
                  <a:srgbClr val="000000"/>
                </a:solidFill>
                <a:effectLst/>
                <a:latin typeface="NimbusRomNo9L-Regu"/>
              </a:rPr>
              <a:t>. Besides, the medical image holds hierarchical (click) nature of anatomy. For example, the left lung has two lobes, the superior lobe and the inferior lobe. This calls for anatomical representation with compositionality: the embedding of the whole patch should be the sum of each local part.</a:t>
            </a:r>
            <a:endParaRPr lang="en" altLang="zh-CN" sz="1800" dirty="0">
              <a:solidFill>
                <a:srgbClr val="000000"/>
              </a:solidFill>
              <a:effectLst/>
              <a:latin typeface="STSong" panose="02010600040101010101" pitchFamily="2" charset="-122"/>
              <a:ea typeface="STSong" panose="02010600040101010101" pitchFamily="2" charset="-122"/>
            </a:endParaRPr>
          </a:p>
        </p:txBody>
      </p:sp>
      <p:sp>
        <p:nvSpPr>
          <p:cNvPr id="4" name="灯片编号占位符 3"/>
          <p:cNvSpPr>
            <a:spLocks noGrp="1"/>
          </p:cNvSpPr>
          <p:nvPr>
            <p:ph type="sldNum" sz="quarter" idx="5"/>
          </p:nvPr>
        </p:nvSpPr>
        <p:spPr/>
        <p:txBody>
          <a:bodyPr/>
          <a:lstStyle/>
          <a:p>
            <a:fld id="{3E978EB0-82F0-471B-9617-E20A31133A63}" type="slidenum">
              <a:rPr lang="en-US" smtClean="0"/>
              <a:t>2</a:t>
            </a:fld>
            <a:endParaRPr lang="en-US"/>
          </a:p>
        </p:txBody>
      </p:sp>
    </p:spTree>
    <p:extLst>
      <p:ext uri="{BB962C8B-B14F-4D97-AF65-F5344CB8AC3E}">
        <p14:creationId xmlns:p14="http://schemas.microsoft.com/office/powerpoint/2010/main" val="3912417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800" dirty="0"/>
              <a:t>Our question comes to how to utilize the intrinsic properties in medical images? </a:t>
            </a:r>
            <a:endParaRPr lang="en" altLang="zh-CN" sz="1800" dirty="0">
              <a:solidFill>
                <a:srgbClr val="000000"/>
              </a:solidFill>
              <a:effectLst/>
              <a:latin typeface="STSong" panose="02010600040101010101" pitchFamily="2" charset="-122"/>
              <a:ea typeface="STSong" panose="02010600040101010101" pitchFamily="2" charset="-122"/>
            </a:endParaRPr>
          </a:p>
        </p:txBody>
      </p:sp>
      <p:sp>
        <p:nvSpPr>
          <p:cNvPr id="4" name="灯片编号占位符 3"/>
          <p:cNvSpPr>
            <a:spLocks noGrp="1"/>
          </p:cNvSpPr>
          <p:nvPr>
            <p:ph type="sldNum" sz="quarter" idx="5"/>
          </p:nvPr>
        </p:nvSpPr>
        <p:spPr/>
        <p:txBody>
          <a:bodyPr/>
          <a:lstStyle/>
          <a:p>
            <a:fld id="{3E978EB0-82F0-471B-9617-E20A31133A63}" type="slidenum">
              <a:rPr lang="en-US" smtClean="0"/>
              <a:t>3</a:t>
            </a:fld>
            <a:endParaRPr lang="en-US"/>
          </a:p>
        </p:txBody>
      </p:sp>
    </p:spTree>
    <p:extLst>
      <p:ext uri="{BB962C8B-B14F-4D97-AF65-F5344CB8AC3E}">
        <p14:creationId xmlns:p14="http://schemas.microsoft.com/office/powerpoint/2010/main" val="3749704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800" dirty="0">
                <a:solidFill>
                  <a:srgbClr val="000000"/>
                </a:solidFill>
                <a:effectLst/>
                <a:latin typeface="STSong" panose="02010600040101010101" pitchFamily="2" charset="-122"/>
                <a:ea typeface="STSong" panose="02010600040101010101" pitchFamily="2" charset="-122"/>
              </a:rPr>
              <a:t>Our method learns human anatomy from three perspectives. The first perspective (click): learning continuity from extrapolation, </a:t>
            </a:r>
            <a:r>
              <a:rPr lang="en" altLang="zh-CN" sz="1800" dirty="0">
                <a:solidFill>
                  <a:srgbClr val="000000"/>
                </a:solidFill>
                <a:effectLst/>
                <a:latin typeface="SFRM1000"/>
              </a:rPr>
              <a:t>we encourage the model to learn the anatomical context exterior the given structure—for example, given the heart, the model predicts the surrounding lung region. In this context, extrapolation refers to the model using information from a given image crop to predict semantically relevant details </a:t>
            </a:r>
            <a:r>
              <a:rPr lang="en" altLang="zh-CN" sz="1800" i="1" dirty="0">
                <a:solidFill>
                  <a:srgbClr val="000000"/>
                </a:solidFill>
                <a:effectLst/>
                <a:latin typeface="SFTI1000"/>
              </a:rPr>
              <a:t>outside </a:t>
            </a:r>
            <a:r>
              <a:rPr lang="en" altLang="zh-CN" sz="1800" dirty="0">
                <a:solidFill>
                  <a:srgbClr val="000000"/>
                </a:solidFill>
                <a:effectLst/>
                <a:latin typeface="SFRM1000"/>
              </a:rPr>
              <a:t>of that crop based on patterns learned from similar images. The second perspective (click): </a:t>
            </a:r>
            <a:r>
              <a:rPr kumimoji="1" lang="en-US" altLang="zh-CN" sz="4000" dirty="0">
                <a:latin typeface="Times New Roman" panose="02020603050405020304" pitchFamily="18" charset="0"/>
                <a:cs typeface="Times New Roman" panose="02020603050405020304" pitchFamily="18" charset="0"/>
              </a:rPr>
              <a:t>learning consistent spatial layout from order correction.</a:t>
            </a:r>
            <a:r>
              <a:rPr lang="en" altLang="zh-CN" sz="1800" dirty="0">
                <a:solidFill>
                  <a:srgbClr val="000000"/>
                </a:solidFill>
                <a:effectLst/>
                <a:latin typeface="SFRM1000"/>
              </a:rPr>
              <a:t> In medical imaging (e.g., chest X-ray), the relative positions of organs and tissues are consistent due to anatomical coherence. As such, the relative patch order is a strong signal for patch-level supervision. For implementation, </a:t>
            </a:r>
            <a:r>
              <a:rPr lang="en" altLang="zh-CN" sz="7200" dirty="0">
                <a:solidFill>
                  <a:srgbClr val="000000"/>
                </a:solidFill>
                <a:effectLst/>
                <a:latin typeface="SFRM1000"/>
              </a:rPr>
              <a:t>we predict the order of the shuffled patches, and align the corresponding patch embeddings between student and teacher.</a:t>
            </a:r>
            <a:endParaRPr lang="en" altLang="zh-CN" sz="5400" dirty="0"/>
          </a:p>
          <a:p>
            <a:endParaRPr lang="en" altLang="zh-CN" sz="4000" dirty="0"/>
          </a:p>
          <a:p>
            <a:endParaRPr lang="en" altLang="zh-CN" sz="2800" dirty="0"/>
          </a:p>
          <a:p>
            <a:endParaRPr lang="en" altLang="zh-CN" sz="1800" dirty="0">
              <a:solidFill>
                <a:srgbClr val="000000"/>
              </a:solidFill>
              <a:effectLst/>
              <a:latin typeface="STSong" panose="02010600040101010101" pitchFamily="2" charset="-122"/>
              <a:ea typeface="STSong" panose="02010600040101010101" pitchFamily="2" charset="-122"/>
            </a:endParaRPr>
          </a:p>
        </p:txBody>
      </p:sp>
      <p:sp>
        <p:nvSpPr>
          <p:cNvPr id="4" name="灯片编号占位符 3"/>
          <p:cNvSpPr>
            <a:spLocks noGrp="1"/>
          </p:cNvSpPr>
          <p:nvPr>
            <p:ph type="sldNum" sz="quarter" idx="5"/>
          </p:nvPr>
        </p:nvSpPr>
        <p:spPr/>
        <p:txBody>
          <a:bodyPr/>
          <a:lstStyle/>
          <a:p>
            <a:fld id="{3E978EB0-82F0-471B-9617-E20A31133A63}" type="slidenum">
              <a:rPr lang="en-US" smtClean="0"/>
              <a:t>4</a:t>
            </a:fld>
            <a:endParaRPr lang="en-US"/>
          </a:p>
        </p:txBody>
      </p:sp>
    </p:spTree>
    <p:extLst>
      <p:ext uri="{BB962C8B-B14F-4D97-AF65-F5344CB8AC3E}">
        <p14:creationId xmlns:p14="http://schemas.microsoft.com/office/powerpoint/2010/main" val="7206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solidFill>
                  <a:srgbClr val="000000"/>
                </a:solidFill>
                <a:effectLst/>
                <a:latin typeface="NimbusRomNo9L-Regu"/>
              </a:rPr>
              <a:t>The third perspective: </a:t>
            </a:r>
            <a:r>
              <a:rPr kumimoji="1" lang="en-US" altLang="zh-CN" sz="1800" dirty="0">
                <a:latin typeface="Times New Roman" panose="02020603050405020304" pitchFamily="18" charset="0"/>
                <a:cs typeface="Times New Roman" panose="02020603050405020304" pitchFamily="18" charset="0"/>
              </a:rPr>
              <a:t>learning hierarchy from composition/decomposition. </a:t>
            </a:r>
            <a:r>
              <a:rPr lang="en" altLang="zh-CN" sz="1800" dirty="0">
                <a:solidFill>
                  <a:srgbClr val="000000"/>
                </a:solidFill>
                <a:effectLst/>
                <a:latin typeface="SFRM1000"/>
              </a:rPr>
              <a:t>From a hierarchical view in anatomies, organs and tissues can be broken down into smaller components. In detail, to learn the anatomical structure in a hierarchical way, the initial </a:t>
            </a:r>
            <a:endParaRPr lang="en" altLang="zh-CN" sz="4000" dirty="0"/>
          </a:p>
          <a:p>
            <a:r>
              <a:rPr lang="en" altLang="zh-CN" sz="1800" dirty="0">
                <a:solidFill>
                  <a:srgbClr val="000000"/>
                </a:solidFill>
                <a:effectLst/>
                <a:latin typeface="SFRM1000"/>
              </a:rPr>
              <a:t>image is randomly cropped to </a:t>
            </a:r>
            <a:r>
              <a:rPr lang="en" altLang="zh-CN" sz="1800" i="1" dirty="0">
                <a:solidFill>
                  <a:srgbClr val="000000"/>
                </a:solidFill>
                <a:effectLst/>
                <a:latin typeface="CMMI10"/>
              </a:rPr>
              <a:t>P</a:t>
            </a:r>
            <a:r>
              <a:rPr lang="en" altLang="zh-CN" sz="1800" dirty="0">
                <a:solidFill>
                  <a:srgbClr val="000000"/>
                </a:solidFill>
                <a:effectLst/>
                <a:latin typeface="CMR7"/>
              </a:rPr>
              <a:t> </a:t>
            </a:r>
            <a:r>
              <a:rPr lang="en" altLang="zh-CN" sz="1800" dirty="0">
                <a:solidFill>
                  <a:srgbClr val="000000"/>
                </a:solidFill>
                <a:effectLst/>
                <a:latin typeface="SFRM1000"/>
              </a:rPr>
              <a:t>with a cropping ratio in a coarse-to-fine manner. P is divided into 4 sub-crops. To capture composition, the sub-crops are encoded by </a:t>
            </a:r>
            <a:r>
              <a:rPr lang="en" altLang="zh-CN" sz="1800" dirty="0">
                <a:solidFill>
                  <a:srgbClr val="000000"/>
                </a:solidFill>
                <a:effectLst/>
                <a:latin typeface="SFTT1000"/>
              </a:rPr>
              <a:t>Student </a:t>
            </a:r>
            <a:r>
              <a:rPr lang="en" altLang="zh-CN" sz="1800" dirty="0">
                <a:solidFill>
                  <a:srgbClr val="000000"/>
                </a:solidFill>
                <a:effectLst/>
                <a:latin typeface="SFRM1000"/>
              </a:rPr>
              <a:t>to get corresponding sub-crop embeddings, which are concatenated and input to a linear layer to aggregate the features. The embedding of P from teacher model is then aligned with the aggregated feature to capture the composition. And the decomposition is implemented in a symmetrical way.</a:t>
            </a:r>
            <a:endParaRPr lang="en" altLang="zh-CN" sz="5400" dirty="0"/>
          </a:p>
          <a:p>
            <a:endParaRPr lang="en" altLang="zh-CN" sz="4000" dirty="0"/>
          </a:p>
        </p:txBody>
      </p:sp>
      <p:sp>
        <p:nvSpPr>
          <p:cNvPr id="4" name="灯片编号占位符 3"/>
          <p:cNvSpPr>
            <a:spLocks noGrp="1"/>
          </p:cNvSpPr>
          <p:nvPr>
            <p:ph type="sldNum" sz="quarter" idx="5"/>
          </p:nvPr>
        </p:nvSpPr>
        <p:spPr/>
        <p:txBody>
          <a:bodyPr/>
          <a:lstStyle/>
          <a:p>
            <a:fld id="{3E978EB0-82F0-471B-9617-E20A31133A63}" type="slidenum">
              <a:rPr lang="en-US" smtClean="0"/>
              <a:t>5</a:t>
            </a:fld>
            <a:endParaRPr lang="en-US"/>
          </a:p>
        </p:txBody>
      </p:sp>
    </p:spTree>
    <p:extLst>
      <p:ext uri="{BB962C8B-B14F-4D97-AF65-F5344CB8AC3E}">
        <p14:creationId xmlns:p14="http://schemas.microsoft.com/office/powerpoint/2010/main" val="1865771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2800" b="0" dirty="0"/>
              <a:t>Training a model with a single objective gives only a limited understanding. Simply summing multiple losses can confuse the model, since different losses may push optimization in conflicting directions. To address this, we unify the three perspectives using cyclic pretraining, which not only reduces computational cost compared to co-training in a single epoch, but also avoids the need to generate heterogeneous data for different tasks. </a:t>
            </a:r>
            <a:r>
              <a:rPr lang="en" altLang="zh-CN" sz="4000" b="0" dirty="0"/>
              <a:t>In the cyclic pattern, each perspective is trained once every three epochs.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CN" sz="2800" b="0" dirty="0"/>
          </a:p>
          <a:p>
            <a:endParaRPr lang="en" altLang="zh-CN" sz="1800" dirty="0">
              <a:solidFill>
                <a:srgbClr val="000000"/>
              </a:solidFill>
              <a:effectLst/>
              <a:latin typeface="STSong" panose="02010600040101010101" pitchFamily="2" charset="-122"/>
              <a:ea typeface="STSong" panose="02010600040101010101" pitchFamily="2" charset="-122"/>
            </a:endParaRPr>
          </a:p>
        </p:txBody>
      </p:sp>
      <p:sp>
        <p:nvSpPr>
          <p:cNvPr id="4" name="灯片编号占位符 3"/>
          <p:cNvSpPr>
            <a:spLocks noGrp="1"/>
          </p:cNvSpPr>
          <p:nvPr>
            <p:ph type="sldNum" sz="quarter" idx="5"/>
          </p:nvPr>
        </p:nvSpPr>
        <p:spPr/>
        <p:txBody>
          <a:bodyPr/>
          <a:lstStyle/>
          <a:p>
            <a:fld id="{3E978EB0-82F0-471B-9617-E20A31133A63}" type="slidenum">
              <a:rPr lang="en-US" smtClean="0"/>
              <a:t>6</a:t>
            </a:fld>
            <a:endParaRPr lang="en-US"/>
          </a:p>
        </p:txBody>
      </p:sp>
    </p:spTree>
    <p:extLst>
      <p:ext uri="{BB962C8B-B14F-4D97-AF65-F5344CB8AC3E}">
        <p14:creationId xmlns:p14="http://schemas.microsoft.com/office/powerpoint/2010/main" val="1635502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In self-supervised learning, we pretrain source models without using expert annotations. </a:t>
            </a:r>
            <a:r>
              <a:rPr lang="en" altLang="zh-CN" sz="1800" dirty="0">
                <a:solidFill>
                  <a:srgbClr val="000000"/>
                </a:solidFill>
                <a:effectLst/>
                <a:latin typeface="SFRM1000"/>
              </a:rPr>
              <a:t>To demonstrate the scalability of our framework, we pretrain Lamps on both ChestXray14 and a large corpus of 1.04M images.</a:t>
            </a:r>
            <a:r>
              <a:rPr lang="en-US" altLang="zh-CN" sz="1200" dirty="0"/>
              <a:t> Then fine-tune the pretrained model into a specific target dataset including </a:t>
            </a:r>
            <a:r>
              <a:rPr lang="en" altLang="zh-CN" sz="1800" dirty="0">
                <a:solidFill>
                  <a:srgbClr val="000000"/>
                </a:solidFill>
                <a:effectLst/>
                <a:latin typeface="SFRM1000"/>
                <a:ea typeface="STSong" panose="02010600040101010101" pitchFamily="2" charset="-122"/>
              </a:rPr>
              <a:t>segmen</a:t>
            </a:r>
            <a:r>
              <a:rPr lang="en" altLang="zh-CN" sz="1800" dirty="0">
                <a:solidFill>
                  <a:srgbClr val="000000"/>
                </a:solidFill>
                <a:effectLst/>
                <a:latin typeface="SFRM1000"/>
              </a:rPr>
              <a:t>tation, classification and report generation</a:t>
            </a:r>
            <a:endParaRPr lang="en" altLang="zh-CN" dirty="0"/>
          </a:p>
        </p:txBody>
      </p:sp>
      <p:sp>
        <p:nvSpPr>
          <p:cNvPr id="4" name="灯片编号占位符 3"/>
          <p:cNvSpPr>
            <a:spLocks noGrp="1"/>
          </p:cNvSpPr>
          <p:nvPr>
            <p:ph type="sldNum" sz="quarter" idx="5"/>
          </p:nvPr>
        </p:nvSpPr>
        <p:spPr/>
        <p:txBody>
          <a:bodyPr/>
          <a:lstStyle/>
          <a:p>
            <a:fld id="{37E3AF22-AF77-BD48-8A35-EDD8353441E5}" type="slidenum">
              <a:rPr kumimoji="1" lang="zh-CN" altLang="en-US" smtClean="0"/>
              <a:t>7</a:t>
            </a:fld>
            <a:endParaRPr kumimoji="1" lang="zh-CN" altLang="en-US"/>
          </a:p>
        </p:txBody>
      </p:sp>
    </p:spTree>
    <p:extLst>
      <p:ext uri="{BB962C8B-B14F-4D97-AF65-F5344CB8AC3E}">
        <p14:creationId xmlns:p14="http://schemas.microsoft.com/office/powerpoint/2010/main" val="1964583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We test the emergent properties of Lamps that were not part of its training components. All of the testing properties use the pretrained weights in a zero-shot setting. We use t-SNE to visualize 9 distinct landmarks, and Lamps can generate distinct features while other pretrained model lead to ambiguous embeddings space. Secondly, (click) we utilize patch-level features to query the same anatomy across different patients in a zero-shot setting. And find our Lamps (click) can get an average error of 68 pixels cross 100 query images and 100 key images with resolution of 1024*1024.</a:t>
            </a:r>
            <a:endParaRPr kumimoji="1" lang="zh-CN" altLang="en-US" dirty="0"/>
          </a:p>
        </p:txBody>
      </p:sp>
      <p:sp>
        <p:nvSpPr>
          <p:cNvPr id="4" name="灯片编号占位符 3"/>
          <p:cNvSpPr>
            <a:spLocks noGrp="1"/>
          </p:cNvSpPr>
          <p:nvPr>
            <p:ph type="sldNum" sz="quarter" idx="5"/>
          </p:nvPr>
        </p:nvSpPr>
        <p:spPr/>
        <p:txBody>
          <a:bodyPr/>
          <a:lstStyle/>
          <a:p>
            <a:fld id="{37E3AF22-AF77-BD48-8A35-EDD8353441E5}" type="slidenum">
              <a:rPr kumimoji="1" lang="zh-CN" altLang="en-US" smtClean="0"/>
              <a:t>8</a:t>
            </a:fld>
            <a:endParaRPr kumimoji="1" lang="zh-CN" altLang="en-US"/>
          </a:p>
        </p:txBody>
      </p:sp>
    </p:spTree>
    <p:extLst>
      <p:ext uri="{BB962C8B-B14F-4D97-AF65-F5344CB8AC3E}">
        <p14:creationId xmlns:p14="http://schemas.microsoft.com/office/powerpoint/2010/main" val="25231223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dirty="0"/>
              <a:t>We define the DNA-test to evaluate whether a model can capture part–whole relationships in anatomy, which is key for hierarchical understanding. For example, it checks if the model can link a smaller part, like a lung lobe, to its larger structure, the whole lung. We compute the accuracy of the model distinguishing the smaller patches belong to which area. </a:t>
            </a:r>
            <a:r>
              <a:rPr lang="en" altLang="zh-CN" sz="1800" dirty="0">
                <a:solidFill>
                  <a:srgbClr val="000000"/>
                </a:solidFill>
                <a:effectLst/>
                <a:latin typeface="SFRM1000"/>
              </a:rPr>
              <a:t>Lamps achieves the highest accuracy, demonstrating its superior ability to capture hierarchical anatomical relationships. </a:t>
            </a:r>
          </a:p>
          <a:p>
            <a:endParaRPr lang="en" altLang="zh-CN" sz="1800" dirty="0">
              <a:solidFill>
                <a:srgbClr val="000000"/>
              </a:solidFill>
              <a:effectLst/>
              <a:latin typeface="SFRM1000"/>
            </a:endParaRPr>
          </a:p>
          <a:p>
            <a:r>
              <a:rPr lang="en" altLang="zh-CN" sz="1800" dirty="0">
                <a:solidFill>
                  <a:srgbClr val="000000"/>
                </a:solidFill>
                <a:effectLst/>
                <a:latin typeface="SFRM1000"/>
              </a:rPr>
              <a:t>We investigate the generalizability of </a:t>
            </a:r>
            <a:r>
              <a:rPr lang="en" altLang="zh-CN" sz="1800" dirty="0" err="1">
                <a:solidFill>
                  <a:srgbClr val="000000"/>
                </a:solidFill>
                <a:effectLst/>
                <a:latin typeface="SFRM1000"/>
              </a:rPr>
              <a:t>Lamps’s</a:t>
            </a:r>
            <a:r>
              <a:rPr lang="en" altLang="zh-CN" sz="1800" dirty="0">
                <a:solidFill>
                  <a:srgbClr val="000000"/>
                </a:solidFill>
                <a:effectLst/>
                <a:latin typeface="SFRM1000"/>
              </a:rPr>
              <a:t> representations in report generation task. On the IU-</a:t>
            </a:r>
            <a:r>
              <a:rPr lang="en" altLang="zh-CN" sz="1800" dirty="0" err="1">
                <a:solidFill>
                  <a:srgbClr val="000000"/>
                </a:solidFill>
                <a:effectLst/>
                <a:latin typeface="SFRM1000"/>
              </a:rPr>
              <a:t>XRay</a:t>
            </a:r>
            <a:r>
              <a:rPr lang="en" altLang="zh-CN" sz="1800" dirty="0">
                <a:solidFill>
                  <a:srgbClr val="000000"/>
                </a:solidFill>
                <a:effectLst/>
                <a:latin typeface="SFRM1000"/>
              </a:rPr>
              <a:t> dataset, Lamps outperforms the SSL baselines, achieving the highest scores in 7 out of 8 metrics.</a:t>
            </a:r>
            <a:endParaRPr lang="en" altLang="zh-CN" dirty="0"/>
          </a:p>
        </p:txBody>
      </p:sp>
      <p:sp>
        <p:nvSpPr>
          <p:cNvPr id="4" name="灯片编号占位符 3"/>
          <p:cNvSpPr>
            <a:spLocks noGrp="1"/>
          </p:cNvSpPr>
          <p:nvPr>
            <p:ph type="sldNum" sz="quarter" idx="5"/>
          </p:nvPr>
        </p:nvSpPr>
        <p:spPr/>
        <p:txBody>
          <a:bodyPr/>
          <a:lstStyle/>
          <a:p>
            <a:fld id="{37E3AF22-AF77-BD48-8A35-EDD8353441E5}" type="slidenum">
              <a:rPr kumimoji="1" lang="zh-CN" altLang="en-US" smtClean="0"/>
              <a:t>9</a:t>
            </a:fld>
            <a:endParaRPr kumimoji="1" lang="zh-CN" altLang="en-US"/>
          </a:p>
        </p:txBody>
      </p:sp>
    </p:spTree>
    <p:extLst>
      <p:ext uri="{BB962C8B-B14F-4D97-AF65-F5344CB8AC3E}">
        <p14:creationId xmlns:p14="http://schemas.microsoft.com/office/powerpoint/2010/main" val="27925378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dirty="0"/>
              <a:t>We evaluate the generalizability of Lamps by full fine-tuning on a wide range of downstream tasks. Besides training from scratch and using a supervised ImageNet model, we compare two versions of Lamps—pretrained on 86K and on 1M chest X-rays—against 10 state-of-the-art baselines. The evaluation covers 3 organ segmentation tasks (clavicle, heart, rib), 2 disease segmentation tasks (Pneumothorax, COVID), and 4 disease classification tasks.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5"/>
          </p:nvPr>
        </p:nvSpPr>
        <p:spPr/>
        <p:txBody>
          <a:bodyPr/>
          <a:lstStyle/>
          <a:p>
            <a:fld id="{37E3AF22-AF77-BD48-8A35-EDD8353441E5}" type="slidenum">
              <a:rPr kumimoji="1" lang="zh-CN" altLang="en-US" smtClean="0"/>
              <a:t>10</a:t>
            </a:fld>
            <a:endParaRPr kumimoji="1" lang="zh-CN" altLang="en-US"/>
          </a:p>
        </p:txBody>
      </p:sp>
    </p:spTree>
    <p:extLst>
      <p:ext uri="{BB962C8B-B14F-4D97-AF65-F5344CB8AC3E}">
        <p14:creationId xmlns:p14="http://schemas.microsoft.com/office/powerpoint/2010/main" val="2886771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In the end, we get some conclusions of our method. We put forward a</a:t>
            </a:r>
            <a:r>
              <a:rPr lang="en" altLang="zh-CN" dirty="0">
                <a:latin typeface="Arial" panose="020B0604020202020204" pitchFamily="34" charset="0"/>
                <a:cs typeface="Arial" panose="020B0604020202020204" pitchFamily="34" charset="0"/>
              </a:rPr>
              <a:t>novel approach for learning anatomical structures from multiple perspectives using unlabeled CXRs</a:t>
            </a:r>
            <a:r>
              <a:rPr lang="en-US" altLang="zh-CN" dirty="0">
                <a:latin typeface="Arial" panose="020B0604020202020204" pitchFamily="34" charset="0"/>
                <a:cs typeface="Arial" panose="020B0604020202020204" pitchFamily="34" charset="0"/>
              </a:rPr>
              <a:t>, including </a:t>
            </a:r>
            <a:r>
              <a:rPr kumimoji="1" lang="en-US" altLang="zh-CN" sz="1200" dirty="0">
                <a:latin typeface="Times New Roman" panose="02020603050405020304" pitchFamily="18" charset="0"/>
                <a:cs typeface="Times New Roman" panose="02020603050405020304" pitchFamily="18" charset="0"/>
              </a:rPr>
              <a:t>Learning </a:t>
            </a:r>
            <a:r>
              <a:rPr kumimoji="1" lang="en-US" altLang="zh-CN" sz="1200" b="1" dirty="0">
                <a:latin typeface="Times New Roman" panose="02020603050405020304" pitchFamily="18" charset="0"/>
                <a:cs typeface="Times New Roman" panose="02020603050405020304" pitchFamily="18" charset="0"/>
              </a:rPr>
              <a:t>anatomy continuity</a:t>
            </a:r>
            <a:r>
              <a:rPr kumimoji="1" lang="en-US" altLang="zh-CN" sz="1200" dirty="0">
                <a:latin typeface="Times New Roman" panose="02020603050405020304" pitchFamily="18" charset="0"/>
                <a:cs typeface="Times New Roman" panose="02020603050405020304" pitchFamily="18" charset="0"/>
              </a:rPr>
              <a:t> from extrapolation, Learning </a:t>
            </a:r>
            <a:r>
              <a:rPr kumimoji="1" lang="en-US" altLang="zh-CN" sz="1200" b="1" dirty="0">
                <a:latin typeface="Times New Roman" panose="02020603050405020304" pitchFamily="18" charset="0"/>
                <a:cs typeface="Times New Roman" panose="02020603050405020304" pitchFamily="18" charset="0"/>
              </a:rPr>
              <a:t>anatomy layout </a:t>
            </a:r>
            <a:r>
              <a:rPr kumimoji="1" lang="en-US" altLang="zh-CN" sz="1200" dirty="0">
                <a:latin typeface="Times New Roman" panose="02020603050405020304" pitchFamily="18" charset="0"/>
                <a:cs typeface="Times New Roman" panose="02020603050405020304" pitchFamily="18" charset="0"/>
              </a:rPr>
              <a:t>from order correction, Learning </a:t>
            </a:r>
            <a:r>
              <a:rPr kumimoji="1" lang="en-US" altLang="zh-CN" sz="1200" b="1" dirty="0">
                <a:latin typeface="Times New Roman" panose="02020603050405020304" pitchFamily="18" charset="0"/>
                <a:cs typeface="Times New Roman" panose="02020603050405020304" pitchFamily="18" charset="0"/>
              </a:rPr>
              <a:t>hierarchies</a:t>
            </a:r>
            <a:r>
              <a:rPr kumimoji="1" lang="en-US" altLang="zh-CN" sz="1200" dirty="0">
                <a:latin typeface="Times New Roman" panose="02020603050405020304" pitchFamily="18" charset="0"/>
                <a:cs typeface="Times New Roman" panose="02020603050405020304" pitchFamily="18" charset="0"/>
              </a:rPr>
              <a:t> from composition/</a:t>
            </a:r>
            <a:r>
              <a:rPr kumimoji="1" lang="en-US" altLang="zh-CN" sz="1200" dirty="0" err="1">
                <a:latin typeface="Times New Roman" panose="02020603050405020304" pitchFamily="18" charset="0"/>
                <a:cs typeface="Times New Roman" panose="02020603050405020304" pitchFamily="18" charset="0"/>
              </a:rPr>
              <a:t>decompositionby</a:t>
            </a:r>
            <a:r>
              <a:rPr kumimoji="1" lang="en-US" altLang="zh-CN" sz="1200" dirty="0">
                <a:latin typeface="Times New Roman" panose="02020603050405020304" pitchFamily="18" charset="0"/>
                <a:cs typeface="Times New Roman" panose="02020603050405020304" pitchFamily="18" charset="0"/>
              </a:rPr>
              <a:t> and accruing knowledge from multiple perspectives via </a:t>
            </a:r>
            <a:r>
              <a:rPr kumimoji="1" lang="en-US" altLang="zh-CN" sz="1200" b="1" dirty="0">
                <a:latin typeface="Times New Roman" panose="02020603050405020304" pitchFamily="18" charset="0"/>
                <a:cs typeface="Times New Roman" panose="02020603050405020304" pitchFamily="18" charset="0"/>
              </a:rPr>
              <a:t>cyclic pretraining.</a:t>
            </a:r>
            <a:endParaRPr kumimoji="1" lang="zh-CN" altLang="en-US" sz="1200" b="1"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37E3AF22-AF77-BD48-8A35-EDD8353441E5}" type="slidenum">
              <a:rPr kumimoji="1" lang="zh-CN" altLang="en-US" smtClean="0"/>
              <a:t>11</a:t>
            </a:fld>
            <a:endParaRPr kumimoji="1" lang="zh-CN" altLang="en-US"/>
          </a:p>
        </p:txBody>
      </p:sp>
    </p:spTree>
    <p:extLst>
      <p:ext uri="{BB962C8B-B14F-4D97-AF65-F5344CB8AC3E}">
        <p14:creationId xmlns:p14="http://schemas.microsoft.com/office/powerpoint/2010/main" val="1037635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lang="en" altLang="zh-CN" dirty="0">
                <a:latin typeface="Arial" panose="020B0604020202020204" pitchFamily="34" charset="0"/>
                <a:cs typeface="Arial" panose="020B0604020202020204" pitchFamily="34" charset="0"/>
              </a:rPr>
              <a:t>We give A new exploration of the emergent properties of pretrained models</a:t>
            </a:r>
            <a:r>
              <a:rPr lang="en-US" altLang="zh-CN" b="0" i="0" dirty="0">
                <a:effectLst/>
                <a:latin typeface="Arial" panose="020B0604020202020204" pitchFamily="34" charset="0"/>
                <a:cs typeface="Arial" panose="020B0604020202020204" pitchFamily="34" charset="0"/>
              </a:rPr>
              <a:t> including anatomical </a:t>
            </a:r>
            <a:r>
              <a:rPr lang="en" altLang="zh-CN" sz="1800" b="1" i="1" dirty="0">
                <a:solidFill>
                  <a:srgbClr val="000000"/>
                </a:solidFill>
                <a:effectLst/>
                <a:latin typeface="SFBI1000"/>
              </a:rPr>
              <a:t>Localizability, correspondence and DNA-test.</a:t>
            </a:r>
          </a:p>
        </p:txBody>
      </p:sp>
      <p:sp>
        <p:nvSpPr>
          <p:cNvPr id="4" name="灯片编号占位符 3"/>
          <p:cNvSpPr>
            <a:spLocks noGrp="1"/>
          </p:cNvSpPr>
          <p:nvPr>
            <p:ph type="sldNum" sz="quarter" idx="5"/>
          </p:nvPr>
        </p:nvSpPr>
        <p:spPr/>
        <p:txBody>
          <a:bodyPr/>
          <a:lstStyle/>
          <a:p>
            <a:fld id="{37E3AF22-AF77-BD48-8A35-EDD8353441E5}" type="slidenum">
              <a:rPr kumimoji="1" lang="zh-CN" altLang="en-US" smtClean="0"/>
              <a:t>12</a:t>
            </a:fld>
            <a:endParaRPr kumimoji="1" lang="zh-CN" altLang="en-US"/>
          </a:p>
        </p:txBody>
      </p:sp>
    </p:spTree>
    <p:extLst>
      <p:ext uri="{BB962C8B-B14F-4D97-AF65-F5344CB8AC3E}">
        <p14:creationId xmlns:p14="http://schemas.microsoft.com/office/powerpoint/2010/main" val="2150652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28600">
              <a:lnSpc>
                <a:spcPct val="90000"/>
              </a:lnSpc>
              <a:spcAft>
                <a:spcPts val="600"/>
              </a:spcAft>
              <a:buFont typeface="Arial" panose="020B0604020202020204" pitchFamily="34" charset="0"/>
              <a:buChar char="•"/>
            </a:pPr>
            <a:r>
              <a:rPr lang="en-US" altLang="zh-CN" dirty="0">
                <a:latin typeface="Arial" panose="020B0604020202020204" pitchFamily="34" charset="0"/>
              </a:rPr>
              <a:t>And we pretrain A new SSL model on large-scale data, showing exceptional transferability to various target tasks in medical image analysis.</a:t>
            </a:r>
          </a:p>
        </p:txBody>
      </p:sp>
      <p:sp>
        <p:nvSpPr>
          <p:cNvPr id="4" name="灯片编号占位符 3"/>
          <p:cNvSpPr>
            <a:spLocks noGrp="1"/>
          </p:cNvSpPr>
          <p:nvPr>
            <p:ph type="sldNum" sz="quarter" idx="5"/>
          </p:nvPr>
        </p:nvSpPr>
        <p:spPr/>
        <p:txBody>
          <a:bodyPr/>
          <a:lstStyle/>
          <a:p>
            <a:fld id="{37E3AF22-AF77-BD48-8A35-EDD8353441E5}" type="slidenum">
              <a:rPr kumimoji="1" lang="zh-CN" altLang="en-US" smtClean="0"/>
              <a:t>13</a:t>
            </a:fld>
            <a:endParaRPr kumimoji="1" lang="zh-CN" altLang="en-US"/>
          </a:p>
        </p:txBody>
      </p:sp>
    </p:spTree>
    <p:extLst>
      <p:ext uri="{BB962C8B-B14F-4D97-AF65-F5344CB8AC3E}">
        <p14:creationId xmlns:p14="http://schemas.microsoft.com/office/powerpoint/2010/main" val="2958862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rPr>
              <a:t>Thank you for listening! </a:t>
            </a:r>
            <a:endParaRPr kumimoji="1" lang="zh-CN" altLang="en-US" dirty="0"/>
          </a:p>
        </p:txBody>
      </p:sp>
      <p:sp>
        <p:nvSpPr>
          <p:cNvPr id="4" name="灯片编号占位符 3"/>
          <p:cNvSpPr>
            <a:spLocks noGrp="1"/>
          </p:cNvSpPr>
          <p:nvPr>
            <p:ph type="sldNum" sz="quarter" idx="5"/>
          </p:nvPr>
        </p:nvSpPr>
        <p:spPr/>
        <p:txBody>
          <a:bodyPr/>
          <a:lstStyle/>
          <a:p>
            <a:fld id="{37E3AF22-AF77-BD48-8A35-EDD8353441E5}" type="slidenum">
              <a:rPr kumimoji="1" lang="zh-CN" altLang="en-US" smtClean="0"/>
              <a:t>14</a:t>
            </a:fld>
            <a:endParaRPr kumimoji="1" lang="zh-CN" altLang="en-US"/>
          </a:p>
        </p:txBody>
      </p:sp>
    </p:spTree>
    <p:extLst>
      <p:ext uri="{BB962C8B-B14F-4D97-AF65-F5344CB8AC3E}">
        <p14:creationId xmlns:p14="http://schemas.microsoft.com/office/powerpoint/2010/main" val="693597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83DFE1-8BE8-F65E-B36B-CDF2082B0D1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8B35897-2C9A-281B-E15A-9D7CD40831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AC2CC72D-65D5-F800-0428-84128A43FD73}"/>
              </a:ext>
            </a:extLst>
          </p:cNvPr>
          <p:cNvSpPr>
            <a:spLocks noGrp="1"/>
          </p:cNvSpPr>
          <p:nvPr>
            <p:ph type="dt" sz="half" idx="10"/>
          </p:nvPr>
        </p:nvSpPr>
        <p:spPr/>
        <p:txBody>
          <a:bodyPr/>
          <a:lstStyle/>
          <a:p>
            <a:fld id="{FB491B73-1423-F047-B6D3-BB4D8CDFAE45}" type="datetimeFigureOut">
              <a:rPr kumimoji="1" lang="zh-CN" altLang="en-US" smtClean="0"/>
              <a:t>2025/9/14</a:t>
            </a:fld>
            <a:endParaRPr kumimoji="1" lang="zh-CN" altLang="en-US"/>
          </a:p>
        </p:txBody>
      </p:sp>
      <p:sp>
        <p:nvSpPr>
          <p:cNvPr id="5" name="页脚占位符 4">
            <a:extLst>
              <a:ext uri="{FF2B5EF4-FFF2-40B4-BE49-F238E27FC236}">
                <a16:creationId xmlns:a16="http://schemas.microsoft.com/office/drawing/2014/main" id="{E6145A63-AB5C-BCC5-C942-41439134062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64104A7-CB49-30DC-D640-9505A945016C}"/>
              </a:ext>
            </a:extLst>
          </p:cNvPr>
          <p:cNvSpPr>
            <a:spLocks noGrp="1"/>
          </p:cNvSpPr>
          <p:nvPr>
            <p:ph type="sldNum" sz="quarter" idx="12"/>
          </p:nvPr>
        </p:nvSpPr>
        <p:spPr/>
        <p:txBody>
          <a:bodyPr/>
          <a:lstStyle/>
          <a:p>
            <a:fld id="{EFC372F4-5D01-A44F-B1CA-5AB909F6628D}" type="slidenum">
              <a:rPr kumimoji="1" lang="zh-CN" altLang="en-US" smtClean="0"/>
              <a:t>‹#›</a:t>
            </a:fld>
            <a:endParaRPr kumimoji="1" lang="zh-CN" altLang="en-US"/>
          </a:p>
        </p:txBody>
      </p:sp>
    </p:spTree>
    <p:extLst>
      <p:ext uri="{BB962C8B-B14F-4D97-AF65-F5344CB8AC3E}">
        <p14:creationId xmlns:p14="http://schemas.microsoft.com/office/powerpoint/2010/main" val="517774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28FF22-46E5-C35A-3EAE-5328A3E670DB}"/>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0C3A0CB-F011-1C7A-AC00-AACFC29E092C}"/>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331242A-3900-EC2D-CB68-F347E2DC2893}"/>
              </a:ext>
            </a:extLst>
          </p:cNvPr>
          <p:cNvSpPr>
            <a:spLocks noGrp="1"/>
          </p:cNvSpPr>
          <p:nvPr>
            <p:ph type="dt" sz="half" idx="10"/>
          </p:nvPr>
        </p:nvSpPr>
        <p:spPr/>
        <p:txBody>
          <a:bodyPr/>
          <a:lstStyle/>
          <a:p>
            <a:fld id="{FB491B73-1423-F047-B6D3-BB4D8CDFAE45}" type="datetimeFigureOut">
              <a:rPr kumimoji="1" lang="zh-CN" altLang="en-US" smtClean="0"/>
              <a:t>2025/9/14</a:t>
            </a:fld>
            <a:endParaRPr kumimoji="1" lang="zh-CN" altLang="en-US"/>
          </a:p>
        </p:txBody>
      </p:sp>
      <p:sp>
        <p:nvSpPr>
          <p:cNvPr id="5" name="页脚占位符 4">
            <a:extLst>
              <a:ext uri="{FF2B5EF4-FFF2-40B4-BE49-F238E27FC236}">
                <a16:creationId xmlns:a16="http://schemas.microsoft.com/office/drawing/2014/main" id="{4556414E-03FF-6DC3-C429-143402C49C6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ECA33B4-0EE7-05E1-863E-DD6818D32598}"/>
              </a:ext>
            </a:extLst>
          </p:cNvPr>
          <p:cNvSpPr>
            <a:spLocks noGrp="1"/>
          </p:cNvSpPr>
          <p:nvPr>
            <p:ph type="sldNum" sz="quarter" idx="12"/>
          </p:nvPr>
        </p:nvSpPr>
        <p:spPr/>
        <p:txBody>
          <a:bodyPr/>
          <a:lstStyle/>
          <a:p>
            <a:fld id="{EFC372F4-5D01-A44F-B1CA-5AB909F6628D}" type="slidenum">
              <a:rPr kumimoji="1" lang="zh-CN" altLang="en-US" smtClean="0"/>
              <a:t>‹#›</a:t>
            </a:fld>
            <a:endParaRPr kumimoji="1" lang="zh-CN" altLang="en-US"/>
          </a:p>
        </p:txBody>
      </p:sp>
    </p:spTree>
    <p:extLst>
      <p:ext uri="{BB962C8B-B14F-4D97-AF65-F5344CB8AC3E}">
        <p14:creationId xmlns:p14="http://schemas.microsoft.com/office/powerpoint/2010/main" val="871186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6643DC-C941-B807-64AF-3068D0681073}"/>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42BCD84C-7DB0-EABA-6D64-012D1DD327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8A8A4ED-433B-C746-B14B-AA238DB7B032}"/>
              </a:ext>
            </a:extLst>
          </p:cNvPr>
          <p:cNvSpPr>
            <a:spLocks noGrp="1"/>
          </p:cNvSpPr>
          <p:nvPr>
            <p:ph type="dt" sz="half" idx="10"/>
          </p:nvPr>
        </p:nvSpPr>
        <p:spPr/>
        <p:txBody>
          <a:bodyPr/>
          <a:lstStyle/>
          <a:p>
            <a:fld id="{FB491B73-1423-F047-B6D3-BB4D8CDFAE45}" type="datetimeFigureOut">
              <a:rPr kumimoji="1" lang="zh-CN" altLang="en-US" smtClean="0"/>
              <a:t>2025/9/14</a:t>
            </a:fld>
            <a:endParaRPr kumimoji="1" lang="zh-CN" altLang="en-US"/>
          </a:p>
        </p:txBody>
      </p:sp>
      <p:sp>
        <p:nvSpPr>
          <p:cNvPr id="5" name="页脚占位符 4">
            <a:extLst>
              <a:ext uri="{FF2B5EF4-FFF2-40B4-BE49-F238E27FC236}">
                <a16:creationId xmlns:a16="http://schemas.microsoft.com/office/drawing/2014/main" id="{7C60BC35-CEC2-D8AC-AE5A-10EBF87F614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224B001-756A-CC95-E987-0C30B517753D}"/>
              </a:ext>
            </a:extLst>
          </p:cNvPr>
          <p:cNvSpPr>
            <a:spLocks noGrp="1"/>
          </p:cNvSpPr>
          <p:nvPr>
            <p:ph type="sldNum" sz="quarter" idx="12"/>
          </p:nvPr>
        </p:nvSpPr>
        <p:spPr/>
        <p:txBody>
          <a:bodyPr/>
          <a:lstStyle/>
          <a:p>
            <a:fld id="{EFC372F4-5D01-A44F-B1CA-5AB909F6628D}" type="slidenum">
              <a:rPr kumimoji="1" lang="zh-CN" altLang="en-US" smtClean="0"/>
              <a:t>‹#›</a:t>
            </a:fld>
            <a:endParaRPr kumimoji="1" lang="zh-CN" altLang="en-US"/>
          </a:p>
        </p:txBody>
      </p:sp>
    </p:spTree>
    <p:extLst>
      <p:ext uri="{BB962C8B-B14F-4D97-AF65-F5344CB8AC3E}">
        <p14:creationId xmlns:p14="http://schemas.microsoft.com/office/powerpoint/2010/main" val="769505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4F9FCE-A9D6-050A-1D79-75939EFCD20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A1E33A8-EA7C-BBB7-5586-6441C4F7F6D6}"/>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18978E27-DDC7-736F-5027-B253E590DECD}"/>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DABF2B75-DA52-10F9-F920-D338DC4BA42E}"/>
              </a:ext>
            </a:extLst>
          </p:cNvPr>
          <p:cNvSpPr>
            <a:spLocks noGrp="1"/>
          </p:cNvSpPr>
          <p:nvPr>
            <p:ph type="dt" sz="half" idx="10"/>
          </p:nvPr>
        </p:nvSpPr>
        <p:spPr/>
        <p:txBody>
          <a:bodyPr/>
          <a:lstStyle/>
          <a:p>
            <a:fld id="{FB491B73-1423-F047-B6D3-BB4D8CDFAE45}" type="datetimeFigureOut">
              <a:rPr kumimoji="1" lang="zh-CN" altLang="en-US" smtClean="0"/>
              <a:t>2025/9/14</a:t>
            </a:fld>
            <a:endParaRPr kumimoji="1" lang="zh-CN" altLang="en-US"/>
          </a:p>
        </p:txBody>
      </p:sp>
      <p:sp>
        <p:nvSpPr>
          <p:cNvPr id="6" name="页脚占位符 5">
            <a:extLst>
              <a:ext uri="{FF2B5EF4-FFF2-40B4-BE49-F238E27FC236}">
                <a16:creationId xmlns:a16="http://schemas.microsoft.com/office/drawing/2014/main" id="{C6DA83FA-62BE-CC10-7489-3DDC5ED6C2A3}"/>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8966056-D39C-0C56-8875-C1B69CCCAA41}"/>
              </a:ext>
            </a:extLst>
          </p:cNvPr>
          <p:cNvSpPr>
            <a:spLocks noGrp="1"/>
          </p:cNvSpPr>
          <p:nvPr>
            <p:ph type="sldNum" sz="quarter" idx="12"/>
          </p:nvPr>
        </p:nvSpPr>
        <p:spPr/>
        <p:txBody>
          <a:bodyPr/>
          <a:lstStyle/>
          <a:p>
            <a:fld id="{EFC372F4-5D01-A44F-B1CA-5AB909F6628D}" type="slidenum">
              <a:rPr kumimoji="1" lang="zh-CN" altLang="en-US" smtClean="0"/>
              <a:t>‹#›</a:t>
            </a:fld>
            <a:endParaRPr kumimoji="1" lang="zh-CN" altLang="en-US"/>
          </a:p>
        </p:txBody>
      </p:sp>
    </p:spTree>
    <p:extLst>
      <p:ext uri="{BB962C8B-B14F-4D97-AF65-F5344CB8AC3E}">
        <p14:creationId xmlns:p14="http://schemas.microsoft.com/office/powerpoint/2010/main" val="2118542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68C317-271A-2B36-DA00-8AB5544905CC}"/>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BFD1E8E9-0EFE-006C-55BA-A826452596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CE4E95E-AE18-B4D9-1671-B7E5F7CBB518}"/>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9F9BDF89-0F03-DDA4-615A-68F50A35F9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521F1309-C1A4-4CE3-588E-85E47A541DDA}"/>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5E0E757-417B-FA8A-57E9-C05F7B08EFC5}"/>
              </a:ext>
            </a:extLst>
          </p:cNvPr>
          <p:cNvSpPr>
            <a:spLocks noGrp="1"/>
          </p:cNvSpPr>
          <p:nvPr>
            <p:ph type="dt" sz="half" idx="10"/>
          </p:nvPr>
        </p:nvSpPr>
        <p:spPr/>
        <p:txBody>
          <a:bodyPr/>
          <a:lstStyle/>
          <a:p>
            <a:fld id="{FB491B73-1423-F047-B6D3-BB4D8CDFAE45}" type="datetimeFigureOut">
              <a:rPr kumimoji="1" lang="zh-CN" altLang="en-US" smtClean="0"/>
              <a:t>2025/9/14</a:t>
            </a:fld>
            <a:endParaRPr kumimoji="1" lang="zh-CN" altLang="en-US"/>
          </a:p>
        </p:txBody>
      </p:sp>
      <p:sp>
        <p:nvSpPr>
          <p:cNvPr id="8" name="页脚占位符 7">
            <a:extLst>
              <a:ext uri="{FF2B5EF4-FFF2-40B4-BE49-F238E27FC236}">
                <a16:creationId xmlns:a16="http://schemas.microsoft.com/office/drawing/2014/main" id="{3014C5AB-80A3-41A2-94F5-CF8F6644F973}"/>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32B6590A-6C46-7849-9372-2B31DBB98E80}"/>
              </a:ext>
            </a:extLst>
          </p:cNvPr>
          <p:cNvSpPr>
            <a:spLocks noGrp="1"/>
          </p:cNvSpPr>
          <p:nvPr>
            <p:ph type="sldNum" sz="quarter" idx="12"/>
          </p:nvPr>
        </p:nvSpPr>
        <p:spPr/>
        <p:txBody>
          <a:bodyPr/>
          <a:lstStyle/>
          <a:p>
            <a:fld id="{EFC372F4-5D01-A44F-B1CA-5AB909F6628D}" type="slidenum">
              <a:rPr kumimoji="1" lang="zh-CN" altLang="en-US" smtClean="0"/>
              <a:t>‹#›</a:t>
            </a:fld>
            <a:endParaRPr kumimoji="1" lang="zh-CN" altLang="en-US"/>
          </a:p>
        </p:txBody>
      </p:sp>
    </p:spTree>
    <p:extLst>
      <p:ext uri="{BB962C8B-B14F-4D97-AF65-F5344CB8AC3E}">
        <p14:creationId xmlns:p14="http://schemas.microsoft.com/office/powerpoint/2010/main" val="2514758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EA95A5-F444-31DD-CC74-24B8D28C98BF}"/>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BE1D07CC-4AD0-A378-A5CA-08C3D6D13CEB}"/>
              </a:ext>
            </a:extLst>
          </p:cNvPr>
          <p:cNvSpPr>
            <a:spLocks noGrp="1"/>
          </p:cNvSpPr>
          <p:nvPr>
            <p:ph type="dt" sz="half" idx="10"/>
          </p:nvPr>
        </p:nvSpPr>
        <p:spPr/>
        <p:txBody>
          <a:bodyPr/>
          <a:lstStyle/>
          <a:p>
            <a:fld id="{FB491B73-1423-F047-B6D3-BB4D8CDFAE45}" type="datetimeFigureOut">
              <a:rPr kumimoji="1" lang="zh-CN" altLang="en-US" smtClean="0"/>
              <a:t>2025/9/14</a:t>
            </a:fld>
            <a:endParaRPr kumimoji="1" lang="zh-CN" altLang="en-US"/>
          </a:p>
        </p:txBody>
      </p:sp>
      <p:sp>
        <p:nvSpPr>
          <p:cNvPr id="4" name="页脚占位符 3">
            <a:extLst>
              <a:ext uri="{FF2B5EF4-FFF2-40B4-BE49-F238E27FC236}">
                <a16:creationId xmlns:a16="http://schemas.microsoft.com/office/drawing/2014/main" id="{6B5B0968-D60D-39BA-7E70-0C9CD1C64EB3}"/>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AEF76B8C-D435-0B89-DD1A-BD8D43DA389B}"/>
              </a:ext>
            </a:extLst>
          </p:cNvPr>
          <p:cNvSpPr>
            <a:spLocks noGrp="1"/>
          </p:cNvSpPr>
          <p:nvPr>
            <p:ph type="sldNum" sz="quarter" idx="12"/>
          </p:nvPr>
        </p:nvSpPr>
        <p:spPr/>
        <p:txBody>
          <a:bodyPr/>
          <a:lstStyle/>
          <a:p>
            <a:fld id="{EFC372F4-5D01-A44F-B1CA-5AB909F6628D}" type="slidenum">
              <a:rPr kumimoji="1" lang="zh-CN" altLang="en-US" smtClean="0"/>
              <a:t>‹#›</a:t>
            </a:fld>
            <a:endParaRPr kumimoji="1" lang="zh-CN" altLang="en-US"/>
          </a:p>
        </p:txBody>
      </p:sp>
    </p:spTree>
    <p:extLst>
      <p:ext uri="{BB962C8B-B14F-4D97-AF65-F5344CB8AC3E}">
        <p14:creationId xmlns:p14="http://schemas.microsoft.com/office/powerpoint/2010/main" val="183578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8F8E378-E444-5440-C9D2-6DF786DEBEC3}"/>
              </a:ext>
            </a:extLst>
          </p:cNvPr>
          <p:cNvSpPr>
            <a:spLocks noGrp="1"/>
          </p:cNvSpPr>
          <p:nvPr>
            <p:ph type="dt" sz="half" idx="10"/>
          </p:nvPr>
        </p:nvSpPr>
        <p:spPr/>
        <p:txBody>
          <a:bodyPr/>
          <a:lstStyle/>
          <a:p>
            <a:fld id="{FB491B73-1423-F047-B6D3-BB4D8CDFAE45}" type="datetimeFigureOut">
              <a:rPr kumimoji="1" lang="zh-CN" altLang="en-US" smtClean="0"/>
              <a:t>2025/9/14</a:t>
            </a:fld>
            <a:endParaRPr kumimoji="1" lang="zh-CN" altLang="en-US"/>
          </a:p>
        </p:txBody>
      </p:sp>
      <p:sp>
        <p:nvSpPr>
          <p:cNvPr id="3" name="页脚占位符 2">
            <a:extLst>
              <a:ext uri="{FF2B5EF4-FFF2-40B4-BE49-F238E27FC236}">
                <a16:creationId xmlns:a16="http://schemas.microsoft.com/office/drawing/2014/main" id="{1DFEF47A-8FF8-5556-03BF-901283427DE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AF7240DD-8637-0DC5-DC70-CC9139E1AEA4}"/>
              </a:ext>
            </a:extLst>
          </p:cNvPr>
          <p:cNvSpPr>
            <a:spLocks noGrp="1"/>
          </p:cNvSpPr>
          <p:nvPr>
            <p:ph type="sldNum" sz="quarter" idx="12"/>
          </p:nvPr>
        </p:nvSpPr>
        <p:spPr/>
        <p:txBody>
          <a:bodyPr/>
          <a:lstStyle/>
          <a:p>
            <a:fld id="{EFC372F4-5D01-A44F-B1CA-5AB909F6628D}" type="slidenum">
              <a:rPr kumimoji="1" lang="zh-CN" altLang="en-US" smtClean="0"/>
              <a:t>‹#›</a:t>
            </a:fld>
            <a:endParaRPr kumimoji="1" lang="zh-CN" altLang="en-US"/>
          </a:p>
        </p:txBody>
      </p:sp>
    </p:spTree>
    <p:extLst>
      <p:ext uri="{BB962C8B-B14F-4D97-AF65-F5344CB8AC3E}">
        <p14:creationId xmlns:p14="http://schemas.microsoft.com/office/powerpoint/2010/main" val="4150420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6F7CD0-515F-A5CA-305D-CFD72FA0D07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6279CF40-4277-442A-CBD4-F0DF686FB5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66A2934F-9169-C8F2-F8B7-18B0F81B8D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58EB717-857F-B81A-27CE-E97DB65B0457}"/>
              </a:ext>
            </a:extLst>
          </p:cNvPr>
          <p:cNvSpPr>
            <a:spLocks noGrp="1"/>
          </p:cNvSpPr>
          <p:nvPr>
            <p:ph type="dt" sz="half" idx="10"/>
          </p:nvPr>
        </p:nvSpPr>
        <p:spPr/>
        <p:txBody>
          <a:bodyPr/>
          <a:lstStyle/>
          <a:p>
            <a:fld id="{FB491B73-1423-F047-B6D3-BB4D8CDFAE45}" type="datetimeFigureOut">
              <a:rPr kumimoji="1" lang="zh-CN" altLang="en-US" smtClean="0"/>
              <a:t>2025/9/14</a:t>
            </a:fld>
            <a:endParaRPr kumimoji="1" lang="zh-CN" altLang="en-US"/>
          </a:p>
        </p:txBody>
      </p:sp>
      <p:sp>
        <p:nvSpPr>
          <p:cNvPr id="6" name="页脚占位符 5">
            <a:extLst>
              <a:ext uri="{FF2B5EF4-FFF2-40B4-BE49-F238E27FC236}">
                <a16:creationId xmlns:a16="http://schemas.microsoft.com/office/drawing/2014/main" id="{AC103F41-57B8-178C-5704-EB8F73FBCB2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B3249E9-BDF0-72CE-C733-7F4DBED64B9A}"/>
              </a:ext>
            </a:extLst>
          </p:cNvPr>
          <p:cNvSpPr>
            <a:spLocks noGrp="1"/>
          </p:cNvSpPr>
          <p:nvPr>
            <p:ph type="sldNum" sz="quarter" idx="12"/>
          </p:nvPr>
        </p:nvSpPr>
        <p:spPr/>
        <p:txBody>
          <a:bodyPr/>
          <a:lstStyle/>
          <a:p>
            <a:fld id="{EFC372F4-5D01-A44F-B1CA-5AB909F6628D}" type="slidenum">
              <a:rPr kumimoji="1" lang="zh-CN" altLang="en-US" smtClean="0"/>
              <a:t>‹#›</a:t>
            </a:fld>
            <a:endParaRPr kumimoji="1" lang="zh-CN" altLang="en-US"/>
          </a:p>
        </p:txBody>
      </p:sp>
    </p:spTree>
    <p:extLst>
      <p:ext uri="{BB962C8B-B14F-4D97-AF65-F5344CB8AC3E}">
        <p14:creationId xmlns:p14="http://schemas.microsoft.com/office/powerpoint/2010/main" val="996327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0B841-B65A-8009-5C9F-C43A98BAB87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E44F4240-7A4D-50F9-1BAA-EB202EE920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50CE008A-6451-937D-C394-4525D61D41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6339C37-F9B5-D455-EF00-745E6FB0ECB2}"/>
              </a:ext>
            </a:extLst>
          </p:cNvPr>
          <p:cNvSpPr>
            <a:spLocks noGrp="1"/>
          </p:cNvSpPr>
          <p:nvPr>
            <p:ph type="dt" sz="half" idx="10"/>
          </p:nvPr>
        </p:nvSpPr>
        <p:spPr/>
        <p:txBody>
          <a:bodyPr/>
          <a:lstStyle/>
          <a:p>
            <a:fld id="{FB491B73-1423-F047-B6D3-BB4D8CDFAE45}" type="datetimeFigureOut">
              <a:rPr kumimoji="1" lang="zh-CN" altLang="en-US" smtClean="0"/>
              <a:t>2025/9/14</a:t>
            </a:fld>
            <a:endParaRPr kumimoji="1" lang="zh-CN" altLang="en-US"/>
          </a:p>
        </p:txBody>
      </p:sp>
      <p:sp>
        <p:nvSpPr>
          <p:cNvPr id="6" name="页脚占位符 5">
            <a:extLst>
              <a:ext uri="{FF2B5EF4-FFF2-40B4-BE49-F238E27FC236}">
                <a16:creationId xmlns:a16="http://schemas.microsoft.com/office/drawing/2014/main" id="{002962CB-4E28-CDDE-FD9C-320EF6AB956B}"/>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BE62780-8B77-5BFD-F7E7-7E935C5FB396}"/>
              </a:ext>
            </a:extLst>
          </p:cNvPr>
          <p:cNvSpPr>
            <a:spLocks noGrp="1"/>
          </p:cNvSpPr>
          <p:nvPr>
            <p:ph type="sldNum" sz="quarter" idx="12"/>
          </p:nvPr>
        </p:nvSpPr>
        <p:spPr/>
        <p:txBody>
          <a:bodyPr/>
          <a:lstStyle/>
          <a:p>
            <a:fld id="{EFC372F4-5D01-A44F-B1CA-5AB909F6628D}" type="slidenum">
              <a:rPr kumimoji="1" lang="zh-CN" altLang="en-US" smtClean="0"/>
              <a:t>‹#›</a:t>
            </a:fld>
            <a:endParaRPr kumimoji="1" lang="zh-CN" altLang="en-US"/>
          </a:p>
        </p:txBody>
      </p:sp>
    </p:spTree>
    <p:extLst>
      <p:ext uri="{BB962C8B-B14F-4D97-AF65-F5344CB8AC3E}">
        <p14:creationId xmlns:p14="http://schemas.microsoft.com/office/powerpoint/2010/main" val="3526139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71CE04-FC53-9AAC-7E26-0F7678623A08}"/>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C0CFB7E-F023-3512-92AD-B92FBF3BFAC3}"/>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FEEFDE5-7FD3-B215-8C28-EEB5CC2DF73F}"/>
              </a:ext>
            </a:extLst>
          </p:cNvPr>
          <p:cNvSpPr>
            <a:spLocks noGrp="1"/>
          </p:cNvSpPr>
          <p:nvPr>
            <p:ph type="dt" sz="half" idx="10"/>
          </p:nvPr>
        </p:nvSpPr>
        <p:spPr/>
        <p:txBody>
          <a:bodyPr/>
          <a:lstStyle/>
          <a:p>
            <a:fld id="{FB491B73-1423-F047-B6D3-BB4D8CDFAE45}" type="datetimeFigureOut">
              <a:rPr kumimoji="1" lang="zh-CN" altLang="en-US" smtClean="0"/>
              <a:t>2025/9/14</a:t>
            </a:fld>
            <a:endParaRPr kumimoji="1" lang="zh-CN" altLang="en-US"/>
          </a:p>
        </p:txBody>
      </p:sp>
      <p:sp>
        <p:nvSpPr>
          <p:cNvPr id="5" name="页脚占位符 4">
            <a:extLst>
              <a:ext uri="{FF2B5EF4-FFF2-40B4-BE49-F238E27FC236}">
                <a16:creationId xmlns:a16="http://schemas.microsoft.com/office/drawing/2014/main" id="{835C3C1D-ACA8-3FD3-027C-D93FA3FC02F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41F4DD3-782E-7CA8-C9D3-918F3A9C0BE6}"/>
              </a:ext>
            </a:extLst>
          </p:cNvPr>
          <p:cNvSpPr>
            <a:spLocks noGrp="1"/>
          </p:cNvSpPr>
          <p:nvPr>
            <p:ph type="sldNum" sz="quarter" idx="12"/>
          </p:nvPr>
        </p:nvSpPr>
        <p:spPr/>
        <p:txBody>
          <a:bodyPr/>
          <a:lstStyle/>
          <a:p>
            <a:fld id="{EFC372F4-5D01-A44F-B1CA-5AB909F6628D}" type="slidenum">
              <a:rPr kumimoji="1" lang="zh-CN" altLang="en-US" smtClean="0"/>
              <a:t>‹#›</a:t>
            </a:fld>
            <a:endParaRPr kumimoji="1" lang="zh-CN" altLang="en-US"/>
          </a:p>
        </p:txBody>
      </p:sp>
    </p:spTree>
    <p:extLst>
      <p:ext uri="{BB962C8B-B14F-4D97-AF65-F5344CB8AC3E}">
        <p14:creationId xmlns:p14="http://schemas.microsoft.com/office/powerpoint/2010/main" val="2244053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32B4684-9D59-FE86-ED2B-FFDBD153C969}"/>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B1A5FAE-606B-0338-2C20-9CC8DB2EC746}"/>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BBF9B20-FF64-2E33-8C27-3A5B793E3F0C}"/>
              </a:ext>
            </a:extLst>
          </p:cNvPr>
          <p:cNvSpPr>
            <a:spLocks noGrp="1"/>
          </p:cNvSpPr>
          <p:nvPr>
            <p:ph type="dt" sz="half" idx="10"/>
          </p:nvPr>
        </p:nvSpPr>
        <p:spPr/>
        <p:txBody>
          <a:bodyPr/>
          <a:lstStyle/>
          <a:p>
            <a:fld id="{FB491B73-1423-F047-B6D3-BB4D8CDFAE45}" type="datetimeFigureOut">
              <a:rPr kumimoji="1" lang="zh-CN" altLang="en-US" smtClean="0"/>
              <a:t>2025/9/14</a:t>
            </a:fld>
            <a:endParaRPr kumimoji="1" lang="zh-CN" altLang="en-US"/>
          </a:p>
        </p:txBody>
      </p:sp>
      <p:sp>
        <p:nvSpPr>
          <p:cNvPr id="5" name="页脚占位符 4">
            <a:extLst>
              <a:ext uri="{FF2B5EF4-FFF2-40B4-BE49-F238E27FC236}">
                <a16:creationId xmlns:a16="http://schemas.microsoft.com/office/drawing/2014/main" id="{750EB331-81C5-2D23-D716-D280029E731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F1BC563-39DC-663F-AA9F-690FE2C5FCFC}"/>
              </a:ext>
            </a:extLst>
          </p:cNvPr>
          <p:cNvSpPr>
            <a:spLocks noGrp="1"/>
          </p:cNvSpPr>
          <p:nvPr>
            <p:ph type="sldNum" sz="quarter" idx="12"/>
          </p:nvPr>
        </p:nvSpPr>
        <p:spPr/>
        <p:txBody>
          <a:bodyPr/>
          <a:lstStyle/>
          <a:p>
            <a:fld id="{EFC372F4-5D01-A44F-B1CA-5AB909F6628D}" type="slidenum">
              <a:rPr kumimoji="1" lang="zh-CN" altLang="en-US" smtClean="0"/>
              <a:t>‹#›</a:t>
            </a:fld>
            <a:endParaRPr kumimoji="1" lang="zh-CN" altLang="en-US"/>
          </a:p>
        </p:txBody>
      </p:sp>
    </p:spTree>
    <p:extLst>
      <p:ext uri="{BB962C8B-B14F-4D97-AF65-F5344CB8AC3E}">
        <p14:creationId xmlns:p14="http://schemas.microsoft.com/office/powerpoint/2010/main" val="194018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735E981-6906-006E-097F-106F9C5B67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19A100F-CE58-3C0A-DFA1-ECAAC6815E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21A346B-9D38-95FC-76EF-6309BDFDA2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491B73-1423-F047-B6D3-BB4D8CDFAE45}" type="datetimeFigureOut">
              <a:rPr kumimoji="1" lang="zh-CN" altLang="en-US" smtClean="0"/>
              <a:t>2025/9/14</a:t>
            </a:fld>
            <a:endParaRPr kumimoji="1" lang="zh-CN" altLang="en-US"/>
          </a:p>
        </p:txBody>
      </p:sp>
      <p:sp>
        <p:nvSpPr>
          <p:cNvPr id="5" name="页脚占位符 4">
            <a:extLst>
              <a:ext uri="{FF2B5EF4-FFF2-40B4-BE49-F238E27FC236}">
                <a16:creationId xmlns:a16="http://schemas.microsoft.com/office/drawing/2014/main" id="{47C8DD42-0CEF-6B66-0968-4F09BB523E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AEF0C56F-D7A6-8668-6F39-730C5065A8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C372F4-5D01-A44F-B1CA-5AB909F6628D}" type="slidenum">
              <a:rPr kumimoji="1" lang="zh-CN" altLang="en-US" smtClean="0"/>
              <a:t>‹#›</a:t>
            </a:fld>
            <a:endParaRPr kumimoji="1" lang="zh-CN" altLang="en-US"/>
          </a:p>
        </p:txBody>
      </p:sp>
    </p:spTree>
    <p:extLst>
      <p:ext uri="{BB962C8B-B14F-4D97-AF65-F5344CB8AC3E}">
        <p14:creationId xmlns:p14="http://schemas.microsoft.com/office/powerpoint/2010/main" val="1061006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1.xml"/><Relationship Id="rId7" Type="http://schemas.openxmlformats.org/officeDocument/2006/relationships/image" Target="../media/image3.png"/><Relationship Id="rId12" Type="http://schemas.openxmlformats.org/officeDocument/2006/relationships/image" Target="../media/image7.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jpg"/><Relationship Id="rId11" Type="http://schemas.microsoft.com/office/2007/relationships/hdphoto" Target="../media/hdphoto1.wdp"/><Relationship Id="rId5" Type="http://schemas.openxmlformats.org/officeDocument/2006/relationships/image" Target="../media/image1.png"/><Relationship Id="rId10" Type="http://schemas.openxmlformats.org/officeDocument/2006/relationships/image" Target="../media/image6.png"/><Relationship Id="rId4" Type="http://schemas.openxmlformats.org/officeDocument/2006/relationships/notesSlide" Target="../notesSlides/notesSlide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audio" Target="../media/media2.m4a"/><Relationship Id="rId7" Type="http://schemas.openxmlformats.org/officeDocument/2006/relationships/image" Target="../media/image9.png"/><Relationship Id="rId2" Type="http://schemas.microsoft.com/office/2007/relationships/media" Target="../media/media2.m4a"/><Relationship Id="rId1" Type="http://schemas.openxmlformats.org/officeDocument/2006/relationships/tags" Target="../tags/tag1.xml"/><Relationship Id="rId6" Type="http://schemas.openxmlformats.org/officeDocument/2006/relationships/image" Target="../media/image8.png"/><Relationship Id="rId5" Type="http://schemas.openxmlformats.org/officeDocument/2006/relationships/notesSlide" Target="../notesSlides/notesSlide2.xml"/><Relationship Id="rId4" Type="http://schemas.openxmlformats.org/officeDocument/2006/relationships/slideLayout" Target="../slideLayouts/slideLayout7.xml"/><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audio" Target="../media/media3.m4a"/><Relationship Id="rId7" Type="http://schemas.openxmlformats.org/officeDocument/2006/relationships/image" Target="../media/image9.png"/><Relationship Id="rId2" Type="http://schemas.microsoft.com/office/2007/relationships/media" Target="../media/media3.m4a"/><Relationship Id="rId1" Type="http://schemas.openxmlformats.org/officeDocument/2006/relationships/tags" Target="../tags/tag2.xml"/><Relationship Id="rId6" Type="http://schemas.openxmlformats.org/officeDocument/2006/relationships/image" Target="../media/image8.png"/><Relationship Id="rId5" Type="http://schemas.openxmlformats.org/officeDocument/2006/relationships/notesSlide" Target="../notesSlides/notesSlide3.xml"/><Relationship Id="rId4" Type="http://schemas.openxmlformats.org/officeDocument/2006/relationships/slideLayout" Target="../slideLayouts/slideLayout7.xml"/><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16.png"/><Relationship Id="rId3" Type="http://schemas.openxmlformats.org/officeDocument/2006/relationships/audio" Target="../media/media4.m4a"/><Relationship Id="rId7" Type="http://schemas.openxmlformats.org/officeDocument/2006/relationships/image" Target="../media/image12.png"/><Relationship Id="rId12" Type="http://schemas.openxmlformats.org/officeDocument/2006/relationships/image" Target="../media/image15.png"/><Relationship Id="rId17" Type="http://schemas.openxmlformats.org/officeDocument/2006/relationships/image" Target="../media/image7.png"/><Relationship Id="rId2" Type="http://schemas.microsoft.com/office/2007/relationships/media" Target="../media/media4.m4a"/><Relationship Id="rId16" Type="http://schemas.openxmlformats.org/officeDocument/2006/relationships/image" Target="../media/image19.png"/><Relationship Id="rId1" Type="http://schemas.openxmlformats.org/officeDocument/2006/relationships/tags" Target="../tags/tag3.xml"/><Relationship Id="rId6" Type="http://schemas.openxmlformats.org/officeDocument/2006/relationships/image" Target="../media/image11.png"/><Relationship Id="rId11" Type="http://schemas.openxmlformats.org/officeDocument/2006/relationships/image" Target="../media/image14.png"/><Relationship Id="rId5" Type="http://schemas.openxmlformats.org/officeDocument/2006/relationships/notesSlide" Target="../notesSlides/notesSlide4.xml"/><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slideLayout" Target="../slideLayouts/slideLayout7.xml"/><Relationship Id="rId9" Type="http://schemas.openxmlformats.org/officeDocument/2006/relationships/image" Target="../media/image59.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13" Type="http://schemas.openxmlformats.org/officeDocument/2006/relationships/image" Target="../media/image27.png"/><Relationship Id="rId18" Type="http://schemas.openxmlformats.org/officeDocument/2006/relationships/image" Target="../media/image32.png"/><Relationship Id="rId26" Type="http://schemas.openxmlformats.org/officeDocument/2006/relationships/image" Target="../media/image40.png"/><Relationship Id="rId3" Type="http://schemas.openxmlformats.org/officeDocument/2006/relationships/audio" Target="../media/media5.m4a"/><Relationship Id="rId21" Type="http://schemas.openxmlformats.org/officeDocument/2006/relationships/image" Target="../media/image35.png"/><Relationship Id="rId34" Type="http://schemas.openxmlformats.org/officeDocument/2006/relationships/image" Target="../media/image48.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5" Type="http://schemas.openxmlformats.org/officeDocument/2006/relationships/image" Target="../media/image39.png"/><Relationship Id="rId33" Type="http://schemas.openxmlformats.org/officeDocument/2006/relationships/image" Target="../media/image47.png"/><Relationship Id="rId2" Type="http://schemas.microsoft.com/office/2007/relationships/media" Target="../media/media5.m4a"/><Relationship Id="rId16" Type="http://schemas.openxmlformats.org/officeDocument/2006/relationships/image" Target="../media/image30.png"/><Relationship Id="rId20" Type="http://schemas.openxmlformats.org/officeDocument/2006/relationships/image" Target="../media/image34.png"/><Relationship Id="rId29" Type="http://schemas.openxmlformats.org/officeDocument/2006/relationships/image" Target="../media/image43.png"/><Relationship Id="rId1" Type="http://schemas.openxmlformats.org/officeDocument/2006/relationships/tags" Target="../tags/tag4.xml"/><Relationship Id="rId6" Type="http://schemas.openxmlformats.org/officeDocument/2006/relationships/image" Target="../media/image20.png"/><Relationship Id="rId11" Type="http://schemas.openxmlformats.org/officeDocument/2006/relationships/image" Target="../media/image25.png"/><Relationship Id="rId24" Type="http://schemas.openxmlformats.org/officeDocument/2006/relationships/image" Target="../media/image38.png"/><Relationship Id="rId32" Type="http://schemas.openxmlformats.org/officeDocument/2006/relationships/image" Target="../media/image46.png"/><Relationship Id="rId5" Type="http://schemas.openxmlformats.org/officeDocument/2006/relationships/notesSlide" Target="../notesSlides/notesSlide5.xml"/><Relationship Id="rId15" Type="http://schemas.openxmlformats.org/officeDocument/2006/relationships/image" Target="../media/image29.png"/><Relationship Id="rId23" Type="http://schemas.openxmlformats.org/officeDocument/2006/relationships/image" Target="../media/image37.png"/><Relationship Id="rId28" Type="http://schemas.openxmlformats.org/officeDocument/2006/relationships/image" Target="../media/image42.png"/><Relationship Id="rId36" Type="http://schemas.openxmlformats.org/officeDocument/2006/relationships/image" Target="../media/image7.png"/><Relationship Id="rId10" Type="http://schemas.openxmlformats.org/officeDocument/2006/relationships/image" Target="../media/image24.png"/><Relationship Id="rId19" Type="http://schemas.openxmlformats.org/officeDocument/2006/relationships/image" Target="../media/image33.png"/><Relationship Id="rId31" Type="http://schemas.openxmlformats.org/officeDocument/2006/relationships/image" Target="../media/image45.png"/><Relationship Id="rId4" Type="http://schemas.openxmlformats.org/officeDocument/2006/relationships/slideLayout" Target="../slideLayouts/slideLayout7.xml"/><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6.png"/><Relationship Id="rId27" Type="http://schemas.openxmlformats.org/officeDocument/2006/relationships/image" Target="../media/image41.png"/><Relationship Id="rId30" Type="http://schemas.openxmlformats.org/officeDocument/2006/relationships/image" Target="../media/image44.png"/><Relationship Id="rId35" Type="http://schemas.openxmlformats.org/officeDocument/2006/relationships/image" Target="../media/image49.png"/><Relationship Id="rId8"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52.png"/><Relationship Id="rId18" Type="http://schemas.openxmlformats.org/officeDocument/2006/relationships/image" Target="../media/image24.png"/><Relationship Id="rId26" Type="http://schemas.openxmlformats.org/officeDocument/2006/relationships/image" Target="../media/image250.png"/><Relationship Id="rId3" Type="http://schemas.openxmlformats.org/officeDocument/2006/relationships/audio" Target="../media/media6.m4a"/><Relationship Id="rId21" Type="http://schemas.openxmlformats.org/officeDocument/2006/relationships/image" Target="../media/image27.png"/><Relationship Id="rId12" Type="http://schemas.openxmlformats.org/officeDocument/2006/relationships/image" Target="../media/image51.png"/><Relationship Id="rId17" Type="http://schemas.openxmlformats.org/officeDocument/2006/relationships/image" Target="../media/image16.png"/><Relationship Id="rId25" Type="http://schemas.openxmlformats.org/officeDocument/2006/relationships/image" Target="../media/image240.png"/><Relationship Id="rId2" Type="http://schemas.microsoft.com/office/2007/relationships/media" Target="../media/media6.m4a"/><Relationship Id="rId16" Type="http://schemas.openxmlformats.org/officeDocument/2006/relationships/image" Target="../media/image15.png"/><Relationship Id="rId20" Type="http://schemas.openxmlformats.org/officeDocument/2006/relationships/image" Target="../media/image26.png"/><Relationship Id="rId1" Type="http://schemas.openxmlformats.org/officeDocument/2006/relationships/tags" Target="../tags/tag5.xml"/><Relationship Id="rId6" Type="http://schemas.openxmlformats.org/officeDocument/2006/relationships/image" Target="../media/image50.png"/><Relationship Id="rId11" Type="http://schemas.openxmlformats.org/officeDocument/2006/relationships/image" Target="../media/image100.png"/><Relationship Id="rId24" Type="http://schemas.openxmlformats.org/officeDocument/2006/relationships/image" Target="../media/image230.png"/><Relationship Id="rId5" Type="http://schemas.openxmlformats.org/officeDocument/2006/relationships/notesSlide" Target="../notesSlides/notesSlide6.xml"/><Relationship Id="rId15" Type="http://schemas.openxmlformats.org/officeDocument/2006/relationships/image" Target="../media/image140.png"/><Relationship Id="rId23" Type="http://schemas.openxmlformats.org/officeDocument/2006/relationships/image" Target="../media/image220.png"/><Relationship Id="rId10" Type="http://schemas.openxmlformats.org/officeDocument/2006/relationships/image" Target="../media/image90.png"/><Relationship Id="rId19" Type="http://schemas.openxmlformats.org/officeDocument/2006/relationships/image" Target="../media/image25.png"/><Relationship Id="rId4" Type="http://schemas.openxmlformats.org/officeDocument/2006/relationships/slideLayout" Target="../slideLayouts/slideLayout7.xml"/><Relationship Id="rId9" Type="http://schemas.openxmlformats.org/officeDocument/2006/relationships/image" Target="../media/image80.png"/><Relationship Id="rId14" Type="http://schemas.openxmlformats.org/officeDocument/2006/relationships/image" Target="../media/image130.png"/><Relationship Id="rId22"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audio" Target="../media/media7.m4a"/><Relationship Id="rId7" Type="http://schemas.openxmlformats.org/officeDocument/2006/relationships/image" Target="../media/image7.png"/><Relationship Id="rId2" Type="http://schemas.microsoft.com/office/2007/relationships/media" Target="../media/media7.m4a"/><Relationship Id="rId1" Type="http://schemas.openxmlformats.org/officeDocument/2006/relationships/tags" Target="../tags/tag6.xml"/><Relationship Id="rId6" Type="http://schemas.openxmlformats.org/officeDocument/2006/relationships/image" Target="../media/image53.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3.png"/><Relationship Id="rId3" Type="http://schemas.openxmlformats.org/officeDocument/2006/relationships/audio" Target="../media/media8.m4a"/><Relationship Id="rId7" Type="http://schemas.openxmlformats.org/officeDocument/2006/relationships/image" Target="../media/image55.png"/><Relationship Id="rId12" Type="http://schemas.openxmlformats.org/officeDocument/2006/relationships/image" Target="../media/image62.png"/><Relationship Id="rId2" Type="http://schemas.microsoft.com/office/2007/relationships/media" Target="../media/media8.m4a"/><Relationship Id="rId1" Type="http://schemas.openxmlformats.org/officeDocument/2006/relationships/tags" Target="../tags/tag7.xml"/><Relationship Id="rId6" Type="http://schemas.openxmlformats.org/officeDocument/2006/relationships/image" Target="../media/image54.png"/><Relationship Id="rId11" Type="http://schemas.openxmlformats.org/officeDocument/2006/relationships/image" Target="../media/image61.png"/><Relationship Id="rId5" Type="http://schemas.openxmlformats.org/officeDocument/2006/relationships/notesSlide" Target="../notesSlides/notesSlide8.xml"/><Relationship Id="rId10" Type="http://schemas.openxmlformats.org/officeDocument/2006/relationships/image" Target="../media/image60.png"/><Relationship Id="rId4" Type="http://schemas.openxmlformats.org/officeDocument/2006/relationships/slideLayout" Target="../slideLayouts/slideLayout7.xml"/><Relationship Id="rId9" Type="http://schemas.openxmlformats.org/officeDocument/2006/relationships/image" Target="../media/image57.png"/><Relationship Id="rId1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3" Type="http://schemas.openxmlformats.org/officeDocument/2006/relationships/slideLayout" Target="../slideLayouts/slideLayout7.xml"/><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5" Type="http://schemas.openxmlformats.org/officeDocument/2006/relationships/image" Target="../media/image7.png"/><Relationship Id="rId10" Type="http://schemas.openxmlformats.org/officeDocument/2006/relationships/image" Target="../media/image71.png"/><Relationship Id="rId4" Type="http://schemas.openxmlformats.org/officeDocument/2006/relationships/notesSlide" Target="../notesSlides/notesSlide10.xml"/><Relationship Id="rId9" Type="http://schemas.openxmlformats.org/officeDocument/2006/relationships/image" Target="../media/image70.png"/><Relationship Id="rId14" Type="http://schemas.openxmlformats.org/officeDocument/2006/relationships/image" Target="../media/image75.png"/></Relationships>
</file>

<file path=ppt/slides/_rels/slide11.xml.rels><?xml version="1.0" encoding="UTF-8" standalone="yes"?>
<Relationships xmlns="http://schemas.openxmlformats.org/package/2006/relationships"><Relationship Id="rId3" Type="http://schemas.openxmlformats.org/officeDocument/2006/relationships/audio" Target="../media/media11.m4a"/><Relationship Id="rId2" Type="http://schemas.microsoft.com/office/2007/relationships/media" Target="../media/media11.m4a"/><Relationship Id="rId1" Type="http://schemas.openxmlformats.org/officeDocument/2006/relationships/tags" Target="../tags/tag8.xml"/><Relationship Id="rId6" Type="http://schemas.openxmlformats.org/officeDocument/2006/relationships/image" Target="../media/image7.png"/><Relationship Id="rId5" Type="http://schemas.openxmlformats.org/officeDocument/2006/relationships/notesSlide" Target="../notesSlides/notesSlide11.xml"/><Relationship Id="rId4"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audio" Target="../media/media12.m4a"/><Relationship Id="rId2" Type="http://schemas.microsoft.com/office/2007/relationships/media" Target="../media/media12.m4a"/><Relationship Id="rId1" Type="http://schemas.openxmlformats.org/officeDocument/2006/relationships/tags" Target="../tags/tag9.xml"/><Relationship Id="rId6" Type="http://schemas.openxmlformats.org/officeDocument/2006/relationships/image" Target="../media/image7.png"/><Relationship Id="rId5" Type="http://schemas.openxmlformats.org/officeDocument/2006/relationships/notesSlide" Target="../notesSlides/notesSlide12.xml"/><Relationship Id="rId4"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audio" Target="../media/media13.m4a"/><Relationship Id="rId2" Type="http://schemas.microsoft.com/office/2007/relationships/media" Target="../media/media13.m4a"/><Relationship Id="rId1" Type="http://schemas.openxmlformats.org/officeDocument/2006/relationships/tags" Target="../tags/tag10.xml"/><Relationship Id="rId6" Type="http://schemas.openxmlformats.org/officeDocument/2006/relationships/image" Target="../media/image7.png"/><Relationship Id="rId5" Type="http://schemas.openxmlformats.org/officeDocument/2006/relationships/notesSlide" Target="../notesSlides/notesSlide13.xml"/><Relationship Id="rId4"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1.xml"/><Relationship Id="rId7" Type="http://schemas.openxmlformats.org/officeDocument/2006/relationships/image" Target="../media/image3.png"/><Relationship Id="rId12" Type="http://schemas.openxmlformats.org/officeDocument/2006/relationships/image" Target="../media/image7.png"/><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2.jpg"/><Relationship Id="rId11" Type="http://schemas.microsoft.com/office/2007/relationships/hdphoto" Target="../media/hdphoto2.wdp"/><Relationship Id="rId5" Type="http://schemas.openxmlformats.org/officeDocument/2006/relationships/image" Target="../media/image1.png"/><Relationship Id="rId10" Type="http://schemas.openxmlformats.org/officeDocument/2006/relationships/image" Target="../media/image6.png"/><Relationship Id="rId4" Type="http://schemas.openxmlformats.org/officeDocument/2006/relationships/notesSlide" Target="../notesSlides/notesSlide14.xm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64FF37-CA2E-C0F6-BF90-4650BA75E3EA}"/>
              </a:ext>
            </a:extLst>
          </p:cNvPr>
          <p:cNvGrpSpPr/>
          <p:nvPr/>
        </p:nvGrpSpPr>
        <p:grpSpPr>
          <a:xfrm>
            <a:off x="445107" y="179144"/>
            <a:ext cx="11455875" cy="6499712"/>
            <a:chOff x="2344795" y="-504863"/>
            <a:chExt cx="11455875" cy="6499712"/>
          </a:xfrm>
        </p:grpSpPr>
        <p:pic>
          <p:nvPicPr>
            <p:cNvPr id="5" name="Picture 16" descr="Calendar&#10;&#10;Description automatically generated">
              <a:extLst>
                <a:ext uri="{FF2B5EF4-FFF2-40B4-BE49-F238E27FC236}">
                  <a16:creationId xmlns:a16="http://schemas.microsoft.com/office/drawing/2014/main" id="{773DF4B2-AABF-82FD-C7D8-40FD92A477D5}"/>
                </a:ext>
              </a:extLst>
            </p:cNvPr>
            <p:cNvPicPr>
              <a:picLocks noChangeAspect="1"/>
            </p:cNvPicPr>
            <p:nvPr/>
          </p:nvPicPr>
          <p:blipFill>
            <a:blip r:embed="rId5">
              <a:alphaModFix amt="30000"/>
            </a:blip>
            <a:stretch>
              <a:fillRect/>
            </a:stretch>
          </p:blipFill>
          <p:spPr>
            <a:xfrm>
              <a:off x="2344795" y="-504863"/>
              <a:ext cx="2253338" cy="2253338"/>
            </a:xfrm>
            <a:prstGeom prst="rect">
              <a:avLst/>
            </a:prstGeom>
          </p:spPr>
        </p:pic>
        <p:pic>
          <p:nvPicPr>
            <p:cNvPr id="6" name="Picture 17" descr="A picture containing whiteboard&#10;&#10;Description automatically generated">
              <a:extLst>
                <a:ext uri="{FF2B5EF4-FFF2-40B4-BE49-F238E27FC236}">
                  <a16:creationId xmlns:a16="http://schemas.microsoft.com/office/drawing/2014/main" id="{FC1B477F-ACBD-6997-335D-67E65CFFE550}"/>
                </a:ext>
              </a:extLst>
            </p:cNvPr>
            <p:cNvPicPr>
              <a:picLocks noChangeAspect="1"/>
            </p:cNvPicPr>
            <p:nvPr/>
          </p:nvPicPr>
          <p:blipFill rotWithShape="1">
            <a:blip r:embed="rId6">
              <a:alphaModFix amt="30000"/>
            </a:blip>
            <a:srcRect l="20355" t="17004" r="21488" b="18105"/>
            <a:stretch/>
          </p:blipFill>
          <p:spPr>
            <a:xfrm>
              <a:off x="11587964" y="3525935"/>
              <a:ext cx="2212706" cy="2468914"/>
            </a:xfrm>
            <a:prstGeom prst="rect">
              <a:avLst/>
            </a:prstGeom>
          </p:spPr>
        </p:pic>
      </p:grpSp>
      <p:pic>
        <p:nvPicPr>
          <p:cNvPr id="7" name="Picture 2" descr="上海交通大学- 维基百科，自由的百科全书">
            <a:extLst>
              <a:ext uri="{FF2B5EF4-FFF2-40B4-BE49-F238E27FC236}">
                <a16:creationId xmlns:a16="http://schemas.microsoft.com/office/drawing/2014/main" id="{EE6289D6-F512-F5C2-47A9-65AC14E37113}"/>
              </a:ext>
            </a:extLst>
          </p:cNvPr>
          <p:cNvPicPr>
            <a:picLocks noChangeAspect="1" noChangeArrowheads="1"/>
          </p:cNvPicPr>
          <p:nvPr/>
        </p:nvPicPr>
        <p:blipFill>
          <a:blip r:embed="rId7">
            <a:alphaModFix amt="30000"/>
            <a:extLst>
              <a:ext uri="{28A0092B-C50C-407E-A947-70E740481C1C}">
                <a14:useLocalDpi xmlns:a14="http://schemas.microsoft.com/office/drawing/2010/main" val="0"/>
              </a:ext>
            </a:extLst>
          </a:blip>
          <a:srcRect/>
          <a:stretch>
            <a:fillRect/>
          </a:stretch>
        </p:blipFill>
        <p:spPr bwMode="auto">
          <a:xfrm>
            <a:off x="229531" y="4258601"/>
            <a:ext cx="2143125" cy="2143125"/>
          </a:xfrm>
          <a:prstGeom prst="rect">
            <a:avLst/>
          </a:prstGeom>
          <a:extLst>
            <a:ext uri="{909E8E84-426E-40DD-AFC4-6F175D3DCCD1}">
              <a14:hiddenFill xmlns:a14="http://schemas.microsoft.com/office/drawing/2010/main">
                <a:solidFill>
                  <a:srgbClr val="FFFFFF"/>
                </a:solidFill>
              </a14:hiddenFill>
            </a:ext>
          </a:extLst>
        </p:spPr>
      </p:pic>
      <p:sp>
        <p:nvSpPr>
          <p:cNvPr id="8" name="TextBox 1">
            <a:extLst>
              <a:ext uri="{FF2B5EF4-FFF2-40B4-BE49-F238E27FC236}">
                <a16:creationId xmlns:a16="http://schemas.microsoft.com/office/drawing/2014/main" id="{AD902641-A31F-229D-E66D-E34B7EB1D075}"/>
              </a:ext>
            </a:extLst>
          </p:cNvPr>
          <p:cNvSpPr txBox="1"/>
          <p:nvPr/>
        </p:nvSpPr>
        <p:spPr>
          <a:xfrm>
            <a:off x="2175028" y="1600972"/>
            <a:ext cx="9571865" cy="2677656"/>
          </a:xfrm>
          <a:prstGeom prst="rect">
            <a:avLst/>
          </a:prstGeom>
          <a:noFill/>
        </p:spPr>
        <p:txBody>
          <a:bodyPr wrap="square" rtlCol="0">
            <a:spAutoFit/>
          </a:bodyPr>
          <a:lstStyle/>
          <a:p>
            <a:pPr algn="ctr"/>
            <a:r>
              <a:rPr lang="en-US" sz="4800" dirty="0"/>
              <a:t>Lamps:</a:t>
            </a:r>
            <a:r>
              <a:rPr lang="en-US" sz="6000" dirty="0"/>
              <a:t> </a:t>
            </a:r>
          </a:p>
          <a:p>
            <a:pPr algn="ctr"/>
            <a:r>
              <a:rPr lang="en-US" sz="3600" dirty="0"/>
              <a:t>Learning Anatomy from Multiple </a:t>
            </a:r>
          </a:p>
          <a:p>
            <a:pPr algn="ctr"/>
            <a:r>
              <a:rPr lang="en-US" sz="3600" dirty="0"/>
              <a:t>Perspectives via Self-supervision in Chest </a:t>
            </a:r>
          </a:p>
          <a:p>
            <a:pPr algn="ctr"/>
            <a:r>
              <a:rPr lang="en-US" sz="3600" dirty="0"/>
              <a:t>Radiographs</a:t>
            </a:r>
          </a:p>
        </p:txBody>
      </p:sp>
      <p:sp>
        <p:nvSpPr>
          <p:cNvPr id="9" name="TextBox 2">
            <a:extLst>
              <a:ext uri="{FF2B5EF4-FFF2-40B4-BE49-F238E27FC236}">
                <a16:creationId xmlns:a16="http://schemas.microsoft.com/office/drawing/2014/main" id="{5D85083C-86F8-85AC-6068-A025417FA574}"/>
              </a:ext>
            </a:extLst>
          </p:cNvPr>
          <p:cNvSpPr txBox="1"/>
          <p:nvPr/>
        </p:nvSpPr>
        <p:spPr>
          <a:xfrm>
            <a:off x="2698445" y="4586343"/>
            <a:ext cx="7062764" cy="1716111"/>
          </a:xfrm>
          <a:prstGeom prst="rect">
            <a:avLst/>
          </a:prstGeom>
          <a:noFill/>
        </p:spPr>
        <p:txBody>
          <a:bodyPr wrap="square" rtlCol="0">
            <a:spAutoFit/>
          </a:bodyPr>
          <a:lstStyle/>
          <a:p>
            <a:pPr lvl="0" algn="ctr"/>
            <a:r>
              <a:rPr lang="en-US" sz="2000" dirty="0" err="1">
                <a:solidFill>
                  <a:prstClr val="black"/>
                </a:solidFill>
                <a:latin typeface="Calibri Light" panose="020F0302020204030204"/>
                <a:ea typeface="Segoe UI Historic" panose="020B0502040204020203" pitchFamily="34" charset="0"/>
                <a:cs typeface="Segoe UI Historic" panose="020B0502040204020203" pitchFamily="34" charset="0"/>
              </a:rPr>
              <a:t>Ziyu</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Zhou</a:t>
            </a:r>
            <a:r>
              <a:rPr lang="en-US"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a:t>
            </a:r>
            <a:r>
              <a:rPr lang="en-US" altLang="zh-CN"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1</a:t>
            </a:r>
            <a:r>
              <a:rPr lang="en-US"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,2</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Haozhe Luo</a:t>
            </a:r>
            <a:r>
              <a:rPr lang="en-US" altLang="zh-CN"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*2,3</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Mohammad Reza </a:t>
            </a:r>
            <a:r>
              <a:rPr lang="en-US" sz="2000" dirty="0" err="1">
                <a:solidFill>
                  <a:prstClr val="black"/>
                </a:solidFill>
                <a:latin typeface="Calibri Light" panose="020F0302020204030204"/>
                <a:ea typeface="Segoe UI Historic" panose="020B0502040204020203" pitchFamily="34" charset="0"/>
                <a:cs typeface="Segoe UI Historic" panose="020B0502040204020203" pitchFamily="34" charset="0"/>
              </a:rPr>
              <a:t>Hosseinzadeh</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Taher</a:t>
            </a:r>
            <a:r>
              <a:rPr lang="en-US" altLang="zh-CN"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2</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a:t>
            </a:r>
            <a:r>
              <a:rPr lang="en-US" sz="2000" dirty="0" err="1">
                <a:solidFill>
                  <a:prstClr val="black"/>
                </a:solidFill>
                <a:latin typeface="Calibri Light" panose="020F0302020204030204"/>
                <a:ea typeface="Segoe UI Historic" panose="020B0502040204020203" pitchFamily="34" charset="0"/>
                <a:cs typeface="Segoe UI Historic" panose="020B0502040204020203" pitchFamily="34" charset="0"/>
              </a:rPr>
              <a:t>Jiaxuan</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Pang</a:t>
            </a:r>
            <a:r>
              <a:rPr lang="en-US"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2</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a:t>
            </a:r>
          </a:p>
          <a:p>
            <a:pPr lvl="0" algn="ctr"/>
            <a:r>
              <a:rPr lang="en-US" sz="2000" dirty="0" err="1">
                <a:solidFill>
                  <a:prstClr val="black"/>
                </a:solidFill>
                <a:latin typeface="Calibri Light" panose="020F0302020204030204"/>
                <a:ea typeface="Segoe UI Historic" panose="020B0502040204020203" pitchFamily="34" charset="0"/>
                <a:cs typeface="Segoe UI Historic" panose="020B0502040204020203" pitchFamily="34" charset="0"/>
              </a:rPr>
              <a:t>Xiaowei</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Ding</a:t>
            </a:r>
            <a:r>
              <a:rPr lang="en-US" altLang="zh-CN"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1</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Michael B. Gotway</a:t>
            </a:r>
            <a:r>
              <a:rPr lang="en-US"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4 </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and </a:t>
            </a:r>
            <a:r>
              <a:rPr lang="en-US" sz="2000" dirty="0" err="1">
                <a:solidFill>
                  <a:prstClr val="black"/>
                </a:solidFill>
                <a:latin typeface="Calibri Light" panose="020F0302020204030204"/>
                <a:ea typeface="Segoe UI Historic" panose="020B0502040204020203" pitchFamily="34" charset="0"/>
                <a:cs typeface="Segoe UI Historic" panose="020B0502040204020203" pitchFamily="34" charset="0"/>
              </a:rPr>
              <a:t>Jianming</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Liang</a:t>
            </a:r>
            <a:r>
              <a:rPr lang="en-US"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2</a:t>
            </a:r>
            <a:endPar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endParaRPr>
          </a:p>
          <a:p>
            <a:pPr lvl="0" algn="ctr">
              <a:lnSpc>
                <a:spcPct val="150000"/>
              </a:lnSpc>
              <a:defRPr/>
            </a:pPr>
            <a:r>
              <a:rPr lang="en-US" altLang="zh-CN" sz="16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1</a:t>
            </a:r>
            <a:r>
              <a:rPr lang="en-US" altLang="zh-CN"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 </a:t>
            </a:r>
            <a:r>
              <a:rPr lang="en-US" altLang="zh-CN" sz="1600" dirty="0">
                <a:solidFill>
                  <a:prstClr val="black"/>
                </a:solidFill>
                <a:latin typeface="Calibri Light" panose="020F0302020204030204"/>
                <a:ea typeface="Segoe UI Historic" panose="020B0502040204020203" pitchFamily="34" charset="0"/>
                <a:cs typeface="Segoe UI Historic" panose="020B0502040204020203" pitchFamily="34" charset="0"/>
              </a:rPr>
              <a:t>Shanghai Jiao Tong University  </a:t>
            </a:r>
            <a:r>
              <a:rPr lang="en-US" sz="16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2 </a:t>
            </a:r>
            <a:r>
              <a:rPr lang="en-US" sz="1600" dirty="0">
                <a:solidFill>
                  <a:prstClr val="black"/>
                </a:solidFill>
                <a:latin typeface="Calibri Light" panose="020F0302020204030204"/>
                <a:ea typeface="Segoe UI Historic" panose="020B0502040204020203" pitchFamily="34" charset="0"/>
                <a:cs typeface="Segoe UI Historic" panose="020B0502040204020203" pitchFamily="34" charset="0"/>
              </a:rPr>
              <a:t>Arizona State University </a:t>
            </a:r>
          </a:p>
          <a:p>
            <a:pPr lvl="0" algn="ctr">
              <a:lnSpc>
                <a:spcPct val="150000"/>
              </a:lnSpc>
              <a:defRPr/>
            </a:pPr>
            <a:r>
              <a:rPr lang="en-US" sz="16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3</a:t>
            </a:r>
            <a:r>
              <a:rPr lang="en-US" sz="1600" dirty="0">
                <a:solidFill>
                  <a:prstClr val="black"/>
                </a:solidFill>
                <a:latin typeface="Calibri Light" panose="020F0302020204030204"/>
                <a:ea typeface="Segoe UI Historic" panose="020B0502040204020203" pitchFamily="34" charset="0"/>
                <a:cs typeface="Segoe UI Historic" panose="020B0502040204020203" pitchFamily="34" charset="0"/>
              </a:rPr>
              <a:t>University of Bern </a:t>
            </a:r>
            <a:r>
              <a:rPr lang="en-US" sz="16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4</a:t>
            </a:r>
            <a:r>
              <a:rPr lang="en-US" sz="1600" dirty="0">
                <a:solidFill>
                  <a:prstClr val="black"/>
                </a:solidFill>
                <a:latin typeface="Calibri Light" panose="020F0302020204030204"/>
                <a:ea typeface="Segoe UI Historic" panose="020B0502040204020203" pitchFamily="34" charset="0"/>
                <a:cs typeface="Segoe UI Historic" panose="020B0502040204020203" pitchFamily="34" charset="0"/>
              </a:rPr>
              <a:t>Mayo Clinic</a:t>
            </a:r>
            <a:endPar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endParaRPr>
          </a:p>
        </p:txBody>
      </p:sp>
      <p:pic>
        <p:nvPicPr>
          <p:cNvPr id="10" name="Picture 6" descr="Universität Bern">
            <a:extLst>
              <a:ext uri="{FF2B5EF4-FFF2-40B4-BE49-F238E27FC236}">
                <a16:creationId xmlns:a16="http://schemas.microsoft.com/office/drawing/2014/main" id="{588FA0C4-F966-2540-4A3C-3D1FD5A43E54}"/>
              </a:ext>
            </a:extLst>
          </p:cNvPr>
          <p:cNvPicPr>
            <a:picLocks noChangeAspect="1" noChangeArrowheads="1"/>
          </p:cNvPicPr>
          <p:nvPr/>
        </p:nvPicPr>
        <p:blipFill rotWithShape="1">
          <a:blip r:embed="rId8">
            <a:alphaModFix amt="35000"/>
            <a:extLst>
              <a:ext uri="{28A0092B-C50C-407E-A947-70E740481C1C}">
                <a14:useLocalDpi xmlns:a14="http://schemas.microsoft.com/office/drawing/2010/main" val="0"/>
              </a:ext>
            </a:extLst>
          </a:blip>
          <a:srcRect l="26997" t="33246" r="27772" b="41728"/>
          <a:stretch/>
        </p:blipFill>
        <p:spPr bwMode="auto">
          <a:xfrm>
            <a:off x="357498" y="3095504"/>
            <a:ext cx="2143125" cy="66699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5712C10A-F970-8B03-2AC6-9325077895B0}"/>
              </a:ext>
            </a:extLst>
          </p:cNvPr>
          <p:cNvPicPr>
            <a:picLocks noChangeAspect="1"/>
          </p:cNvPicPr>
          <p:nvPr/>
        </p:nvPicPr>
        <p:blipFill>
          <a:blip r:embed="rId9"/>
          <a:stretch>
            <a:fillRect/>
          </a:stretch>
        </p:blipFill>
        <p:spPr>
          <a:xfrm>
            <a:off x="3971096" y="1600972"/>
            <a:ext cx="1345691" cy="874340"/>
          </a:xfrm>
          <a:prstGeom prst="rect">
            <a:avLst/>
          </a:prstGeom>
        </p:spPr>
      </p:pic>
      <p:pic>
        <p:nvPicPr>
          <p:cNvPr id="3" name="图片 2">
            <a:extLst>
              <a:ext uri="{FF2B5EF4-FFF2-40B4-BE49-F238E27FC236}">
                <a16:creationId xmlns:a16="http://schemas.microsoft.com/office/drawing/2014/main" id="{FC409CB0-751D-9DDA-59DE-B518373A404B}"/>
              </a:ext>
            </a:extLst>
          </p:cNvPr>
          <p:cNvPicPr>
            <a:picLocks noChangeAspect="1"/>
          </p:cNvPicPr>
          <p:nvPr/>
        </p:nvPicPr>
        <p:blipFill>
          <a:blip r:embed="rId10">
            <a:biLevel thresh="75000"/>
            <a:alphaModFix amt="50000"/>
            <a:extLst>
              <a:ext uri="{BEBA8EAE-BF5A-486C-A8C5-ECC9F3942E4B}">
                <a14:imgProps xmlns:a14="http://schemas.microsoft.com/office/drawing/2010/main">
                  <a14:imgLayer r:embed="rId11">
                    <a14:imgEffect>
                      <a14:saturation sat="0"/>
                    </a14:imgEffect>
                  </a14:imgLayer>
                </a14:imgProps>
              </a:ext>
            </a:extLst>
          </a:blip>
          <a:stretch>
            <a:fillRect/>
          </a:stretch>
        </p:blipFill>
        <p:spPr>
          <a:xfrm>
            <a:off x="8468326" y="215900"/>
            <a:ext cx="3101374" cy="1905935"/>
          </a:xfrm>
          <a:prstGeom prst="rect">
            <a:avLst/>
          </a:prstGeom>
        </p:spPr>
      </p:pic>
      <p:pic>
        <p:nvPicPr>
          <p:cNvPr id="22" name="音频 21">
            <a:extLst>
              <a:ext uri="{FF2B5EF4-FFF2-40B4-BE49-F238E27FC236}">
                <a16:creationId xmlns:a16="http://schemas.microsoft.com/office/drawing/2014/main" id="{8ADD1DCD-7E86-0BBA-A038-4F3CDF59C845}"/>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795431743"/>
      </p:ext>
    </p:extLst>
  </p:cSld>
  <p:clrMapOvr>
    <a:masterClrMapping/>
  </p:clrMapOvr>
  <mc:AlternateContent xmlns:mc="http://schemas.openxmlformats.org/markup-compatibility/2006">
    <mc:Choice xmlns:p14="http://schemas.microsoft.com/office/powerpoint/2010/main" Requires="p14">
      <p:transition spd="slow" p14:dur="2000" advTm="18366"/>
    </mc:Choice>
    <mc:Fallback>
      <p:transition spd="slow" advTm="183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5F71C7A-28AF-06C5-F2CF-D30E447B3017}"/>
              </a:ext>
            </a:extLst>
          </p:cNvPr>
          <p:cNvSpPr txBox="1"/>
          <p:nvPr/>
        </p:nvSpPr>
        <p:spPr>
          <a:xfrm>
            <a:off x="271484" y="94892"/>
            <a:ext cx="9842900" cy="584775"/>
          </a:xfrm>
          <a:prstGeom prst="rect">
            <a:avLst/>
          </a:prstGeom>
          <a:noFill/>
        </p:spPr>
        <p:txBody>
          <a:bodyPr wrap="square" rtlCol="0">
            <a:spAutoFit/>
          </a:bodyPr>
          <a:lstStyle/>
          <a:p>
            <a:r>
              <a:rPr lang="en-US" altLang="zh-CN" sz="3200" b="1" dirty="0"/>
              <a:t>Background——Properties of human anatomy</a:t>
            </a:r>
            <a:endParaRPr lang="zh-CN" altLang="en-US" sz="3200" b="1" dirty="0"/>
          </a:p>
        </p:txBody>
      </p:sp>
      <p:cxnSp>
        <p:nvCxnSpPr>
          <p:cNvPr id="4" name="Straight Connector 2">
            <a:extLst>
              <a:ext uri="{FF2B5EF4-FFF2-40B4-BE49-F238E27FC236}">
                <a16:creationId xmlns:a16="http://schemas.microsoft.com/office/drawing/2014/main" id="{CF3CABD3-CC70-6BCF-99AA-01E7DD1079B8}"/>
              </a:ext>
            </a:extLst>
          </p:cNvPr>
          <p:cNvCxnSpPr/>
          <p:nvPr/>
        </p:nvCxnSpPr>
        <p:spPr>
          <a:xfrm flipH="1">
            <a:off x="0" y="679667"/>
            <a:ext cx="121920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568BB932-73AC-3E63-F333-A340CFD9819B}"/>
              </a:ext>
            </a:extLst>
          </p:cNvPr>
          <p:cNvSpPr txBox="1"/>
          <p:nvPr/>
        </p:nvSpPr>
        <p:spPr>
          <a:xfrm>
            <a:off x="1063394" y="877734"/>
            <a:ext cx="4230027" cy="707886"/>
          </a:xfrm>
          <a:prstGeom prst="rect">
            <a:avLst/>
          </a:prstGeom>
          <a:noFill/>
        </p:spPr>
        <p:txBody>
          <a:bodyPr wrap="square" rtlCol="0">
            <a:spAutoFit/>
          </a:bodyPr>
          <a:lstStyle/>
          <a:p>
            <a:pPr algn="ctr"/>
            <a:r>
              <a:rPr kumimoji="1" lang="en-US" altLang="zh-CN" sz="2000" b="1" dirty="0"/>
              <a:t>Medical images acquired from standardized protocol</a:t>
            </a:r>
            <a:endParaRPr kumimoji="1" lang="zh-CN" altLang="en-US" sz="2000" b="1" dirty="0"/>
          </a:p>
        </p:txBody>
      </p:sp>
      <p:sp>
        <p:nvSpPr>
          <p:cNvPr id="28" name="文本框 27">
            <a:extLst>
              <a:ext uri="{FF2B5EF4-FFF2-40B4-BE49-F238E27FC236}">
                <a16:creationId xmlns:a16="http://schemas.microsoft.com/office/drawing/2014/main" id="{24F42FBA-B557-78A6-CEC5-AACE77244518}"/>
              </a:ext>
            </a:extLst>
          </p:cNvPr>
          <p:cNvSpPr txBox="1"/>
          <p:nvPr/>
        </p:nvSpPr>
        <p:spPr>
          <a:xfrm>
            <a:off x="1236494" y="4541603"/>
            <a:ext cx="4022972" cy="400110"/>
          </a:xfrm>
          <a:prstGeom prst="rect">
            <a:avLst/>
          </a:prstGeom>
          <a:noFill/>
        </p:spPr>
        <p:txBody>
          <a:bodyPr wrap="square" rtlCol="0">
            <a:spAutoFit/>
          </a:bodyPr>
          <a:lstStyle/>
          <a:p>
            <a:r>
              <a:rPr kumimoji="1" lang="en-US" altLang="zh-CN" sz="2000" dirty="0">
                <a:solidFill>
                  <a:schemeClr val="accent2">
                    <a:lumMod val="75000"/>
                  </a:schemeClr>
                </a:solidFill>
              </a:rPr>
              <a:t>• Consistent anatomical structures</a:t>
            </a:r>
            <a:endParaRPr kumimoji="1" lang="zh-CN" altLang="en-US" sz="2000" dirty="0">
              <a:solidFill>
                <a:schemeClr val="accent2">
                  <a:lumMod val="75000"/>
                </a:schemeClr>
              </a:solidFill>
            </a:endParaRPr>
          </a:p>
        </p:txBody>
      </p:sp>
      <p:pic>
        <p:nvPicPr>
          <p:cNvPr id="31" name="图片 30">
            <a:extLst>
              <a:ext uri="{FF2B5EF4-FFF2-40B4-BE49-F238E27FC236}">
                <a16:creationId xmlns:a16="http://schemas.microsoft.com/office/drawing/2014/main" id="{3F45CCCE-54CA-EFAF-09E3-0F5C34E9F8C1}"/>
              </a:ext>
            </a:extLst>
          </p:cNvPr>
          <p:cNvPicPr>
            <a:picLocks noChangeAspect="1"/>
          </p:cNvPicPr>
          <p:nvPr/>
        </p:nvPicPr>
        <p:blipFill>
          <a:blip r:embed="rId6"/>
          <a:stretch>
            <a:fillRect/>
          </a:stretch>
        </p:blipFill>
        <p:spPr>
          <a:xfrm>
            <a:off x="400252" y="1625721"/>
            <a:ext cx="2642627" cy="2636020"/>
          </a:xfrm>
          <a:prstGeom prst="rect">
            <a:avLst/>
          </a:prstGeom>
        </p:spPr>
      </p:pic>
      <p:pic>
        <p:nvPicPr>
          <p:cNvPr id="32" name="图片 31">
            <a:extLst>
              <a:ext uri="{FF2B5EF4-FFF2-40B4-BE49-F238E27FC236}">
                <a16:creationId xmlns:a16="http://schemas.microsoft.com/office/drawing/2014/main" id="{EA73748B-DEBF-9BB0-BFA9-70AA4DC2AD9D}"/>
              </a:ext>
            </a:extLst>
          </p:cNvPr>
          <p:cNvPicPr>
            <a:picLocks noChangeAspect="1"/>
          </p:cNvPicPr>
          <p:nvPr/>
        </p:nvPicPr>
        <p:blipFill>
          <a:blip r:embed="rId7"/>
          <a:stretch>
            <a:fillRect/>
          </a:stretch>
        </p:blipFill>
        <p:spPr>
          <a:xfrm>
            <a:off x="3168469" y="1615591"/>
            <a:ext cx="2666709" cy="2646150"/>
          </a:xfrm>
          <a:prstGeom prst="rect">
            <a:avLst/>
          </a:prstGeom>
        </p:spPr>
      </p:pic>
      <p:sp>
        <p:nvSpPr>
          <p:cNvPr id="2" name="文本框 1">
            <a:extLst>
              <a:ext uri="{FF2B5EF4-FFF2-40B4-BE49-F238E27FC236}">
                <a16:creationId xmlns:a16="http://schemas.microsoft.com/office/drawing/2014/main" id="{36F72387-74A5-BA30-E32E-BBF78741C74D}"/>
              </a:ext>
            </a:extLst>
          </p:cNvPr>
          <p:cNvSpPr txBox="1"/>
          <p:nvPr/>
        </p:nvSpPr>
        <p:spPr>
          <a:xfrm>
            <a:off x="1236494" y="5042354"/>
            <a:ext cx="4022972" cy="400110"/>
          </a:xfrm>
          <a:prstGeom prst="rect">
            <a:avLst/>
          </a:prstGeom>
          <a:noFill/>
        </p:spPr>
        <p:txBody>
          <a:bodyPr wrap="square" rtlCol="0">
            <a:spAutoFit/>
          </a:bodyPr>
          <a:lstStyle/>
          <a:p>
            <a:r>
              <a:rPr kumimoji="1" lang="en-US" altLang="zh-CN" sz="2000" dirty="0">
                <a:solidFill>
                  <a:schemeClr val="accent2">
                    <a:lumMod val="75000"/>
                  </a:schemeClr>
                </a:solidFill>
              </a:rPr>
              <a:t>• Continuous spatial layout</a:t>
            </a:r>
            <a:endParaRPr kumimoji="1" lang="zh-CN" altLang="en-US" sz="2000" dirty="0">
              <a:solidFill>
                <a:schemeClr val="accent2">
                  <a:lumMod val="75000"/>
                </a:schemeClr>
              </a:solidFill>
            </a:endParaRPr>
          </a:p>
        </p:txBody>
      </p:sp>
      <p:pic>
        <p:nvPicPr>
          <p:cNvPr id="5" name="图片 4">
            <a:extLst>
              <a:ext uri="{FF2B5EF4-FFF2-40B4-BE49-F238E27FC236}">
                <a16:creationId xmlns:a16="http://schemas.microsoft.com/office/drawing/2014/main" id="{609AE471-FBCD-C750-E2B2-B0F737453D4A}"/>
              </a:ext>
            </a:extLst>
          </p:cNvPr>
          <p:cNvPicPr>
            <a:picLocks noChangeAspect="1"/>
          </p:cNvPicPr>
          <p:nvPr/>
        </p:nvPicPr>
        <p:blipFill>
          <a:blip r:embed="rId8"/>
          <a:stretch>
            <a:fillRect/>
          </a:stretch>
        </p:blipFill>
        <p:spPr>
          <a:xfrm>
            <a:off x="6443786" y="1555802"/>
            <a:ext cx="5766703" cy="2747829"/>
          </a:xfrm>
          <a:prstGeom prst="rect">
            <a:avLst/>
          </a:prstGeom>
        </p:spPr>
      </p:pic>
      <p:sp>
        <p:nvSpPr>
          <p:cNvPr id="7" name="文本框 6">
            <a:extLst>
              <a:ext uri="{FF2B5EF4-FFF2-40B4-BE49-F238E27FC236}">
                <a16:creationId xmlns:a16="http://schemas.microsoft.com/office/drawing/2014/main" id="{80115540-3E09-CB9B-5DFD-CD90441E46F2}"/>
              </a:ext>
            </a:extLst>
          </p:cNvPr>
          <p:cNvSpPr txBox="1"/>
          <p:nvPr/>
        </p:nvSpPr>
        <p:spPr>
          <a:xfrm>
            <a:off x="7119637" y="983974"/>
            <a:ext cx="4230027" cy="400110"/>
          </a:xfrm>
          <a:prstGeom prst="rect">
            <a:avLst/>
          </a:prstGeom>
          <a:noFill/>
        </p:spPr>
        <p:txBody>
          <a:bodyPr wrap="square" rtlCol="0">
            <a:spAutoFit/>
          </a:bodyPr>
          <a:lstStyle/>
          <a:p>
            <a:pPr algn="ctr"/>
            <a:r>
              <a:rPr kumimoji="1" lang="en-US" altLang="zh-CN" sz="2000" b="1" dirty="0"/>
              <a:t>Compositionality</a:t>
            </a:r>
            <a:endParaRPr kumimoji="1" lang="zh-CN" altLang="en-US" sz="2000" b="1" dirty="0"/>
          </a:p>
        </p:txBody>
      </p:sp>
      <p:sp>
        <p:nvSpPr>
          <p:cNvPr id="10" name="文本框 9">
            <a:extLst>
              <a:ext uri="{FF2B5EF4-FFF2-40B4-BE49-F238E27FC236}">
                <a16:creationId xmlns:a16="http://schemas.microsoft.com/office/drawing/2014/main" id="{BB266AC5-DE3F-EA5E-DC38-E82BE8BA7615}"/>
              </a:ext>
            </a:extLst>
          </p:cNvPr>
          <p:cNvSpPr txBox="1"/>
          <p:nvPr/>
        </p:nvSpPr>
        <p:spPr>
          <a:xfrm>
            <a:off x="7119637" y="4779655"/>
            <a:ext cx="4022972" cy="400110"/>
          </a:xfrm>
          <a:prstGeom prst="rect">
            <a:avLst/>
          </a:prstGeom>
          <a:noFill/>
        </p:spPr>
        <p:txBody>
          <a:bodyPr wrap="square" rtlCol="0">
            <a:spAutoFit/>
          </a:bodyPr>
          <a:lstStyle/>
          <a:p>
            <a:r>
              <a:rPr kumimoji="1" lang="en-US" altLang="zh-CN" sz="2000" dirty="0">
                <a:solidFill>
                  <a:schemeClr val="accent2">
                    <a:lumMod val="75000"/>
                  </a:schemeClr>
                </a:solidFill>
              </a:rPr>
              <a:t>• Hierarchical nature of anatomy</a:t>
            </a:r>
            <a:endParaRPr kumimoji="1" lang="zh-CN" altLang="en-US" sz="2000" dirty="0">
              <a:solidFill>
                <a:schemeClr val="accent2">
                  <a:lumMod val="75000"/>
                </a:schemeClr>
              </a:solidFill>
            </a:endParaRPr>
          </a:p>
        </p:txBody>
      </p:sp>
      <p:pic>
        <p:nvPicPr>
          <p:cNvPr id="53" name="音频 52">
            <a:extLst>
              <a:ext uri="{FF2B5EF4-FFF2-40B4-BE49-F238E27FC236}">
                <a16:creationId xmlns:a16="http://schemas.microsoft.com/office/drawing/2014/main" id="{7C199B20-23AE-61DC-D320-456F9F6CF6FF}"/>
              </a:ext>
            </a:extLst>
          </p:cNvPr>
          <p:cNvPicPr>
            <a:picLocks noChangeAspect="1"/>
          </p:cNvPicPr>
          <p:nvPr>
            <a:audioFile r:link="rId3"/>
            <p:extLst>
              <p:ext uri="{DAA4B4D4-6D71-4841-9C94-3DE7FCFB9230}">
                <p14:media xmlns:p14="http://schemas.microsoft.com/office/powerpoint/2010/main" r:embed="rId2"/>
              </p:ext>
            </p:extLst>
          </p:nvPr>
        </p:nvPicPr>
        <p:blipFill>
          <a:blip r:embed="rId9"/>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962579018"/>
      </p:ext>
    </p:extLst>
  </p:cSld>
  <p:clrMapOvr>
    <a:masterClrMapping/>
  </p:clrMapOvr>
  <mc:AlternateContent xmlns:mc="http://schemas.openxmlformats.org/markup-compatibility/2006">
    <mc:Choice xmlns:p14="http://schemas.microsoft.com/office/powerpoint/2010/main" Requires="p14">
      <p:transition spd="slow" p14:dur="2000" advTm="39473"/>
    </mc:Choice>
    <mc:Fallback>
      <p:transition spd="slow" advTm="394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3"/>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anim calcmode="lin" valueType="num">
                                      <p:cBhvr additive="base">
                                        <p:cTn id="11"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 calcmode="lin" valueType="num">
                                      <p:cBhvr additive="base">
                                        <p:cTn id="1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par>
                                <p:cTn id="24" presetID="2" presetClass="entr" presetSubtype="4" fill="hold" grpId="0" nodeType="withEffect">
                                  <p:stCondLst>
                                    <p:cond delay="0"/>
                                  </p:stCondLst>
                                  <p:childTnLst>
                                    <p:set>
                                      <p:cBhvr>
                                        <p:cTn id="25" dur="1" fill="hold">
                                          <p:stCondLst>
                                            <p:cond delay="0"/>
                                          </p:stCondLst>
                                        </p:cTn>
                                        <p:tgtEl>
                                          <p:spTgt spid="10">
                                            <p:txEl>
                                              <p:pRg st="0" end="0"/>
                                            </p:txEl>
                                          </p:spTgt>
                                        </p:tgtEl>
                                        <p:attrNameLst>
                                          <p:attrName>style.visibility</p:attrName>
                                        </p:attrNameLst>
                                      </p:cBhvr>
                                      <p:to>
                                        <p:strVal val="visible"/>
                                      </p:to>
                                    </p:set>
                                    <p:anim calcmode="lin" valueType="num">
                                      <p:cBhvr additive="base">
                                        <p:cTn id="26"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28" presetID="3" presetClass="entr" presetSubtype="10" fill="hold"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blinds(horizontal)">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1" fill="hold" display="0">
                  <p:stCondLst>
                    <p:cond delay="indefinite"/>
                  </p:stCondLst>
                  <p:endCondLst>
                    <p:cond evt="onStopAudio" delay="0">
                      <p:tgtEl>
                        <p:sldTgt/>
                      </p:tgtEl>
                    </p:cond>
                  </p:endCondLst>
                </p:cTn>
                <p:tgtEl>
                  <p:spTgt spid="53"/>
                </p:tgtEl>
              </p:cMediaNode>
            </p:audio>
          </p:childTnLst>
        </p:cTn>
      </p:par>
    </p:tnLst>
    <p:bldLst>
      <p:bldP spid="28" grpId="0" build="p"/>
      <p:bldP spid="2" grpId="0" build="p"/>
      <p:bldP spid="7" grpId="0"/>
      <p:bldP spid="1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5F71C7A-28AF-06C5-F2CF-D30E447B3017}"/>
              </a:ext>
            </a:extLst>
          </p:cNvPr>
          <p:cNvSpPr txBox="1"/>
          <p:nvPr/>
        </p:nvSpPr>
        <p:spPr>
          <a:xfrm>
            <a:off x="271484" y="94892"/>
            <a:ext cx="3945937" cy="584775"/>
          </a:xfrm>
          <a:prstGeom prst="rect">
            <a:avLst/>
          </a:prstGeom>
          <a:noFill/>
        </p:spPr>
        <p:txBody>
          <a:bodyPr wrap="square" rtlCol="0">
            <a:spAutoFit/>
          </a:bodyPr>
          <a:lstStyle/>
          <a:p>
            <a:r>
              <a:rPr lang="en-US" altLang="zh-CN" sz="3200" b="1" dirty="0"/>
              <a:t>Background</a:t>
            </a:r>
            <a:endParaRPr lang="zh-CN" altLang="en-US" sz="3200" b="1" dirty="0"/>
          </a:p>
        </p:txBody>
      </p:sp>
      <p:cxnSp>
        <p:nvCxnSpPr>
          <p:cNvPr id="4" name="Straight Connector 2">
            <a:extLst>
              <a:ext uri="{FF2B5EF4-FFF2-40B4-BE49-F238E27FC236}">
                <a16:creationId xmlns:a16="http://schemas.microsoft.com/office/drawing/2014/main" id="{CF3CABD3-CC70-6BCF-99AA-01E7DD1079B8}"/>
              </a:ext>
            </a:extLst>
          </p:cNvPr>
          <p:cNvCxnSpPr/>
          <p:nvPr/>
        </p:nvCxnSpPr>
        <p:spPr>
          <a:xfrm flipH="1">
            <a:off x="0" y="679667"/>
            <a:ext cx="121920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568BB932-73AC-3E63-F333-A340CFD9819B}"/>
              </a:ext>
            </a:extLst>
          </p:cNvPr>
          <p:cNvSpPr txBox="1"/>
          <p:nvPr/>
        </p:nvSpPr>
        <p:spPr>
          <a:xfrm>
            <a:off x="1063394" y="887673"/>
            <a:ext cx="4230027" cy="707886"/>
          </a:xfrm>
          <a:prstGeom prst="rect">
            <a:avLst/>
          </a:prstGeom>
          <a:noFill/>
        </p:spPr>
        <p:txBody>
          <a:bodyPr wrap="square" rtlCol="0">
            <a:spAutoFit/>
          </a:bodyPr>
          <a:lstStyle/>
          <a:p>
            <a:pPr algn="ctr"/>
            <a:r>
              <a:rPr kumimoji="1" lang="en-US" altLang="zh-CN" sz="2000" b="1" dirty="0">
                <a:solidFill>
                  <a:schemeClr val="bg2">
                    <a:lumMod val="90000"/>
                  </a:schemeClr>
                </a:solidFill>
              </a:rPr>
              <a:t>Medical images acquired from standardized protocol</a:t>
            </a:r>
            <a:endParaRPr kumimoji="1" lang="zh-CN" altLang="en-US" sz="2000" b="1" dirty="0">
              <a:solidFill>
                <a:schemeClr val="bg2">
                  <a:lumMod val="90000"/>
                </a:schemeClr>
              </a:solidFill>
            </a:endParaRPr>
          </a:p>
        </p:txBody>
      </p:sp>
      <p:sp>
        <p:nvSpPr>
          <p:cNvPr id="28" name="文本框 27">
            <a:extLst>
              <a:ext uri="{FF2B5EF4-FFF2-40B4-BE49-F238E27FC236}">
                <a16:creationId xmlns:a16="http://schemas.microsoft.com/office/drawing/2014/main" id="{24F42FBA-B557-78A6-CEC5-AACE77244518}"/>
              </a:ext>
            </a:extLst>
          </p:cNvPr>
          <p:cNvSpPr txBox="1"/>
          <p:nvPr/>
        </p:nvSpPr>
        <p:spPr>
          <a:xfrm>
            <a:off x="1236494" y="4551542"/>
            <a:ext cx="4022972" cy="400110"/>
          </a:xfrm>
          <a:prstGeom prst="rect">
            <a:avLst/>
          </a:prstGeom>
          <a:noFill/>
        </p:spPr>
        <p:txBody>
          <a:bodyPr wrap="square" rtlCol="0">
            <a:spAutoFit/>
          </a:bodyPr>
          <a:lstStyle/>
          <a:p>
            <a:r>
              <a:rPr kumimoji="1" lang="en-US" altLang="zh-CN" sz="2000" dirty="0">
                <a:solidFill>
                  <a:schemeClr val="accent2">
                    <a:lumMod val="20000"/>
                    <a:lumOff val="80000"/>
                  </a:schemeClr>
                </a:solidFill>
              </a:rPr>
              <a:t>• Consistent anatomical structures</a:t>
            </a:r>
            <a:endParaRPr kumimoji="1" lang="zh-CN" altLang="en-US" sz="2000" dirty="0">
              <a:solidFill>
                <a:schemeClr val="accent2">
                  <a:lumMod val="20000"/>
                  <a:lumOff val="80000"/>
                </a:schemeClr>
              </a:solidFill>
            </a:endParaRPr>
          </a:p>
        </p:txBody>
      </p:sp>
      <p:pic>
        <p:nvPicPr>
          <p:cNvPr id="31" name="图片 30">
            <a:extLst>
              <a:ext uri="{FF2B5EF4-FFF2-40B4-BE49-F238E27FC236}">
                <a16:creationId xmlns:a16="http://schemas.microsoft.com/office/drawing/2014/main" id="{3F45CCCE-54CA-EFAF-09E3-0F5C34E9F8C1}"/>
              </a:ext>
            </a:extLst>
          </p:cNvPr>
          <p:cNvPicPr>
            <a:picLocks noChangeAspect="1"/>
          </p:cNvPicPr>
          <p:nvPr/>
        </p:nvPicPr>
        <p:blipFill>
          <a:blip r:embed="rId6">
            <a:alphaModFix amt="20000"/>
          </a:blip>
          <a:stretch>
            <a:fillRect/>
          </a:stretch>
        </p:blipFill>
        <p:spPr>
          <a:xfrm>
            <a:off x="400252" y="1635660"/>
            <a:ext cx="2642627" cy="2636020"/>
          </a:xfrm>
          <a:prstGeom prst="rect">
            <a:avLst/>
          </a:prstGeom>
        </p:spPr>
      </p:pic>
      <p:pic>
        <p:nvPicPr>
          <p:cNvPr id="32" name="图片 31">
            <a:extLst>
              <a:ext uri="{FF2B5EF4-FFF2-40B4-BE49-F238E27FC236}">
                <a16:creationId xmlns:a16="http://schemas.microsoft.com/office/drawing/2014/main" id="{EA73748B-DEBF-9BB0-BFA9-70AA4DC2AD9D}"/>
              </a:ext>
            </a:extLst>
          </p:cNvPr>
          <p:cNvPicPr>
            <a:picLocks noChangeAspect="1"/>
          </p:cNvPicPr>
          <p:nvPr/>
        </p:nvPicPr>
        <p:blipFill>
          <a:blip r:embed="rId7">
            <a:alphaModFix amt="20000"/>
          </a:blip>
          <a:stretch>
            <a:fillRect/>
          </a:stretch>
        </p:blipFill>
        <p:spPr>
          <a:xfrm>
            <a:off x="3168469" y="1625530"/>
            <a:ext cx="2666709" cy="2646150"/>
          </a:xfrm>
          <a:prstGeom prst="rect">
            <a:avLst/>
          </a:prstGeom>
        </p:spPr>
      </p:pic>
      <p:pic>
        <p:nvPicPr>
          <p:cNvPr id="5" name="图片 4">
            <a:extLst>
              <a:ext uri="{FF2B5EF4-FFF2-40B4-BE49-F238E27FC236}">
                <a16:creationId xmlns:a16="http://schemas.microsoft.com/office/drawing/2014/main" id="{609AE471-FBCD-C750-E2B2-B0F737453D4A}"/>
              </a:ext>
            </a:extLst>
          </p:cNvPr>
          <p:cNvPicPr>
            <a:picLocks noChangeAspect="1"/>
          </p:cNvPicPr>
          <p:nvPr/>
        </p:nvPicPr>
        <p:blipFill>
          <a:blip r:embed="rId8">
            <a:alphaModFix amt="20000"/>
          </a:blip>
          <a:stretch>
            <a:fillRect/>
          </a:stretch>
        </p:blipFill>
        <p:spPr>
          <a:xfrm>
            <a:off x="6443786" y="1565741"/>
            <a:ext cx="5766703" cy="2747829"/>
          </a:xfrm>
          <a:prstGeom prst="rect">
            <a:avLst/>
          </a:prstGeom>
        </p:spPr>
      </p:pic>
      <p:sp>
        <p:nvSpPr>
          <p:cNvPr id="7" name="文本框 6">
            <a:extLst>
              <a:ext uri="{FF2B5EF4-FFF2-40B4-BE49-F238E27FC236}">
                <a16:creationId xmlns:a16="http://schemas.microsoft.com/office/drawing/2014/main" id="{80115540-3E09-CB9B-5DFD-CD90441E46F2}"/>
              </a:ext>
            </a:extLst>
          </p:cNvPr>
          <p:cNvSpPr txBox="1"/>
          <p:nvPr/>
        </p:nvSpPr>
        <p:spPr>
          <a:xfrm>
            <a:off x="7119637" y="993913"/>
            <a:ext cx="4230027" cy="400110"/>
          </a:xfrm>
          <a:prstGeom prst="rect">
            <a:avLst/>
          </a:prstGeom>
          <a:noFill/>
        </p:spPr>
        <p:txBody>
          <a:bodyPr wrap="square" rtlCol="0">
            <a:spAutoFit/>
          </a:bodyPr>
          <a:lstStyle/>
          <a:p>
            <a:pPr algn="ctr"/>
            <a:r>
              <a:rPr kumimoji="1" lang="en-US" altLang="zh-CN" sz="2000" b="1" dirty="0">
                <a:solidFill>
                  <a:schemeClr val="bg2">
                    <a:lumMod val="90000"/>
                  </a:schemeClr>
                </a:solidFill>
              </a:rPr>
              <a:t>Compositionality</a:t>
            </a:r>
            <a:endParaRPr kumimoji="1" lang="zh-CN" altLang="en-US" sz="2000" b="1" dirty="0">
              <a:solidFill>
                <a:schemeClr val="bg2">
                  <a:lumMod val="90000"/>
                </a:schemeClr>
              </a:solidFill>
            </a:endParaRPr>
          </a:p>
        </p:txBody>
      </p:sp>
      <p:sp>
        <p:nvSpPr>
          <p:cNvPr id="10" name="文本框 9">
            <a:extLst>
              <a:ext uri="{FF2B5EF4-FFF2-40B4-BE49-F238E27FC236}">
                <a16:creationId xmlns:a16="http://schemas.microsoft.com/office/drawing/2014/main" id="{BB266AC5-DE3F-EA5E-DC38-E82BE8BA7615}"/>
              </a:ext>
            </a:extLst>
          </p:cNvPr>
          <p:cNvSpPr txBox="1"/>
          <p:nvPr/>
        </p:nvSpPr>
        <p:spPr>
          <a:xfrm>
            <a:off x="7233102" y="4541603"/>
            <a:ext cx="4022972" cy="400110"/>
          </a:xfrm>
          <a:prstGeom prst="rect">
            <a:avLst/>
          </a:prstGeom>
          <a:noFill/>
        </p:spPr>
        <p:txBody>
          <a:bodyPr wrap="square" rtlCol="0">
            <a:spAutoFit/>
          </a:bodyPr>
          <a:lstStyle/>
          <a:p>
            <a:r>
              <a:rPr kumimoji="1" lang="en-US" altLang="zh-CN" sz="2000" dirty="0">
                <a:solidFill>
                  <a:schemeClr val="accent2">
                    <a:lumMod val="20000"/>
                    <a:lumOff val="80000"/>
                  </a:schemeClr>
                </a:solidFill>
              </a:rPr>
              <a:t>• Hierarchical nature of anatomy</a:t>
            </a:r>
            <a:endParaRPr kumimoji="1" lang="zh-CN" altLang="en-US" sz="2000" dirty="0">
              <a:solidFill>
                <a:schemeClr val="accent2">
                  <a:lumMod val="20000"/>
                  <a:lumOff val="80000"/>
                </a:schemeClr>
              </a:solidFill>
            </a:endParaRPr>
          </a:p>
        </p:txBody>
      </p:sp>
      <p:sp>
        <p:nvSpPr>
          <p:cNvPr id="6" name="文本框 5">
            <a:extLst>
              <a:ext uri="{FF2B5EF4-FFF2-40B4-BE49-F238E27FC236}">
                <a16:creationId xmlns:a16="http://schemas.microsoft.com/office/drawing/2014/main" id="{1B75A6CB-3C92-9489-52CF-D0EF1C4B2B5E}"/>
              </a:ext>
            </a:extLst>
          </p:cNvPr>
          <p:cNvSpPr txBox="1"/>
          <p:nvPr/>
        </p:nvSpPr>
        <p:spPr>
          <a:xfrm>
            <a:off x="555505" y="2686995"/>
            <a:ext cx="11654984" cy="523220"/>
          </a:xfrm>
          <a:prstGeom prst="rect">
            <a:avLst/>
          </a:prstGeom>
          <a:noFill/>
        </p:spPr>
        <p:txBody>
          <a:bodyPr wrap="square">
            <a:spAutoFit/>
          </a:bodyPr>
          <a:lstStyle/>
          <a:p>
            <a:r>
              <a:rPr lang="en-US" altLang="zh-CN" sz="2800" dirty="0">
                <a:solidFill>
                  <a:srgbClr val="FF0000"/>
                </a:solidFill>
                <a:latin typeface="NimbusRomNo9L-Regu"/>
              </a:rPr>
              <a:t>Q: How to learn human anatomy from abundant unlabeled medical images?  </a:t>
            </a:r>
            <a:endParaRPr lang="zh-CN" altLang="en-US" sz="2800" dirty="0">
              <a:solidFill>
                <a:srgbClr val="FF0000"/>
              </a:solidFill>
            </a:endParaRPr>
          </a:p>
        </p:txBody>
      </p:sp>
      <p:sp>
        <p:nvSpPr>
          <p:cNvPr id="9" name="文本框 8">
            <a:extLst>
              <a:ext uri="{FF2B5EF4-FFF2-40B4-BE49-F238E27FC236}">
                <a16:creationId xmlns:a16="http://schemas.microsoft.com/office/drawing/2014/main" id="{10B35E67-9D73-BC88-672D-DA6BCB4B5E85}"/>
              </a:ext>
            </a:extLst>
          </p:cNvPr>
          <p:cNvSpPr txBox="1"/>
          <p:nvPr/>
        </p:nvSpPr>
        <p:spPr>
          <a:xfrm>
            <a:off x="1236494" y="4992665"/>
            <a:ext cx="4022972" cy="400110"/>
          </a:xfrm>
          <a:prstGeom prst="rect">
            <a:avLst/>
          </a:prstGeom>
          <a:noFill/>
        </p:spPr>
        <p:txBody>
          <a:bodyPr wrap="square" rtlCol="0">
            <a:spAutoFit/>
          </a:bodyPr>
          <a:lstStyle/>
          <a:p>
            <a:r>
              <a:rPr kumimoji="1" lang="en-US" altLang="zh-CN" sz="2000" dirty="0">
                <a:solidFill>
                  <a:schemeClr val="accent2">
                    <a:lumMod val="20000"/>
                    <a:lumOff val="80000"/>
                  </a:schemeClr>
                </a:solidFill>
              </a:rPr>
              <a:t>• Coherent spatial layout</a:t>
            </a:r>
            <a:endParaRPr kumimoji="1" lang="zh-CN" altLang="en-US" sz="2000" dirty="0">
              <a:solidFill>
                <a:schemeClr val="accent2">
                  <a:lumMod val="20000"/>
                  <a:lumOff val="80000"/>
                </a:schemeClr>
              </a:solidFill>
            </a:endParaRPr>
          </a:p>
        </p:txBody>
      </p:sp>
      <p:pic>
        <p:nvPicPr>
          <p:cNvPr id="42" name="音频 41">
            <a:extLst>
              <a:ext uri="{FF2B5EF4-FFF2-40B4-BE49-F238E27FC236}">
                <a16:creationId xmlns:a16="http://schemas.microsoft.com/office/drawing/2014/main" id="{3DBCD9C3-9671-C598-1774-F4816ABB1A61}"/>
              </a:ext>
            </a:extLst>
          </p:cNvPr>
          <p:cNvPicPr>
            <a:picLocks noChangeAspect="1"/>
          </p:cNvPicPr>
          <p:nvPr>
            <a:audioFile r:link="rId3"/>
            <p:extLst>
              <p:ext uri="{DAA4B4D4-6D71-4841-9C94-3DE7FCFB9230}">
                <p14:media xmlns:p14="http://schemas.microsoft.com/office/powerpoint/2010/main" r:embed="rId2"/>
              </p:ext>
            </p:extLst>
          </p:nvPr>
        </p:nvPicPr>
        <p:blipFill>
          <a:blip r:embed="rId9"/>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3129838429"/>
      </p:ext>
    </p:extLst>
  </p:cSld>
  <p:clrMapOvr>
    <a:masterClrMapping/>
  </p:clrMapOvr>
  <mc:AlternateContent xmlns:mc="http://schemas.openxmlformats.org/markup-compatibility/2006">
    <mc:Choice xmlns:p14="http://schemas.microsoft.com/office/powerpoint/2010/main" Requires="p14">
      <p:transition spd="slow" p14:dur="2000" advTm="8939"/>
    </mc:Choice>
    <mc:Fallback>
      <p:transition spd="slow" advTm="89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5F71C7A-28AF-06C5-F2CF-D30E447B3017}"/>
              </a:ext>
            </a:extLst>
          </p:cNvPr>
          <p:cNvSpPr txBox="1"/>
          <p:nvPr/>
        </p:nvSpPr>
        <p:spPr>
          <a:xfrm>
            <a:off x="271484" y="94892"/>
            <a:ext cx="3945937" cy="584775"/>
          </a:xfrm>
          <a:prstGeom prst="rect">
            <a:avLst/>
          </a:prstGeom>
          <a:noFill/>
        </p:spPr>
        <p:txBody>
          <a:bodyPr wrap="square" rtlCol="0">
            <a:spAutoFit/>
          </a:bodyPr>
          <a:lstStyle/>
          <a:p>
            <a:r>
              <a:rPr lang="en-US" altLang="zh-CN" sz="3200" b="1" dirty="0"/>
              <a:t>Method</a:t>
            </a:r>
            <a:endParaRPr lang="zh-CN" altLang="en-US" sz="3200" b="1" dirty="0"/>
          </a:p>
        </p:txBody>
      </p:sp>
      <p:cxnSp>
        <p:nvCxnSpPr>
          <p:cNvPr id="4" name="Straight Connector 2">
            <a:extLst>
              <a:ext uri="{FF2B5EF4-FFF2-40B4-BE49-F238E27FC236}">
                <a16:creationId xmlns:a16="http://schemas.microsoft.com/office/drawing/2014/main" id="{CF3CABD3-CC70-6BCF-99AA-01E7DD1079B8}"/>
              </a:ext>
            </a:extLst>
          </p:cNvPr>
          <p:cNvCxnSpPr/>
          <p:nvPr/>
        </p:nvCxnSpPr>
        <p:spPr>
          <a:xfrm flipH="1">
            <a:off x="0" y="679667"/>
            <a:ext cx="121920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83" name="组合 182">
            <a:extLst>
              <a:ext uri="{FF2B5EF4-FFF2-40B4-BE49-F238E27FC236}">
                <a16:creationId xmlns:a16="http://schemas.microsoft.com/office/drawing/2014/main" id="{013BCC83-8D56-4B71-2DC1-DD3EE839778B}"/>
              </a:ext>
            </a:extLst>
          </p:cNvPr>
          <p:cNvGrpSpPr/>
          <p:nvPr/>
        </p:nvGrpSpPr>
        <p:grpSpPr>
          <a:xfrm>
            <a:off x="750858" y="2142061"/>
            <a:ext cx="4619134" cy="2993749"/>
            <a:chOff x="1512991" y="2935610"/>
            <a:chExt cx="4619134" cy="2993749"/>
          </a:xfrm>
        </p:grpSpPr>
        <p:sp>
          <p:nvSpPr>
            <p:cNvPr id="5" name="矩形 4">
              <a:extLst>
                <a:ext uri="{FF2B5EF4-FFF2-40B4-BE49-F238E27FC236}">
                  <a16:creationId xmlns:a16="http://schemas.microsoft.com/office/drawing/2014/main" id="{D6F6D363-84E8-4B76-4092-088F183190F3}"/>
                </a:ext>
              </a:extLst>
            </p:cNvPr>
            <p:cNvSpPr/>
            <p:nvPr/>
          </p:nvSpPr>
          <p:spPr>
            <a:xfrm>
              <a:off x="3430333" y="3480666"/>
              <a:ext cx="531259" cy="520700"/>
            </a:xfrm>
            <a:prstGeom prst="rect">
              <a:avLst/>
            </a:prstGeom>
            <a:noFill/>
            <a:ln w="285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a:extLst>
                <a:ext uri="{FF2B5EF4-FFF2-40B4-BE49-F238E27FC236}">
                  <a16:creationId xmlns:a16="http://schemas.microsoft.com/office/drawing/2014/main" id="{677A768A-1419-04CA-6391-7E8BD820AA9B}"/>
                </a:ext>
              </a:extLst>
            </p:cNvPr>
            <p:cNvSpPr/>
            <p:nvPr/>
          </p:nvSpPr>
          <p:spPr>
            <a:xfrm>
              <a:off x="3454655" y="3501651"/>
              <a:ext cx="156521" cy="15713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highlight>
                  <a:srgbClr val="FFFF00"/>
                </a:highlight>
              </a:endParaRPr>
            </a:p>
          </p:txBody>
        </p:sp>
        <p:sp>
          <p:nvSpPr>
            <p:cNvPr id="10" name="矩形 9">
              <a:extLst>
                <a:ext uri="{FF2B5EF4-FFF2-40B4-BE49-F238E27FC236}">
                  <a16:creationId xmlns:a16="http://schemas.microsoft.com/office/drawing/2014/main" id="{0FFF9C67-CA21-32A2-E703-62A75A517399}"/>
                </a:ext>
              </a:extLst>
            </p:cNvPr>
            <p:cNvSpPr/>
            <p:nvPr/>
          </p:nvSpPr>
          <p:spPr>
            <a:xfrm>
              <a:off x="3635421" y="3501651"/>
              <a:ext cx="156521" cy="15713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highlight>
                  <a:srgbClr val="FFFF00"/>
                </a:highlight>
              </a:endParaRPr>
            </a:p>
          </p:txBody>
        </p:sp>
        <p:sp>
          <p:nvSpPr>
            <p:cNvPr id="17" name="文本框 16">
              <a:extLst>
                <a:ext uri="{FF2B5EF4-FFF2-40B4-BE49-F238E27FC236}">
                  <a16:creationId xmlns:a16="http://schemas.microsoft.com/office/drawing/2014/main" id="{5D434144-92EA-D5DF-FB95-C19C8362290C}"/>
                </a:ext>
              </a:extLst>
            </p:cNvPr>
            <p:cNvSpPr txBox="1"/>
            <p:nvPr/>
          </p:nvSpPr>
          <p:spPr>
            <a:xfrm>
              <a:off x="3705261" y="3352007"/>
              <a:ext cx="329949" cy="369332"/>
            </a:xfrm>
            <a:prstGeom prst="rect">
              <a:avLst/>
            </a:prstGeom>
            <a:noFill/>
          </p:spPr>
          <p:txBody>
            <a:bodyPr wrap="square" rtlCol="0">
              <a:spAutoFit/>
            </a:bodyPr>
            <a:lstStyle/>
            <a:p>
              <a:r>
                <a:rPr lang="en-US" altLang="zh-CN" dirty="0"/>
                <a:t>…</a:t>
              </a:r>
              <a:endParaRPr lang="zh-CN" altLang="en-US" dirty="0"/>
            </a:p>
          </p:txBody>
        </p:sp>
        <p:sp>
          <p:nvSpPr>
            <p:cNvPr id="28" name="矩形 27">
              <a:extLst>
                <a:ext uri="{FF2B5EF4-FFF2-40B4-BE49-F238E27FC236}">
                  <a16:creationId xmlns:a16="http://schemas.microsoft.com/office/drawing/2014/main" id="{E2BAF158-242D-3AB0-4A89-BC1D034FE5DB}"/>
                </a:ext>
              </a:extLst>
            </p:cNvPr>
            <p:cNvSpPr/>
            <p:nvPr/>
          </p:nvSpPr>
          <p:spPr>
            <a:xfrm>
              <a:off x="3455502" y="3686969"/>
              <a:ext cx="156521" cy="15713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highlight>
                  <a:srgbClr val="FFFF00"/>
                </a:highlight>
              </a:endParaRPr>
            </a:p>
          </p:txBody>
        </p:sp>
        <p:sp>
          <p:nvSpPr>
            <p:cNvPr id="31" name="矩形 30">
              <a:extLst>
                <a:ext uri="{FF2B5EF4-FFF2-40B4-BE49-F238E27FC236}">
                  <a16:creationId xmlns:a16="http://schemas.microsoft.com/office/drawing/2014/main" id="{1429B748-C177-454B-D2CE-5C8D6D410805}"/>
                </a:ext>
              </a:extLst>
            </p:cNvPr>
            <p:cNvSpPr/>
            <p:nvPr/>
          </p:nvSpPr>
          <p:spPr>
            <a:xfrm>
              <a:off x="3636268" y="3686969"/>
              <a:ext cx="156521" cy="15713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highlight>
                  <a:srgbClr val="FFFF00"/>
                </a:highlight>
              </a:endParaRPr>
            </a:p>
          </p:txBody>
        </p:sp>
        <p:sp>
          <p:nvSpPr>
            <p:cNvPr id="32" name="文本框 31">
              <a:extLst>
                <a:ext uri="{FF2B5EF4-FFF2-40B4-BE49-F238E27FC236}">
                  <a16:creationId xmlns:a16="http://schemas.microsoft.com/office/drawing/2014/main" id="{A272AD36-E580-A8C7-38A0-95F8284C2B0D}"/>
                </a:ext>
              </a:extLst>
            </p:cNvPr>
            <p:cNvSpPr txBox="1"/>
            <p:nvPr/>
          </p:nvSpPr>
          <p:spPr>
            <a:xfrm rot="5400000">
              <a:off x="3454898" y="3739108"/>
              <a:ext cx="329949" cy="369332"/>
            </a:xfrm>
            <a:prstGeom prst="rect">
              <a:avLst/>
            </a:prstGeom>
            <a:noFill/>
          </p:spPr>
          <p:txBody>
            <a:bodyPr wrap="square" rtlCol="0">
              <a:spAutoFit/>
            </a:bodyPr>
            <a:lstStyle/>
            <a:p>
              <a:r>
                <a:rPr lang="en-US" altLang="zh-CN" dirty="0"/>
                <a:t>…</a:t>
              </a:r>
              <a:endParaRPr lang="zh-CN" altLang="en-US" dirty="0"/>
            </a:p>
          </p:txBody>
        </p:sp>
        <p:sp>
          <p:nvSpPr>
            <p:cNvPr id="44" name="文本框 43">
              <a:extLst>
                <a:ext uri="{FF2B5EF4-FFF2-40B4-BE49-F238E27FC236}">
                  <a16:creationId xmlns:a16="http://schemas.microsoft.com/office/drawing/2014/main" id="{40C8D678-836A-8C49-0962-36724E9AA487}"/>
                </a:ext>
              </a:extLst>
            </p:cNvPr>
            <p:cNvSpPr txBox="1"/>
            <p:nvPr/>
          </p:nvSpPr>
          <p:spPr>
            <a:xfrm rot="2551326">
              <a:off x="3741245" y="3686068"/>
              <a:ext cx="329949" cy="369332"/>
            </a:xfrm>
            <a:prstGeom prst="rect">
              <a:avLst/>
            </a:prstGeom>
            <a:noFill/>
          </p:spPr>
          <p:txBody>
            <a:bodyPr wrap="square" rtlCol="0">
              <a:spAutoFit/>
            </a:bodyPr>
            <a:lstStyle/>
            <a:p>
              <a:r>
                <a:rPr lang="en-US" altLang="zh-CN" dirty="0"/>
                <a:t>…</a:t>
              </a:r>
              <a:endParaRPr lang="zh-CN" altLang="en-US" dirty="0"/>
            </a:p>
          </p:txBody>
        </p:sp>
        <p:cxnSp>
          <p:nvCxnSpPr>
            <p:cNvPr id="111" name="直线箭头连接符 110">
              <a:extLst>
                <a:ext uri="{FF2B5EF4-FFF2-40B4-BE49-F238E27FC236}">
                  <a16:creationId xmlns:a16="http://schemas.microsoft.com/office/drawing/2014/main" id="{D58EB6DE-1B29-BB9A-58C5-934E9B6FAC69}"/>
                </a:ext>
              </a:extLst>
            </p:cNvPr>
            <p:cNvCxnSpPr>
              <a:cxnSpLocks/>
            </p:cNvCxnSpPr>
            <p:nvPr/>
          </p:nvCxnSpPr>
          <p:spPr>
            <a:xfrm>
              <a:off x="3970140" y="3765535"/>
              <a:ext cx="19626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2" name="文本框 111">
                  <a:extLst>
                    <a:ext uri="{FF2B5EF4-FFF2-40B4-BE49-F238E27FC236}">
                      <a16:creationId xmlns:a16="http://schemas.microsoft.com/office/drawing/2014/main" id="{AB5193A6-58BA-3A17-04F4-1072211FB6C7}"/>
                    </a:ext>
                  </a:extLst>
                </p:cNvPr>
                <p:cNvSpPr txBox="1"/>
                <p:nvPr/>
              </p:nvSpPr>
              <p:spPr>
                <a:xfrm>
                  <a:off x="3516203" y="3957067"/>
                  <a:ext cx="3750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1" i="1" smtClean="0">
                                <a:solidFill>
                                  <a:schemeClr val="tx1"/>
                                </a:solidFill>
                                <a:latin typeface="Cambria Math" panose="02040503050406030204" pitchFamily="18" charset="0"/>
                                <a:cs typeface="Times New Roman" panose="02020603050405020304" pitchFamily="18" charset="0"/>
                              </a:rPr>
                            </m:ctrlPr>
                          </m:sSubPr>
                          <m:e>
                            <m:r>
                              <a:rPr lang="en-US" altLang="zh-CN" sz="1400" b="1" i="1" smtClean="0">
                                <a:solidFill>
                                  <a:schemeClr val="tx1"/>
                                </a:solidFill>
                                <a:latin typeface="Cambria Math" panose="02040503050406030204" pitchFamily="18" charset="0"/>
                                <a:cs typeface="Times New Roman" panose="02020603050405020304" pitchFamily="18" charset="0"/>
                              </a:rPr>
                              <m:t>𝑪</m:t>
                            </m:r>
                          </m:e>
                          <m:sub>
                            <m:r>
                              <a:rPr lang="en-US" altLang="zh-CN" sz="1400" b="1" i="1" smtClean="0">
                                <a:solidFill>
                                  <a:schemeClr val="tx1"/>
                                </a:solidFill>
                                <a:latin typeface="Cambria Math" panose="02040503050406030204" pitchFamily="18" charset="0"/>
                                <a:cs typeface="Times New Roman" panose="02020603050405020304" pitchFamily="18" charset="0"/>
                              </a:rPr>
                              <m:t>𝟐</m:t>
                            </m:r>
                          </m:sub>
                        </m:sSub>
                      </m:oMath>
                    </m:oMathPara>
                  </a14:m>
                  <a:endParaRPr lang="zh-CN" altLang="en-US" sz="1400" b="1" dirty="0">
                    <a:solidFill>
                      <a:schemeClr val="tx1"/>
                    </a:solidFill>
                    <a:latin typeface="Times New Roman" panose="02020603050405020304" pitchFamily="18" charset="0"/>
                    <a:cs typeface="Times New Roman" panose="02020603050405020304" pitchFamily="18" charset="0"/>
                  </a:endParaRPr>
                </a:p>
              </p:txBody>
            </p:sp>
          </mc:Choice>
          <mc:Fallback>
            <p:sp>
              <p:nvSpPr>
                <p:cNvPr id="112" name="文本框 111">
                  <a:extLst>
                    <a:ext uri="{FF2B5EF4-FFF2-40B4-BE49-F238E27FC236}">
                      <a16:creationId xmlns:a16="http://schemas.microsoft.com/office/drawing/2014/main" id="{AB5193A6-58BA-3A17-04F4-1072211FB6C7}"/>
                    </a:ext>
                  </a:extLst>
                </p:cNvPr>
                <p:cNvSpPr txBox="1">
                  <a:spLocks noRot="1" noChangeAspect="1" noMove="1" noResize="1" noEditPoints="1" noAdjustHandles="1" noChangeArrowheads="1" noChangeShapeType="1" noTextEdit="1"/>
                </p:cNvSpPr>
                <p:nvPr/>
              </p:nvSpPr>
              <p:spPr>
                <a:xfrm>
                  <a:off x="3516203" y="3957067"/>
                  <a:ext cx="375069" cy="307777"/>
                </a:xfrm>
                <a:prstGeom prst="rect">
                  <a:avLst/>
                </a:prstGeom>
                <a:blipFill>
                  <a:blip r:embed="rId6"/>
                  <a:stretch>
                    <a:fillRect/>
                  </a:stretch>
                </a:blipFill>
              </p:spPr>
              <p:txBody>
                <a:bodyPr/>
                <a:lstStyle/>
                <a:p>
                  <a:r>
                    <a:rPr lang="zh-CN" altLang="en-US">
                      <a:noFill/>
                    </a:rPr>
                    <a:t> </a:t>
                  </a:r>
                </a:p>
              </p:txBody>
            </p:sp>
          </mc:Fallback>
        </mc:AlternateContent>
        <p:sp>
          <p:nvSpPr>
            <p:cNvPr id="113" name="文本框 112">
              <a:extLst>
                <a:ext uri="{FF2B5EF4-FFF2-40B4-BE49-F238E27FC236}">
                  <a16:creationId xmlns:a16="http://schemas.microsoft.com/office/drawing/2014/main" id="{098292AD-CCA3-E95B-9153-709E2315723C}"/>
                </a:ext>
              </a:extLst>
            </p:cNvPr>
            <p:cNvSpPr txBox="1"/>
            <p:nvPr/>
          </p:nvSpPr>
          <p:spPr>
            <a:xfrm>
              <a:off x="3085965" y="3070606"/>
              <a:ext cx="1226247" cy="430887"/>
            </a:xfrm>
            <a:prstGeom prst="rect">
              <a:avLst/>
            </a:prstGeom>
            <a:noFill/>
          </p:spPr>
          <p:txBody>
            <a:bodyPr wrap="square" rtlCol="0">
              <a:spAutoFit/>
            </a:bodyPr>
            <a:lstStyle/>
            <a:p>
              <a:pPr algn="ctr"/>
              <a:r>
                <a:rPr kumimoji="1" lang="en-US" altLang="zh-CN" sz="1100" dirty="0">
                  <a:latin typeface="Times New Roman" panose="02020603050405020304" pitchFamily="18" charset="0"/>
                  <a:cs typeface="Times New Roman" panose="02020603050405020304" pitchFamily="18" charset="0"/>
                </a:rPr>
                <a:t>Patch embeddings</a:t>
              </a:r>
              <a:r>
                <a:rPr kumimoji="1" lang="zh-CN" altLang="en-US" sz="1100" dirty="0">
                  <a:latin typeface="Times New Roman" panose="02020603050405020304" pitchFamily="18" charset="0"/>
                  <a:cs typeface="Times New Roman" panose="02020603050405020304" pitchFamily="18" charset="0"/>
                </a:rPr>
                <a:t> </a:t>
              </a:r>
              <a:r>
                <a:rPr kumimoji="1" lang="en-US" altLang="zh-CN" sz="1100" dirty="0">
                  <a:latin typeface="Times New Roman" panose="02020603050405020304" pitchFamily="18" charset="0"/>
                  <a:cs typeface="Times New Roman" panose="02020603050405020304" pitchFamily="18" charset="0"/>
                </a:rPr>
                <a:t>from student</a:t>
              </a:r>
              <a:endParaRPr kumimoji="1" lang="zh-CN" altLang="en-US" sz="1100" dirty="0">
                <a:latin typeface="Times New Roman" panose="02020603050405020304" pitchFamily="18" charset="0"/>
                <a:cs typeface="Times New Roman" panose="02020603050405020304" pitchFamily="18" charset="0"/>
              </a:endParaRPr>
            </a:p>
          </p:txBody>
        </p:sp>
        <p:sp>
          <p:nvSpPr>
            <p:cNvPr id="114" name="矩形 113">
              <a:extLst>
                <a:ext uri="{FF2B5EF4-FFF2-40B4-BE49-F238E27FC236}">
                  <a16:creationId xmlns:a16="http://schemas.microsoft.com/office/drawing/2014/main" id="{D7E78EAD-CF4D-F368-AE0D-420DF0EC2587}"/>
                </a:ext>
              </a:extLst>
            </p:cNvPr>
            <p:cNvSpPr/>
            <p:nvPr/>
          </p:nvSpPr>
          <p:spPr>
            <a:xfrm>
              <a:off x="3265677" y="4785722"/>
              <a:ext cx="900725" cy="897969"/>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5" name="矩形 114">
              <a:extLst>
                <a:ext uri="{FF2B5EF4-FFF2-40B4-BE49-F238E27FC236}">
                  <a16:creationId xmlns:a16="http://schemas.microsoft.com/office/drawing/2014/main" id="{2D8FCF3E-8A98-B1D9-8985-E204948B96E5}"/>
                </a:ext>
              </a:extLst>
            </p:cNvPr>
            <p:cNvSpPr/>
            <p:nvPr/>
          </p:nvSpPr>
          <p:spPr>
            <a:xfrm>
              <a:off x="3279021" y="4808060"/>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6" name="矩形 115">
              <a:extLst>
                <a:ext uri="{FF2B5EF4-FFF2-40B4-BE49-F238E27FC236}">
                  <a16:creationId xmlns:a16="http://schemas.microsoft.com/office/drawing/2014/main" id="{BB60ABF4-D382-E43C-7181-F677D38CDA6A}"/>
                </a:ext>
              </a:extLst>
            </p:cNvPr>
            <p:cNvSpPr/>
            <p:nvPr/>
          </p:nvSpPr>
          <p:spPr>
            <a:xfrm>
              <a:off x="3461389" y="4808060"/>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7" name="矩形 116">
              <a:extLst>
                <a:ext uri="{FF2B5EF4-FFF2-40B4-BE49-F238E27FC236}">
                  <a16:creationId xmlns:a16="http://schemas.microsoft.com/office/drawing/2014/main" id="{49EDA4C1-D955-785B-D429-B523E206B21F}"/>
                </a:ext>
              </a:extLst>
            </p:cNvPr>
            <p:cNvSpPr/>
            <p:nvPr/>
          </p:nvSpPr>
          <p:spPr>
            <a:xfrm>
              <a:off x="3642155" y="4808060"/>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8" name="矩形 117">
              <a:extLst>
                <a:ext uri="{FF2B5EF4-FFF2-40B4-BE49-F238E27FC236}">
                  <a16:creationId xmlns:a16="http://schemas.microsoft.com/office/drawing/2014/main" id="{48B93EBC-04CA-F899-0215-AAFAF0EAC40F}"/>
                </a:ext>
              </a:extLst>
            </p:cNvPr>
            <p:cNvSpPr/>
            <p:nvPr/>
          </p:nvSpPr>
          <p:spPr>
            <a:xfrm>
              <a:off x="3989248" y="4808060"/>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9" name="矩形 118">
              <a:extLst>
                <a:ext uri="{FF2B5EF4-FFF2-40B4-BE49-F238E27FC236}">
                  <a16:creationId xmlns:a16="http://schemas.microsoft.com/office/drawing/2014/main" id="{C7C76F56-C6BE-E289-828F-9A5AA9507F3A}"/>
                </a:ext>
              </a:extLst>
            </p:cNvPr>
            <p:cNvSpPr/>
            <p:nvPr/>
          </p:nvSpPr>
          <p:spPr>
            <a:xfrm>
              <a:off x="3280546" y="4992726"/>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0" name="矩形 119">
              <a:extLst>
                <a:ext uri="{FF2B5EF4-FFF2-40B4-BE49-F238E27FC236}">
                  <a16:creationId xmlns:a16="http://schemas.microsoft.com/office/drawing/2014/main" id="{D9F45925-4442-1C1B-9933-C2B41B1B7EC3}"/>
                </a:ext>
              </a:extLst>
            </p:cNvPr>
            <p:cNvSpPr/>
            <p:nvPr/>
          </p:nvSpPr>
          <p:spPr>
            <a:xfrm>
              <a:off x="3462914" y="4992726"/>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1" name="矩形 120">
              <a:extLst>
                <a:ext uri="{FF2B5EF4-FFF2-40B4-BE49-F238E27FC236}">
                  <a16:creationId xmlns:a16="http://schemas.microsoft.com/office/drawing/2014/main" id="{B7CA9CC0-73FD-CFBE-EC21-9C300CBDC9A0}"/>
                </a:ext>
              </a:extLst>
            </p:cNvPr>
            <p:cNvSpPr/>
            <p:nvPr/>
          </p:nvSpPr>
          <p:spPr>
            <a:xfrm>
              <a:off x="3643680" y="4992726"/>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2" name="矩形 121">
              <a:extLst>
                <a:ext uri="{FF2B5EF4-FFF2-40B4-BE49-F238E27FC236}">
                  <a16:creationId xmlns:a16="http://schemas.microsoft.com/office/drawing/2014/main" id="{733E0905-4FE0-BFF2-A341-D7AE7FA17055}"/>
                </a:ext>
              </a:extLst>
            </p:cNvPr>
            <p:cNvSpPr/>
            <p:nvPr/>
          </p:nvSpPr>
          <p:spPr>
            <a:xfrm>
              <a:off x="3990773" y="4992726"/>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3" name="文本框 122">
              <a:extLst>
                <a:ext uri="{FF2B5EF4-FFF2-40B4-BE49-F238E27FC236}">
                  <a16:creationId xmlns:a16="http://schemas.microsoft.com/office/drawing/2014/main" id="{9C5C1F06-C40A-B168-D5CD-4B746F41DB33}"/>
                </a:ext>
              </a:extLst>
            </p:cNvPr>
            <p:cNvSpPr txBox="1"/>
            <p:nvPr/>
          </p:nvSpPr>
          <p:spPr>
            <a:xfrm>
              <a:off x="3724406" y="4886626"/>
              <a:ext cx="329949" cy="369332"/>
            </a:xfrm>
            <a:prstGeom prst="rect">
              <a:avLst/>
            </a:prstGeom>
            <a:noFill/>
          </p:spPr>
          <p:txBody>
            <a:bodyPr wrap="square" rtlCol="0">
              <a:spAutoFit/>
            </a:bodyPr>
            <a:lstStyle/>
            <a:p>
              <a:r>
                <a:rPr lang="en-US" altLang="zh-CN" dirty="0"/>
                <a:t>…</a:t>
              </a:r>
              <a:endParaRPr lang="zh-CN" altLang="en-US" dirty="0"/>
            </a:p>
          </p:txBody>
        </p:sp>
        <p:sp>
          <p:nvSpPr>
            <p:cNvPr id="124" name="矩形 123">
              <a:extLst>
                <a:ext uri="{FF2B5EF4-FFF2-40B4-BE49-F238E27FC236}">
                  <a16:creationId xmlns:a16="http://schemas.microsoft.com/office/drawing/2014/main" id="{66B9CEAE-4087-519D-1EE5-8DF4D0F2D52C}"/>
                </a:ext>
              </a:extLst>
            </p:cNvPr>
            <p:cNvSpPr/>
            <p:nvPr/>
          </p:nvSpPr>
          <p:spPr>
            <a:xfrm>
              <a:off x="3281393" y="5178044"/>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5" name="矩形 124">
              <a:extLst>
                <a:ext uri="{FF2B5EF4-FFF2-40B4-BE49-F238E27FC236}">
                  <a16:creationId xmlns:a16="http://schemas.microsoft.com/office/drawing/2014/main" id="{AB32345F-C0BF-1F2D-BB50-88C176884924}"/>
                </a:ext>
              </a:extLst>
            </p:cNvPr>
            <p:cNvSpPr/>
            <p:nvPr/>
          </p:nvSpPr>
          <p:spPr>
            <a:xfrm>
              <a:off x="3463761" y="5178044"/>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6" name="矩形 125">
              <a:extLst>
                <a:ext uri="{FF2B5EF4-FFF2-40B4-BE49-F238E27FC236}">
                  <a16:creationId xmlns:a16="http://schemas.microsoft.com/office/drawing/2014/main" id="{983A6FF1-CCAD-44BE-E1FE-64632EB02550}"/>
                </a:ext>
              </a:extLst>
            </p:cNvPr>
            <p:cNvSpPr/>
            <p:nvPr/>
          </p:nvSpPr>
          <p:spPr>
            <a:xfrm>
              <a:off x="3644527" y="5178044"/>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7" name="矩形 126">
              <a:extLst>
                <a:ext uri="{FF2B5EF4-FFF2-40B4-BE49-F238E27FC236}">
                  <a16:creationId xmlns:a16="http://schemas.microsoft.com/office/drawing/2014/main" id="{823564A4-FEB0-6905-726E-53F4ACCEC938}"/>
                </a:ext>
              </a:extLst>
            </p:cNvPr>
            <p:cNvSpPr/>
            <p:nvPr/>
          </p:nvSpPr>
          <p:spPr>
            <a:xfrm>
              <a:off x="3991620" y="5178044"/>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8" name="矩形 127">
              <a:extLst>
                <a:ext uri="{FF2B5EF4-FFF2-40B4-BE49-F238E27FC236}">
                  <a16:creationId xmlns:a16="http://schemas.microsoft.com/office/drawing/2014/main" id="{A7152B03-0560-57ED-1843-6200BA572980}"/>
                </a:ext>
              </a:extLst>
            </p:cNvPr>
            <p:cNvSpPr/>
            <p:nvPr/>
          </p:nvSpPr>
          <p:spPr>
            <a:xfrm>
              <a:off x="3285862" y="5510929"/>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9" name="矩形 128">
              <a:extLst>
                <a:ext uri="{FF2B5EF4-FFF2-40B4-BE49-F238E27FC236}">
                  <a16:creationId xmlns:a16="http://schemas.microsoft.com/office/drawing/2014/main" id="{194EDBE1-D91B-BEE9-813D-0E6B74932603}"/>
                </a:ext>
              </a:extLst>
            </p:cNvPr>
            <p:cNvSpPr/>
            <p:nvPr/>
          </p:nvSpPr>
          <p:spPr>
            <a:xfrm>
              <a:off x="3468230" y="5510929"/>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0" name="矩形 129">
              <a:extLst>
                <a:ext uri="{FF2B5EF4-FFF2-40B4-BE49-F238E27FC236}">
                  <a16:creationId xmlns:a16="http://schemas.microsoft.com/office/drawing/2014/main" id="{646DAF05-F81B-FDD1-15A2-84E547DF73BF}"/>
                </a:ext>
              </a:extLst>
            </p:cNvPr>
            <p:cNvSpPr/>
            <p:nvPr/>
          </p:nvSpPr>
          <p:spPr>
            <a:xfrm>
              <a:off x="3648996" y="5510929"/>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1" name="矩形 130">
              <a:extLst>
                <a:ext uri="{FF2B5EF4-FFF2-40B4-BE49-F238E27FC236}">
                  <a16:creationId xmlns:a16="http://schemas.microsoft.com/office/drawing/2014/main" id="{9EC1B269-EC0E-DF06-2FB8-8DBC6D810500}"/>
                </a:ext>
              </a:extLst>
            </p:cNvPr>
            <p:cNvSpPr/>
            <p:nvPr/>
          </p:nvSpPr>
          <p:spPr>
            <a:xfrm>
              <a:off x="3996089" y="5510929"/>
              <a:ext cx="156521" cy="157132"/>
            </a:xfrm>
            <a:prstGeom prst="rect">
              <a:avLst/>
            </a:prstGeom>
            <a:solidFill>
              <a:srgbClr val="E6B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2" name="文本框 131">
              <a:extLst>
                <a:ext uri="{FF2B5EF4-FFF2-40B4-BE49-F238E27FC236}">
                  <a16:creationId xmlns:a16="http://schemas.microsoft.com/office/drawing/2014/main" id="{F522E66E-0EA1-FA99-D92C-8C3810B39EBC}"/>
                </a:ext>
              </a:extLst>
            </p:cNvPr>
            <p:cNvSpPr txBox="1"/>
            <p:nvPr/>
          </p:nvSpPr>
          <p:spPr>
            <a:xfrm>
              <a:off x="3729722" y="5404829"/>
              <a:ext cx="329949" cy="369332"/>
            </a:xfrm>
            <a:prstGeom prst="rect">
              <a:avLst/>
            </a:prstGeom>
            <a:noFill/>
          </p:spPr>
          <p:txBody>
            <a:bodyPr wrap="square" rtlCol="0">
              <a:spAutoFit/>
            </a:bodyPr>
            <a:lstStyle/>
            <a:p>
              <a:r>
                <a:rPr lang="en-US" altLang="zh-CN" dirty="0"/>
                <a:t>…</a:t>
              </a:r>
              <a:endParaRPr lang="zh-CN" altLang="en-US" dirty="0"/>
            </a:p>
          </p:txBody>
        </p:sp>
        <p:sp>
          <p:nvSpPr>
            <p:cNvPr id="133" name="文本框 132">
              <a:extLst>
                <a:ext uri="{FF2B5EF4-FFF2-40B4-BE49-F238E27FC236}">
                  <a16:creationId xmlns:a16="http://schemas.microsoft.com/office/drawing/2014/main" id="{215411CB-D3AD-EC38-163F-E5D7011623C6}"/>
                </a:ext>
              </a:extLst>
            </p:cNvPr>
            <p:cNvSpPr txBox="1"/>
            <p:nvPr/>
          </p:nvSpPr>
          <p:spPr>
            <a:xfrm rot="5400000">
              <a:off x="3386955" y="5241069"/>
              <a:ext cx="329949" cy="369332"/>
            </a:xfrm>
            <a:prstGeom prst="rect">
              <a:avLst/>
            </a:prstGeom>
            <a:noFill/>
          </p:spPr>
          <p:txBody>
            <a:bodyPr wrap="square" rtlCol="0">
              <a:spAutoFit/>
            </a:bodyPr>
            <a:lstStyle/>
            <a:p>
              <a:r>
                <a:rPr lang="en-US" altLang="zh-CN" dirty="0"/>
                <a:t>…</a:t>
              </a:r>
              <a:endParaRPr lang="zh-CN" altLang="en-US" dirty="0"/>
            </a:p>
          </p:txBody>
        </p:sp>
        <p:sp>
          <p:nvSpPr>
            <p:cNvPr id="134" name="文本框 133">
              <a:extLst>
                <a:ext uri="{FF2B5EF4-FFF2-40B4-BE49-F238E27FC236}">
                  <a16:creationId xmlns:a16="http://schemas.microsoft.com/office/drawing/2014/main" id="{55379F3E-339A-995F-2D3F-7247D3B81566}"/>
                </a:ext>
              </a:extLst>
            </p:cNvPr>
            <p:cNvSpPr txBox="1"/>
            <p:nvPr/>
          </p:nvSpPr>
          <p:spPr>
            <a:xfrm rot="5400000">
              <a:off x="3906764" y="5237094"/>
              <a:ext cx="329949" cy="369332"/>
            </a:xfrm>
            <a:prstGeom prst="rect">
              <a:avLst/>
            </a:prstGeom>
            <a:noFill/>
          </p:spPr>
          <p:txBody>
            <a:bodyPr wrap="square" rtlCol="0">
              <a:spAutoFit/>
            </a:bodyPr>
            <a:lstStyle/>
            <a:p>
              <a:r>
                <a:rPr lang="en-US" altLang="zh-CN" dirty="0"/>
                <a:t>…</a:t>
              </a:r>
              <a:endParaRPr lang="zh-CN" altLang="en-US" dirty="0"/>
            </a:p>
          </p:txBody>
        </p:sp>
        <p:sp>
          <p:nvSpPr>
            <p:cNvPr id="135" name="文本框 134">
              <a:extLst>
                <a:ext uri="{FF2B5EF4-FFF2-40B4-BE49-F238E27FC236}">
                  <a16:creationId xmlns:a16="http://schemas.microsoft.com/office/drawing/2014/main" id="{95579F0D-9CA0-BF91-C556-1C5EC422BB3A}"/>
                </a:ext>
              </a:extLst>
            </p:cNvPr>
            <p:cNvSpPr txBox="1"/>
            <p:nvPr/>
          </p:nvSpPr>
          <p:spPr>
            <a:xfrm rot="2551326">
              <a:off x="3716846" y="5242459"/>
              <a:ext cx="329949" cy="369332"/>
            </a:xfrm>
            <a:prstGeom prst="rect">
              <a:avLst/>
            </a:prstGeom>
            <a:noFill/>
          </p:spPr>
          <p:txBody>
            <a:bodyPr wrap="square" rtlCol="0">
              <a:spAutoFit/>
            </a:bodyPr>
            <a:lstStyle/>
            <a:p>
              <a:r>
                <a:rPr lang="en-US" altLang="zh-CN" dirty="0"/>
                <a:t>…</a:t>
              </a:r>
              <a:endParaRPr lang="zh-CN" altLang="en-US" dirty="0"/>
            </a:p>
          </p:txBody>
        </p:sp>
        <p:sp>
          <p:nvSpPr>
            <p:cNvPr id="136" name="文本框 135">
              <a:extLst>
                <a:ext uri="{FF2B5EF4-FFF2-40B4-BE49-F238E27FC236}">
                  <a16:creationId xmlns:a16="http://schemas.microsoft.com/office/drawing/2014/main" id="{3E1A586D-7EE8-80C6-C4DA-583B1E61DA6C}"/>
                </a:ext>
              </a:extLst>
            </p:cNvPr>
            <p:cNvSpPr txBox="1"/>
            <p:nvPr/>
          </p:nvSpPr>
          <p:spPr>
            <a:xfrm>
              <a:off x="3163014" y="4417749"/>
              <a:ext cx="1226247" cy="430887"/>
            </a:xfrm>
            <a:prstGeom prst="rect">
              <a:avLst/>
            </a:prstGeom>
            <a:noFill/>
          </p:spPr>
          <p:txBody>
            <a:bodyPr wrap="square" rtlCol="0">
              <a:spAutoFit/>
            </a:bodyPr>
            <a:lstStyle/>
            <a:p>
              <a:pPr algn="ctr"/>
              <a:r>
                <a:rPr kumimoji="1" lang="en-US" altLang="zh-CN" sz="1100" dirty="0">
                  <a:latin typeface="Times New Roman" panose="02020603050405020304" pitchFamily="18" charset="0"/>
                  <a:cs typeface="Times New Roman" panose="02020603050405020304" pitchFamily="18" charset="0"/>
                </a:rPr>
                <a:t>Patch embeddings</a:t>
              </a:r>
              <a:r>
                <a:rPr kumimoji="1" lang="zh-CN" altLang="en-US" sz="1100" dirty="0">
                  <a:latin typeface="Times New Roman" panose="02020603050405020304" pitchFamily="18" charset="0"/>
                  <a:cs typeface="Times New Roman" panose="02020603050405020304" pitchFamily="18" charset="0"/>
                </a:rPr>
                <a:t> </a:t>
              </a:r>
              <a:r>
                <a:rPr kumimoji="1" lang="en-US" altLang="zh-CN" sz="1100" dirty="0">
                  <a:latin typeface="Times New Roman" panose="02020603050405020304" pitchFamily="18" charset="0"/>
                  <a:cs typeface="Times New Roman" panose="02020603050405020304" pitchFamily="18" charset="0"/>
                </a:rPr>
                <a:t>from teacher</a:t>
              </a:r>
              <a:endParaRPr kumimoji="1" lang="zh-CN" altLang="en-US" sz="1100" dirty="0">
                <a:latin typeface="Times New Roman" panose="02020603050405020304" pitchFamily="18" charset="0"/>
                <a:cs typeface="Times New Roman" panose="02020603050405020304" pitchFamily="18" charset="0"/>
              </a:endParaRPr>
            </a:p>
          </p:txBody>
        </p:sp>
        <p:sp>
          <p:nvSpPr>
            <p:cNvPr id="137" name="矩形 136">
              <a:extLst>
                <a:ext uri="{FF2B5EF4-FFF2-40B4-BE49-F238E27FC236}">
                  <a16:creationId xmlns:a16="http://schemas.microsoft.com/office/drawing/2014/main" id="{5959D7D3-04AD-8B76-AD64-A8DBB0B59232}"/>
                </a:ext>
              </a:extLst>
            </p:cNvPr>
            <p:cNvSpPr/>
            <p:nvPr/>
          </p:nvSpPr>
          <p:spPr>
            <a:xfrm>
              <a:off x="5030674" y="3350827"/>
              <a:ext cx="900725" cy="897969"/>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8" name="矩形 137">
              <a:extLst>
                <a:ext uri="{FF2B5EF4-FFF2-40B4-BE49-F238E27FC236}">
                  <a16:creationId xmlns:a16="http://schemas.microsoft.com/office/drawing/2014/main" id="{EEF67E20-65F1-09A6-8DD7-40B1346B8846}"/>
                </a:ext>
              </a:extLst>
            </p:cNvPr>
            <p:cNvSpPr/>
            <p:nvPr/>
          </p:nvSpPr>
          <p:spPr>
            <a:xfrm>
              <a:off x="5044018" y="3373165"/>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9" name="矩形 138">
              <a:extLst>
                <a:ext uri="{FF2B5EF4-FFF2-40B4-BE49-F238E27FC236}">
                  <a16:creationId xmlns:a16="http://schemas.microsoft.com/office/drawing/2014/main" id="{E45C2FDF-1138-EB52-F239-F885848E55CF}"/>
                </a:ext>
              </a:extLst>
            </p:cNvPr>
            <p:cNvSpPr/>
            <p:nvPr/>
          </p:nvSpPr>
          <p:spPr>
            <a:xfrm>
              <a:off x="5226386" y="3373165"/>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0" name="矩形 139">
              <a:extLst>
                <a:ext uri="{FF2B5EF4-FFF2-40B4-BE49-F238E27FC236}">
                  <a16:creationId xmlns:a16="http://schemas.microsoft.com/office/drawing/2014/main" id="{7B8F07C3-F42E-197F-A7F5-BBFE05710D63}"/>
                </a:ext>
              </a:extLst>
            </p:cNvPr>
            <p:cNvSpPr/>
            <p:nvPr/>
          </p:nvSpPr>
          <p:spPr>
            <a:xfrm>
              <a:off x="5407152" y="3373165"/>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1" name="矩形 140">
              <a:extLst>
                <a:ext uri="{FF2B5EF4-FFF2-40B4-BE49-F238E27FC236}">
                  <a16:creationId xmlns:a16="http://schemas.microsoft.com/office/drawing/2014/main" id="{72A78362-F189-B24D-7D64-BB0C529CC58D}"/>
                </a:ext>
              </a:extLst>
            </p:cNvPr>
            <p:cNvSpPr/>
            <p:nvPr/>
          </p:nvSpPr>
          <p:spPr>
            <a:xfrm>
              <a:off x="5754245" y="3373165"/>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2" name="矩形 141">
              <a:extLst>
                <a:ext uri="{FF2B5EF4-FFF2-40B4-BE49-F238E27FC236}">
                  <a16:creationId xmlns:a16="http://schemas.microsoft.com/office/drawing/2014/main" id="{922C3649-9166-691A-A4EA-8961DB19E099}"/>
                </a:ext>
              </a:extLst>
            </p:cNvPr>
            <p:cNvSpPr/>
            <p:nvPr/>
          </p:nvSpPr>
          <p:spPr>
            <a:xfrm>
              <a:off x="5045543" y="3557831"/>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3" name="矩形 142">
              <a:extLst>
                <a:ext uri="{FF2B5EF4-FFF2-40B4-BE49-F238E27FC236}">
                  <a16:creationId xmlns:a16="http://schemas.microsoft.com/office/drawing/2014/main" id="{09856CB9-93CB-14E4-6BB0-25A5013EF1C7}"/>
                </a:ext>
              </a:extLst>
            </p:cNvPr>
            <p:cNvSpPr/>
            <p:nvPr/>
          </p:nvSpPr>
          <p:spPr>
            <a:xfrm>
              <a:off x="5227911" y="3557831"/>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4" name="矩形 143">
              <a:extLst>
                <a:ext uri="{FF2B5EF4-FFF2-40B4-BE49-F238E27FC236}">
                  <a16:creationId xmlns:a16="http://schemas.microsoft.com/office/drawing/2014/main" id="{BFE2492D-2602-FAF6-5D66-CEB845538ADE}"/>
                </a:ext>
              </a:extLst>
            </p:cNvPr>
            <p:cNvSpPr/>
            <p:nvPr/>
          </p:nvSpPr>
          <p:spPr>
            <a:xfrm>
              <a:off x="5408677" y="3557831"/>
              <a:ext cx="156521" cy="15713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5" name="矩形 144">
              <a:extLst>
                <a:ext uri="{FF2B5EF4-FFF2-40B4-BE49-F238E27FC236}">
                  <a16:creationId xmlns:a16="http://schemas.microsoft.com/office/drawing/2014/main" id="{186F6EC3-275E-6BC5-A17B-71C3C42B8CB7}"/>
                </a:ext>
              </a:extLst>
            </p:cNvPr>
            <p:cNvSpPr/>
            <p:nvPr/>
          </p:nvSpPr>
          <p:spPr>
            <a:xfrm>
              <a:off x="5755770" y="3557831"/>
              <a:ext cx="156521" cy="15713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6" name="文本框 145">
              <a:extLst>
                <a:ext uri="{FF2B5EF4-FFF2-40B4-BE49-F238E27FC236}">
                  <a16:creationId xmlns:a16="http://schemas.microsoft.com/office/drawing/2014/main" id="{34918584-7F98-47B7-A5B8-AD6AEFFD62CF}"/>
                </a:ext>
              </a:extLst>
            </p:cNvPr>
            <p:cNvSpPr txBox="1"/>
            <p:nvPr/>
          </p:nvSpPr>
          <p:spPr>
            <a:xfrm>
              <a:off x="5489403" y="3451731"/>
              <a:ext cx="329949" cy="369332"/>
            </a:xfrm>
            <a:prstGeom prst="rect">
              <a:avLst/>
            </a:prstGeom>
            <a:noFill/>
          </p:spPr>
          <p:txBody>
            <a:bodyPr wrap="square" rtlCol="0">
              <a:spAutoFit/>
            </a:bodyPr>
            <a:lstStyle/>
            <a:p>
              <a:r>
                <a:rPr lang="en-US" altLang="zh-CN" dirty="0"/>
                <a:t>…</a:t>
              </a:r>
              <a:endParaRPr lang="zh-CN" altLang="en-US" dirty="0"/>
            </a:p>
          </p:txBody>
        </p:sp>
        <p:sp>
          <p:nvSpPr>
            <p:cNvPr id="147" name="矩形 146">
              <a:extLst>
                <a:ext uri="{FF2B5EF4-FFF2-40B4-BE49-F238E27FC236}">
                  <a16:creationId xmlns:a16="http://schemas.microsoft.com/office/drawing/2014/main" id="{836683CE-2AFA-8455-D46A-496AA9200839}"/>
                </a:ext>
              </a:extLst>
            </p:cNvPr>
            <p:cNvSpPr/>
            <p:nvPr/>
          </p:nvSpPr>
          <p:spPr>
            <a:xfrm>
              <a:off x="5046390" y="3743149"/>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8" name="矩形 147">
              <a:extLst>
                <a:ext uri="{FF2B5EF4-FFF2-40B4-BE49-F238E27FC236}">
                  <a16:creationId xmlns:a16="http://schemas.microsoft.com/office/drawing/2014/main" id="{18DE297A-6CB7-35E2-419C-38D334AAB385}"/>
                </a:ext>
              </a:extLst>
            </p:cNvPr>
            <p:cNvSpPr/>
            <p:nvPr/>
          </p:nvSpPr>
          <p:spPr>
            <a:xfrm>
              <a:off x="5228758" y="3743149"/>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9" name="矩形 148">
              <a:extLst>
                <a:ext uri="{FF2B5EF4-FFF2-40B4-BE49-F238E27FC236}">
                  <a16:creationId xmlns:a16="http://schemas.microsoft.com/office/drawing/2014/main" id="{808248E5-8E60-2541-EFFE-8CB3785E8C60}"/>
                </a:ext>
              </a:extLst>
            </p:cNvPr>
            <p:cNvSpPr/>
            <p:nvPr/>
          </p:nvSpPr>
          <p:spPr>
            <a:xfrm>
              <a:off x="5409524" y="3743149"/>
              <a:ext cx="156521" cy="15713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0" name="矩形 149">
              <a:extLst>
                <a:ext uri="{FF2B5EF4-FFF2-40B4-BE49-F238E27FC236}">
                  <a16:creationId xmlns:a16="http://schemas.microsoft.com/office/drawing/2014/main" id="{2DC85A6B-4402-580F-89E4-24AAF08F2517}"/>
                </a:ext>
              </a:extLst>
            </p:cNvPr>
            <p:cNvSpPr/>
            <p:nvPr/>
          </p:nvSpPr>
          <p:spPr>
            <a:xfrm>
              <a:off x="5756617" y="3743149"/>
              <a:ext cx="156521" cy="15713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1" name="矩形 150">
              <a:extLst>
                <a:ext uri="{FF2B5EF4-FFF2-40B4-BE49-F238E27FC236}">
                  <a16:creationId xmlns:a16="http://schemas.microsoft.com/office/drawing/2014/main" id="{F7C4B8FF-1F1B-2F1E-748A-434DDF2B5507}"/>
                </a:ext>
              </a:extLst>
            </p:cNvPr>
            <p:cNvSpPr/>
            <p:nvPr/>
          </p:nvSpPr>
          <p:spPr>
            <a:xfrm>
              <a:off x="5050859" y="4076034"/>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2" name="矩形 151">
              <a:extLst>
                <a:ext uri="{FF2B5EF4-FFF2-40B4-BE49-F238E27FC236}">
                  <a16:creationId xmlns:a16="http://schemas.microsoft.com/office/drawing/2014/main" id="{1A0AE987-33BE-3FEA-12A9-AC186ACD2433}"/>
                </a:ext>
              </a:extLst>
            </p:cNvPr>
            <p:cNvSpPr/>
            <p:nvPr/>
          </p:nvSpPr>
          <p:spPr>
            <a:xfrm>
              <a:off x="5233227" y="4076034"/>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3" name="矩形 152">
              <a:extLst>
                <a:ext uri="{FF2B5EF4-FFF2-40B4-BE49-F238E27FC236}">
                  <a16:creationId xmlns:a16="http://schemas.microsoft.com/office/drawing/2014/main" id="{A4E640ED-743D-E836-6FCD-D7ACC5C76EA4}"/>
                </a:ext>
              </a:extLst>
            </p:cNvPr>
            <p:cNvSpPr/>
            <p:nvPr/>
          </p:nvSpPr>
          <p:spPr>
            <a:xfrm>
              <a:off x="5413993" y="4076034"/>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4" name="矩形 153">
              <a:extLst>
                <a:ext uri="{FF2B5EF4-FFF2-40B4-BE49-F238E27FC236}">
                  <a16:creationId xmlns:a16="http://schemas.microsoft.com/office/drawing/2014/main" id="{9830D91A-B72F-105C-E788-ED8225F3AFD8}"/>
                </a:ext>
              </a:extLst>
            </p:cNvPr>
            <p:cNvSpPr/>
            <p:nvPr/>
          </p:nvSpPr>
          <p:spPr>
            <a:xfrm>
              <a:off x="5761086" y="4076034"/>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5" name="文本框 154">
              <a:extLst>
                <a:ext uri="{FF2B5EF4-FFF2-40B4-BE49-F238E27FC236}">
                  <a16:creationId xmlns:a16="http://schemas.microsoft.com/office/drawing/2014/main" id="{C2E87843-045F-8C4C-94B8-51CC177F9288}"/>
                </a:ext>
              </a:extLst>
            </p:cNvPr>
            <p:cNvSpPr txBox="1"/>
            <p:nvPr/>
          </p:nvSpPr>
          <p:spPr>
            <a:xfrm>
              <a:off x="5494719" y="3969934"/>
              <a:ext cx="329949" cy="369332"/>
            </a:xfrm>
            <a:prstGeom prst="rect">
              <a:avLst/>
            </a:prstGeom>
            <a:noFill/>
          </p:spPr>
          <p:txBody>
            <a:bodyPr wrap="square" rtlCol="0">
              <a:spAutoFit/>
            </a:bodyPr>
            <a:lstStyle/>
            <a:p>
              <a:r>
                <a:rPr lang="en-US" altLang="zh-CN" dirty="0"/>
                <a:t>…</a:t>
              </a:r>
              <a:endParaRPr lang="zh-CN" altLang="en-US" dirty="0"/>
            </a:p>
          </p:txBody>
        </p:sp>
        <p:sp>
          <p:nvSpPr>
            <p:cNvPr id="156" name="文本框 155">
              <a:extLst>
                <a:ext uri="{FF2B5EF4-FFF2-40B4-BE49-F238E27FC236}">
                  <a16:creationId xmlns:a16="http://schemas.microsoft.com/office/drawing/2014/main" id="{810762AD-066E-FC87-419C-9588135A93C1}"/>
                </a:ext>
              </a:extLst>
            </p:cNvPr>
            <p:cNvSpPr txBox="1"/>
            <p:nvPr/>
          </p:nvSpPr>
          <p:spPr>
            <a:xfrm rot="5400000">
              <a:off x="5151952" y="3806174"/>
              <a:ext cx="329949" cy="369332"/>
            </a:xfrm>
            <a:prstGeom prst="rect">
              <a:avLst/>
            </a:prstGeom>
            <a:noFill/>
          </p:spPr>
          <p:txBody>
            <a:bodyPr wrap="square" rtlCol="0">
              <a:spAutoFit/>
            </a:bodyPr>
            <a:lstStyle/>
            <a:p>
              <a:r>
                <a:rPr lang="en-US" altLang="zh-CN" dirty="0"/>
                <a:t>…</a:t>
              </a:r>
              <a:endParaRPr lang="zh-CN" altLang="en-US" dirty="0"/>
            </a:p>
          </p:txBody>
        </p:sp>
        <p:sp>
          <p:nvSpPr>
            <p:cNvPr id="157" name="文本框 156">
              <a:extLst>
                <a:ext uri="{FF2B5EF4-FFF2-40B4-BE49-F238E27FC236}">
                  <a16:creationId xmlns:a16="http://schemas.microsoft.com/office/drawing/2014/main" id="{555AE6E7-C806-5D7A-0802-31C285284529}"/>
                </a:ext>
              </a:extLst>
            </p:cNvPr>
            <p:cNvSpPr txBox="1"/>
            <p:nvPr/>
          </p:nvSpPr>
          <p:spPr>
            <a:xfrm rot="2551326">
              <a:off x="5481843" y="3807564"/>
              <a:ext cx="329949" cy="369332"/>
            </a:xfrm>
            <a:prstGeom prst="rect">
              <a:avLst/>
            </a:prstGeom>
            <a:noFill/>
          </p:spPr>
          <p:txBody>
            <a:bodyPr wrap="square" rtlCol="0">
              <a:spAutoFit/>
            </a:bodyPr>
            <a:lstStyle/>
            <a:p>
              <a:r>
                <a:rPr lang="en-US" altLang="zh-CN" dirty="0"/>
                <a:t>…</a:t>
              </a:r>
              <a:endParaRPr lang="zh-CN" altLang="en-US" dirty="0"/>
            </a:p>
          </p:txBody>
        </p:sp>
        <p:sp>
          <p:nvSpPr>
            <p:cNvPr id="158" name="文本框 157">
              <a:extLst>
                <a:ext uri="{FF2B5EF4-FFF2-40B4-BE49-F238E27FC236}">
                  <a16:creationId xmlns:a16="http://schemas.microsoft.com/office/drawing/2014/main" id="{4B864010-6814-017C-065F-532206DBAD4D}"/>
                </a:ext>
              </a:extLst>
            </p:cNvPr>
            <p:cNvSpPr txBox="1"/>
            <p:nvPr/>
          </p:nvSpPr>
          <p:spPr>
            <a:xfrm>
              <a:off x="4905878" y="2935610"/>
              <a:ext cx="1226247" cy="430887"/>
            </a:xfrm>
            <a:prstGeom prst="rect">
              <a:avLst/>
            </a:prstGeom>
            <a:noFill/>
          </p:spPr>
          <p:txBody>
            <a:bodyPr wrap="square" rtlCol="0">
              <a:spAutoFit/>
            </a:bodyPr>
            <a:lstStyle/>
            <a:p>
              <a:pPr algn="ctr"/>
              <a:r>
                <a:rPr kumimoji="1" lang="en-US" altLang="zh-CN" sz="1100" dirty="0">
                  <a:latin typeface="Times New Roman" panose="02020603050405020304" pitchFamily="18" charset="0"/>
                  <a:cs typeface="Times New Roman" panose="02020603050405020304" pitchFamily="18" charset="0"/>
                </a:rPr>
                <a:t>Predicted embeddings</a:t>
              </a:r>
              <a:endParaRPr kumimoji="1" lang="zh-CN" altLang="en-US" sz="1100" dirty="0">
                <a:latin typeface="Times New Roman" panose="02020603050405020304" pitchFamily="18" charset="0"/>
                <a:cs typeface="Times New Roman" panose="02020603050405020304" pitchFamily="18" charset="0"/>
              </a:endParaRPr>
            </a:p>
          </p:txBody>
        </p:sp>
        <p:sp>
          <p:nvSpPr>
            <p:cNvPr id="159" name="矩形 158">
              <a:extLst>
                <a:ext uri="{FF2B5EF4-FFF2-40B4-BE49-F238E27FC236}">
                  <a16:creationId xmlns:a16="http://schemas.microsoft.com/office/drawing/2014/main" id="{49F8A100-1B71-10CF-82BE-9C74E17A8BAC}"/>
                </a:ext>
              </a:extLst>
            </p:cNvPr>
            <p:cNvSpPr/>
            <p:nvPr/>
          </p:nvSpPr>
          <p:spPr>
            <a:xfrm>
              <a:off x="4991752" y="4875850"/>
              <a:ext cx="953565" cy="3607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latin typeface="Times New Roman" panose="02020603050405020304" pitchFamily="18" charset="0"/>
                <a:cs typeface="Times New Roman" panose="02020603050405020304" pitchFamily="18" charset="0"/>
              </a:endParaRPr>
            </a:p>
          </p:txBody>
        </p:sp>
        <p:cxnSp>
          <p:nvCxnSpPr>
            <p:cNvPr id="160" name="直线箭头连接符 159">
              <a:extLst>
                <a:ext uri="{FF2B5EF4-FFF2-40B4-BE49-F238E27FC236}">
                  <a16:creationId xmlns:a16="http://schemas.microsoft.com/office/drawing/2014/main" id="{F529F2B1-A007-8F5A-68CA-19B26BF71860}"/>
                </a:ext>
              </a:extLst>
            </p:cNvPr>
            <p:cNvCxnSpPr>
              <a:cxnSpLocks/>
              <a:endCxn id="137" idx="1"/>
            </p:cNvCxnSpPr>
            <p:nvPr/>
          </p:nvCxnSpPr>
          <p:spPr>
            <a:xfrm>
              <a:off x="4572159" y="3789324"/>
              <a:ext cx="458515" cy="104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线箭头连接符 160">
              <a:extLst>
                <a:ext uri="{FF2B5EF4-FFF2-40B4-BE49-F238E27FC236}">
                  <a16:creationId xmlns:a16="http://schemas.microsoft.com/office/drawing/2014/main" id="{439BBE99-1D22-72EC-1A8C-158EC114002D}"/>
                </a:ext>
              </a:extLst>
            </p:cNvPr>
            <p:cNvCxnSpPr>
              <a:cxnSpLocks/>
              <a:endCxn id="159" idx="1"/>
            </p:cNvCxnSpPr>
            <p:nvPr/>
          </p:nvCxnSpPr>
          <p:spPr>
            <a:xfrm>
              <a:off x="4167827" y="5051128"/>
              <a:ext cx="823925" cy="5078"/>
            </a:xfrm>
            <a:prstGeom prst="straightConnector1">
              <a:avLst/>
            </a:prstGeom>
            <a:ln w="12700">
              <a:solidFill>
                <a:schemeClr val="bg2">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2" name="直线箭头连接符 161">
              <a:extLst>
                <a:ext uri="{FF2B5EF4-FFF2-40B4-BE49-F238E27FC236}">
                  <a16:creationId xmlns:a16="http://schemas.microsoft.com/office/drawing/2014/main" id="{BF2A1DC5-6AEA-8E3E-319F-AE1DE700AF4D}"/>
                </a:ext>
              </a:extLst>
            </p:cNvPr>
            <p:cNvCxnSpPr/>
            <p:nvPr/>
          </p:nvCxnSpPr>
          <p:spPr>
            <a:xfrm>
              <a:off x="5162442" y="4140234"/>
              <a:ext cx="0" cy="746392"/>
            </a:xfrm>
            <a:prstGeom prst="straightConnector1">
              <a:avLst/>
            </a:prstGeom>
            <a:ln w="12700">
              <a:solidFill>
                <a:schemeClr val="bg2">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63" name="组合 162">
              <a:extLst>
                <a:ext uri="{FF2B5EF4-FFF2-40B4-BE49-F238E27FC236}">
                  <a16:creationId xmlns:a16="http://schemas.microsoft.com/office/drawing/2014/main" id="{D4596931-2EEA-80EF-FC00-0E6544DBB0FE}"/>
                </a:ext>
              </a:extLst>
            </p:cNvPr>
            <p:cNvGrpSpPr/>
            <p:nvPr/>
          </p:nvGrpSpPr>
          <p:grpSpPr>
            <a:xfrm>
              <a:off x="1512991" y="3761574"/>
              <a:ext cx="1400824" cy="1402593"/>
              <a:chOff x="6390627" y="1761927"/>
              <a:chExt cx="1400824" cy="1402593"/>
            </a:xfrm>
          </p:grpSpPr>
          <p:pic>
            <p:nvPicPr>
              <p:cNvPr id="164" name="图片 163">
                <a:extLst>
                  <a:ext uri="{FF2B5EF4-FFF2-40B4-BE49-F238E27FC236}">
                    <a16:creationId xmlns:a16="http://schemas.microsoft.com/office/drawing/2014/main" id="{12A7D392-B2E4-1F23-899A-6EB87484B4FB}"/>
                  </a:ext>
                </a:extLst>
              </p:cNvPr>
              <p:cNvPicPr>
                <a:picLocks noChangeAspect="1"/>
              </p:cNvPicPr>
              <p:nvPr/>
            </p:nvPicPr>
            <p:blipFill rotWithShape="1">
              <a:blip r:embed="rId7"/>
              <a:srcRect t="1" r="5226" b="5287"/>
              <a:stretch/>
            </p:blipFill>
            <p:spPr>
              <a:xfrm>
                <a:off x="6390627" y="1762031"/>
                <a:ext cx="1400824" cy="1402489"/>
              </a:xfrm>
              <a:prstGeom prst="rect">
                <a:avLst/>
              </a:prstGeom>
            </p:spPr>
          </p:pic>
          <p:sp>
            <p:nvSpPr>
              <p:cNvPr id="165" name="矩形 164">
                <a:extLst>
                  <a:ext uri="{FF2B5EF4-FFF2-40B4-BE49-F238E27FC236}">
                    <a16:creationId xmlns:a16="http://schemas.microsoft.com/office/drawing/2014/main" id="{34EA24AA-38EF-8E11-5E9D-098AF115771D}"/>
                  </a:ext>
                </a:extLst>
              </p:cNvPr>
              <p:cNvSpPr/>
              <p:nvPr/>
            </p:nvSpPr>
            <p:spPr>
              <a:xfrm>
                <a:off x="6484192" y="1838320"/>
                <a:ext cx="1069133" cy="1095532"/>
              </a:xfrm>
              <a:prstGeom prst="rect">
                <a:avLst/>
              </a:prstGeom>
              <a:noFill/>
              <a:ln w="1905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6" name="矩形 165">
                <a:extLst>
                  <a:ext uri="{FF2B5EF4-FFF2-40B4-BE49-F238E27FC236}">
                    <a16:creationId xmlns:a16="http://schemas.microsoft.com/office/drawing/2014/main" id="{7EF9F47A-3851-0694-4EAB-4620B955C481}"/>
                  </a:ext>
                </a:extLst>
              </p:cNvPr>
              <p:cNvSpPr/>
              <p:nvPr/>
            </p:nvSpPr>
            <p:spPr>
              <a:xfrm>
                <a:off x="6628593" y="2012009"/>
                <a:ext cx="863578" cy="843780"/>
              </a:xfrm>
              <a:prstGeom prst="rect">
                <a:avLst/>
              </a:prstGeom>
              <a:no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mc:AlternateContent xmlns:mc="http://schemas.openxmlformats.org/markup-compatibility/2006" xmlns:a14="http://schemas.microsoft.com/office/drawing/2010/main">
            <mc:Choice Requires="a14">
              <p:sp>
                <p:nvSpPr>
                  <p:cNvPr id="167" name="文本框 57">
                    <a:extLst>
                      <a:ext uri="{FF2B5EF4-FFF2-40B4-BE49-F238E27FC236}">
                        <a16:creationId xmlns:a16="http://schemas.microsoft.com/office/drawing/2014/main" id="{69490685-95A1-6BB6-358F-A2F0D879252B}"/>
                      </a:ext>
                    </a:extLst>
                  </p:cNvPr>
                  <p:cNvSpPr txBox="1"/>
                  <p:nvPr/>
                </p:nvSpPr>
                <p:spPr>
                  <a:xfrm>
                    <a:off x="6397228" y="1761927"/>
                    <a:ext cx="290628"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CN" sz="1400" b="1" i="1" smtClean="0">
                                  <a:solidFill>
                                    <a:schemeClr val="accent4">
                                      <a:lumMod val="40000"/>
                                      <a:lumOff val="60000"/>
                                    </a:schemeClr>
                                  </a:solidFill>
                                  <a:latin typeface="Cambria Math" panose="02040503050406030204" pitchFamily="18" charset="0"/>
                                  <a:cs typeface="Times New Roman" panose="02020603050405020304" pitchFamily="18" charset="0"/>
                                </a:rPr>
                              </m:ctrlPr>
                            </m:sSubPr>
                            <m:e>
                              <m:r>
                                <a:rPr lang="en-US" altLang="zh-CN" sz="1400" b="1" i="1" smtClean="0">
                                  <a:solidFill>
                                    <a:schemeClr val="accent4">
                                      <a:lumMod val="40000"/>
                                      <a:lumOff val="60000"/>
                                    </a:schemeClr>
                                  </a:solidFill>
                                  <a:latin typeface="Cambria Math" panose="02040503050406030204" pitchFamily="18" charset="0"/>
                                  <a:cs typeface="Times New Roman" panose="02020603050405020304" pitchFamily="18" charset="0"/>
                                </a:rPr>
                                <m:t>𝑪</m:t>
                              </m:r>
                            </m:e>
                            <m:sub>
                              <m:r>
                                <a:rPr lang="en-US" altLang="zh-CN" sz="1400" b="1" i="1" smtClean="0">
                                  <a:solidFill>
                                    <a:schemeClr val="accent4">
                                      <a:lumMod val="40000"/>
                                      <a:lumOff val="60000"/>
                                    </a:schemeClr>
                                  </a:solidFill>
                                  <a:latin typeface="Cambria Math" panose="02040503050406030204" pitchFamily="18" charset="0"/>
                                  <a:cs typeface="Times New Roman" panose="02020603050405020304" pitchFamily="18" charset="0"/>
                                </a:rPr>
                                <m:t>𝟏</m:t>
                              </m:r>
                            </m:sub>
                          </m:sSub>
                        </m:oMath>
                      </m:oMathPara>
                    </a14:m>
                    <a:endParaRPr lang="zh-CN" altLang="en-US" sz="1400" b="1" dirty="0">
                      <a:solidFill>
                        <a:schemeClr val="accent4">
                          <a:lumMod val="40000"/>
                          <a:lumOff val="60000"/>
                        </a:schemeClr>
                      </a:solidFill>
                      <a:latin typeface="Times New Roman" panose="02020603050405020304" pitchFamily="18" charset="0"/>
                      <a:cs typeface="Times New Roman" panose="02020603050405020304" pitchFamily="18" charset="0"/>
                    </a:endParaRPr>
                  </a:p>
                </p:txBody>
              </p:sp>
            </mc:Choice>
            <mc:Fallback xmlns="">
              <p:sp>
                <p:nvSpPr>
                  <p:cNvPr id="72" name="文本框 57">
                    <a:extLst>
                      <a:ext uri="{FF2B5EF4-FFF2-40B4-BE49-F238E27FC236}">
                        <a16:creationId xmlns:a16="http://schemas.microsoft.com/office/drawing/2014/main" id="{3878FEEB-1A7E-75F5-B787-926B4C965B67}"/>
                      </a:ext>
                    </a:extLst>
                  </p:cNvPr>
                  <p:cNvSpPr txBox="1">
                    <a:spLocks noRot="1" noChangeAspect="1" noMove="1" noResize="1" noEditPoints="1" noAdjustHandles="1" noChangeArrowheads="1" noChangeShapeType="1" noTextEdit="1"/>
                  </p:cNvSpPr>
                  <p:nvPr/>
                </p:nvSpPr>
                <p:spPr>
                  <a:xfrm>
                    <a:off x="6397228" y="1761927"/>
                    <a:ext cx="290628" cy="307777"/>
                  </a:xfrm>
                  <a:prstGeom prst="rect">
                    <a:avLst/>
                  </a:prstGeom>
                  <a:blipFill>
                    <a:blip r:embed="rId8"/>
                    <a:stretch>
                      <a:fillRect r="-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8" name="文本框 58">
                    <a:extLst>
                      <a:ext uri="{FF2B5EF4-FFF2-40B4-BE49-F238E27FC236}">
                        <a16:creationId xmlns:a16="http://schemas.microsoft.com/office/drawing/2014/main" id="{0B3DABF4-896A-CDEF-DEA2-EEAC28A20CCC}"/>
                      </a:ext>
                    </a:extLst>
                  </p:cNvPr>
                  <p:cNvSpPr txBox="1"/>
                  <p:nvPr/>
                </p:nvSpPr>
                <p:spPr>
                  <a:xfrm>
                    <a:off x="6603671" y="1944229"/>
                    <a:ext cx="277483"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CN" sz="1400" b="1" i="1" smtClean="0">
                                  <a:solidFill>
                                    <a:srgbClr val="A9D28E"/>
                                  </a:solidFill>
                                  <a:latin typeface="Cambria Math" panose="02040503050406030204" pitchFamily="18" charset="0"/>
                                  <a:cs typeface="Times New Roman" panose="02020603050405020304" pitchFamily="18" charset="0"/>
                                </a:rPr>
                              </m:ctrlPr>
                            </m:sSubPr>
                            <m:e>
                              <m:r>
                                <a:rPr lang="en-US" altLang="zh-CN" sz="1400" b="1" i="1" smtClean="0">
                                  <a:solidFill>
                                    <a:srgbClr val="A9D28E"/>
                                  </a:solidFill>
                                  <a:latin typeface="Cambria Math" panose="02040503050406030204" pitchFamily="18" charset="0"/>
                                  <a:cs typeface="Times New Roman" panose="02020603050405020304" pitchFamily="18" charset="0"/>
                                </a:rPr>
                                <m:t>𝑪</m:t>
                              </m:r>
                            </m:e>
                            <m:sub>
                              <m:r>
                                <a:rPr lang="en-US" altLang="zh-CN" sz="1400" b="1" i="1" smtClean="0">
                                  <a:solidFill>
                                    <a:srgbClr val="A9D28E"/>
                                  </a:solidFill>
                                  <a:latin typeface="Cambria Math" panose="02040503050406030204" pitchFamily="18" charset="0"/>
                                  <a:cs typeface="Times New Roman" panose="02020603050405020304" pitchFamily="18" charset="0"/>
                                </a:rPr>
                                <m:t>𝟐</m:t>
                              </m:r>
                            </m:sub>
                          </m:sSub>
                        </m:oMath>
                      </m:oMathPara>
                    </a14:m>
                    <a:endParaRPr lang="zh-CN" altLang="en-US" sz="1400" b="1" dirty="0">
                      <a:solidFill>
                        <a:srgbClr val="A9D28E"/>
                      </a:solidFill>
                      <a:latin typeface="Times New Roman" panose="02020603050405020304" pitchFamily="18" charset="0"/>
                      <a:cs typeface="Times New Roman" panose="02020603050405020304" pitchFamily="18" charset="0"/>
                    </a:endParaRPr>
                  </a:p>
                </p:txBody>
              </p:sp>
            </mc:Choice>
            <mc:Fallback xmlns="">
              <p:sp>
                <p:nvSpPr>
                  <p:cNvPr id="73" name="文本框 58">
                    <a:extLst>
                      <a:ext uri="{FF2B5EF4-FFF2-40B4-BE49-F238E27FC236}">
                        <a16:creationId xmlns:a16="http://schemas.microsoft.com/office/drawing/2014/main" id="{705A0A1D-9A18-BF0B-A645-A6DB6CF22FAD}"/>
                      </a:ext>
                    </a:extLst>
                  </p:cNvPr>
                  <p:cNvSpPr txBox="1">
                    <a:spLocks noRot="1" noChangeAspect="1" noMove="1" noResize="1" noEditPoints="1" noAdjustHandles="1" noChangeArrowheads="1" noChangeShapeType="1" noTextEdit="1"/>
                  </p:cNvSpPr>
                  <p:nvPr/>
                </p:nvSpPr>
                <p:spPr>
                  <a:xfrm>
                    <a:off x="6603671" y="1944229"/>
                    <a:ext cx="277483" cy="307777"/>
                  </a:xfrm>
                  <a:prstGeom prst="rect">
                    <a:avLst/>
                  </a:prstGeom>
                  <a:blipFill>
                    <a:blip r:embed="rId9"/>
                    <a:stretch>
                      <a:fillRect r="-17391"/>
                    </a:stretch>
                  </a:blipFill>
                </p:spPr>
                <p:txBody>
                  <a:bodyPr/>
                  <a:lstStyle/>
                  <a:p>
                    <a:r>
                      <a:rPr lang="zh-CN" altLang="en-US">
                        <a:noFill/>
                      </a:rPr>
                      <a:t> </a:t>
                    </a:r>
                  </a:p>
                </p:txBody>
              </p:sp>
            </mc:Fallback>
          </mc:AlternateContent>
        </p:grpSp>
        <p:cxnSp>
          <p:nvCxnSpPr>
            <p:cNvPr id="169" name="肘形连接符 168">
              <a:extLst>
                <a:ext uri="{FF2B5EF4-FFF2-40B4-BE49-F238E27FC236}">
                  <a16:creationId xmlns:a16="http://schemas.microsoft.com/office/drawing/2014/main" id="{8855628F-71B4-7FC1-5527-E7EB4BC3697D}"/>
                </a:ext>
              </a:extLst>
            </p:cNvPr>
            <p:cNvCxnSpPr>
              <a:cxnSpLocks/>
              <a:stCxn id="164" idx="3"/>
              <a:endCxn id="5" idx="1"/>
            </p:cNvCxnSpPr>
            <p:nvPr/>
          </p:nvCxnSpPr>
          <p:spPr>
            <a:xfrm flipV="1">
              <a:off x="2913815" y="3741016"/>
              <a:ext cx="516518" cy="721907"/>
            </a:xfrm>
            <a:prstGeom prst="bentConnector3">
              <a:avLst>
                <a:gd name="adj1" fmla="val 36689"/>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肘形连接符 169">
              <a:extLst>
                <a:ext uri="{FF2B5EF4-FFF2-40B4-BE49-F238E27FC236}">
                  <a16:creationId xmlns:a16="http://schemas.microsoft.com/office/drawing/2014/main" id="{C1D03197-8E4C-9991-0C9E-9627BFE32841}"/>
                </a:ext>
              </a:extLst>
            </p:cNvPr>
            <p:cNvCxnSpPr>
              <a:cxnSpLocks/>
              <a:stCxn id="164" idx="3"/>
              <a:endCxn id="114" idx="1"/>
            </p:cNvCxnSpPr>
            <p:nvPr/>
          </p:nvCxnSpPr>
          <p:spPr>
            <a:xfrm>
              <a:off x="2913815" y="4462923"/>
              <a:ext cx="351862" cy="771784"/>
            </a:xfrm>
            <a:prstGeom prst="bentConnector3">
              <a:avLst>
                <a:gd name="adj1" fmla="val 53908"/>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1" name="矩形 170">
              <a:extLst>
                <a:ext uri="{FF2B5EF4-FFF2-40B4-BE49-F238E27FC236}">
                  <a16:creationId xmlns:a16="http://schemas.microsoft.com/office/drawing/2014/main" id="{09DCE87F-AC36-AAEA-98BE-055F850C46E0}"/>
                </a:ext>
              </a:extLst>
            </p:cNvPr>
            <p:cNvSpPr/>
            <p:nvPr/>
          </p:nvSpPr>
          <p:spPr>
            <a:xfrm>
              <a:off x="4176171" y="3631968"/>
              <a:ext cx="642985" cy="264202"/>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2" name="文本框 171">
              <a:extLst>
                <a:ext uri="{FF2B5EF4-FFF2-40B4-BE49-F238E27FC236}">
                  <a16:creationId xmlns:a16="http://schemas.microsoft.com/office/drawing/2014/main" id="{C8346AAA-8187-38F3-74DC-0A30FF13B353}"/>
                </a:ext>
              </a:extLst>
            </p:cNvPr>
            <p:cNvSpPr txBox="1"/>
            <p:nvPr/>
          </p:nvSpPr>
          <p:spPr>
            <a:xfrm>
              <a:off x="4181031" y="3620477"/>
              <a:ext cx="851218"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Head #1</a:t>
              </a:r>
              <a:endParaRPr kumimoji="1" lang="zh-CN" altLang="en-US" sz="1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73" name="文本框 172">
                  <a:extLst>
                    <a:ext uri="{FF2B5EF4-FFF2-40B4-BE49-F238E27FC236}">
                      <a16:creationId xmlns:a16="http://schemas.microsoft.com/office/drawing/2014/main" id="{96BD7962-A9D1-AB9E-0643-01CD228DE0ED}"/>
                    </a:ext>
                  </a:extLst>
                </p:cNvPr>
                <p:cNvSpPr txBox="1"/>
                <p:nvPr/>
              </p:nvSpPr>
              <p:spPr>
                <a:xfrm>
                  <a:off x="3538976" y="5621582"/>
                  <a:ext cx="3750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1" i="1" smtClean="0">
                                <a:solidFill>
                                  <a:schemeClr val="tx1"/>
                                </a:solidFill>
                                <a:latin typeface="Cambria Math" panose="02040503050406030204" pitchFamily="18" charset="0"/>
                                <a:cs typeface="Times New Roman" panose="02020603050405020304" pitchFamily="18" charset="0"/>
                              </a:rPr>
                            </m:ctrlPr>
                          </m:sSubPr>
                          <m:e>
                            <m:r>
                              <a:rPr lang="en-US" altLang="zh-CN" sz="1400" b="1" i="1" smtClean="0">
                                <a:solidFill>
                                  <a:schemeClr val="tx1"/>
                                </a:solidFill>
                                <a:latin typeface="Cambria Math" panose="02040503050406030204" pitchFamily="18" charset="0"/>
                                <a:cs typeface="Times New Roman" panose="02020603050405020304" pitchFamily="18" charset="0"/>
                              </a:rPr>
                              <m:t>𝑪</m:t>
                            </m:r>
                          </m:e>
                          <m:sub>
                            <m:r>
                              <a:rPr lang="en-US" altLang="zh-CN" sz="1400" b="1" i="1" smtClean="0">
                                <a:solidFill>
                                  <a:schemeClr val="tx1"/>
                                </a:solidFill>
                                <a:latin typeface="Cambria Math" panose="02040503050406030204" pitchFamily="18" charset="0"/>
                                <a:cs typeface="Times New Roman" panose="02020603050405020304" pitchFamily="18" charset="0"/>
                              </a:rPr>
                              <m:t>𝟏</m:t>
                            </m:r>
                          </m:sub>
                        </m:sSub>
                      </m:oMath>
                    </m:oMathPara>
                  </a14:m>
                  <a:endParaRPr lang="zh-CN" altLang="en-US" sz="1400" b="1" dirty="0">
                    <a:solidFill>
                      <a:schemeClr val="tx1"/>
                    </a:solidFill>
                    <a:latin typeface="Times New Roman" panose="02020603050405020304" pitchFamily="18" charset="0"/>
                    <a:cs typeface="Times New Roman" panose="02020603050405020304" pitchFamily="18" charset="0"/>
                  </a:endParaRPr>
                </a:p>
              </p:txBody>
            </p:sp>
          </mc:Choice>
          <mc:Fallback>
            <p:sp>
              <p:nvSpPr>
                <p:cNvPr id="173" name="文本框 172">
                  <a:extLst>
                    <a:ext uri="{FF2B5EF4-FFF2-40B4-BE49-F238E27FC236}">
                      <a16:creationId xmlns:a16="http://schemas.microsoft.com/office/drawing/2014/main" id="{96BD7962-A9D1-AB9E-0643-01CD228DE0ED}"/>
                    </a:ext>
                  </a:extLst>
                </p:cNvPr>
                <p:cNvSpPr txBox="1">
                  <a:spLocks noRot="1" noChangeAspect="1" noMove="1" noResize="1" noEditPoints="1" noAdjustHandles="1" noChangeArrowheads="1" noChangeShapeType="1" noTextEdit="1"/>
                </p:cNvSpPr>
                <p:nvPr/>
              </p:nvSpPr>
              <p:spPr>
                <a:xfrm>
                  <a:off x="3538976" y="5621582"/>
                  <a:ext cx="375069" cy="30777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4" name="文本框 173">
                  <a:extLst>
                    <a:ext uri="{FF2B5EF4-FFF2-40B4-BE49-F238E27FC236}">
                      <a16:creationId xmlns:a16="http://schemas.microsoft.com/office/drawing/2014/main" id="{97A76870-6DB3-EA65-9B61-759357B8CA99}"/>
                    </a:ext>
                  </a:extLst>
                </p:cNvPr>
                <p:cNvSpPr txBox="1"/>
                <p:nvPr/>
              </p:nvSpPr>
              <p:spPr>
                <a:xfrm>
                  <a:off x="4939459" y="4891385"/>
                  <a:ext cx="1037267"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400" i="1" smtClean="0">
                                <a:solidFill>
                                  <a:schemeClr val="bg1"/>
                                </a:solidFill>
                                <a:latin typeface="Cambria Math" panose="02040503050406030204" pitchFamily="18" charset="0"/>
                              </a:rPr>
                            </m:ctrlPr>
                          </m:sSubPr>
                          <m:e>
                            <m:r>
                              <a:rPr kumimoji="1" lang="en-US" altLang="zh-CN" sz="1400" i="1" smtClean="0">
                                <a:solidFill>
                                  <a:schemeClr val="bg1"/>
                                </a:solidFill>
                                <a:latin typeface="Cambria Math" panose="02040503050406030204" pitchFamily="18" charset="0"/>
                                <a:ea typeface="Cambria Math" panose="02040503050406030204" pitchFamily="18" charset="0"/>
                              </a:rPr>
                              <m:t>ℒ</m:t>
                            </m:r>
                          </m:e>
                          <m:sub>
                            <m:r>
                              <a:rPr kumimoji="1" lang="en-US" altLang="zh-CN" sz="1400" b="0" i="1" smtClean="0">
                                <a:solidFill>
                                  <a:schemeClr val="bg1"/>
                                </a:solidFill>
                                <a:latin typeface="Cambria Math" panose="02040503050406030204" pitchFamily="18" charset="0"/>
                                <a:ea typeface="Cambria Math" panose="02040503050406030204" pitchFamily="18" charset="0"/>
                              </a:rPr>
                              <m:t>𝑒𝑥𝑡𝑟𝑎𝑝</m:t>
                            </m:r>
                          </m:sub>
                        </m:sSub>
                      </m:oMath>
                    </m:oMathPara>
                  </a14:m>
                  <a:endParaRPr kumimoji="1" lang="zh-CN" altLang="en-US" sz="1400" dirty="0">
                    <a:solidFill>
                      <a:schemeClr val="bg1"/>
                    </a:solidFill>
                  </a:endParaRPr>
                </a:p>
              </p:txBody>
            </p:sp>
          </mc:Choice>
          <mc:Fallback>
            <p:sp>
              <p:nvSpPr>
                <p:cNvPr id="174" name="文本框 173">
                  <a:extLst>
                    <a:ext uri="{FF2B5EF4-FFF2-40B4-BE49-F238E27FC236}">
                      <a16:creationId xmlns:a16="http://schemas.microsoft.com/office/drawing/2014/main" id="{97A76870-6DB3-EA65-9B61-759357B8CA99}"/>
                    </a:ext>
                  </a:extLst>
                </p:cNvPr>
                <p:cNvSpPr txBox="1">
                  <a:spLocks noRot="1" noChangeAspect="1" noMove="1" noResize="1" noEditPoints="1" noAdjustHandles="1" noChangeArrowheads="1" noChangeShapeType="1" noTextEdit="1"/>
                </p:cNvSpPr>
                <p:nvPr/>
              </p:nvSpPr>
              <p:spPr>
                <a:xfrm>
                  <a:off x="4939459" y="4891385"/>
                  <a:ext cx="1037267" cy="324384"/>
                </a:xfrm>
                <a:prstGeom prst="rect">
                  <a:avLst/>
                </a:prstGeom>
                <a:blipFill>
                  <a:blip r:embed="rId11"/>
                  <a:stretch>
                    <a:fillRect b="-3846"/>
                  </a:stretch>
                </a:blipFill>
              </p:spPr>
              <p:txBody>
                <a:bodyPr/>
                <a:lstStyle/>
                <a:p>
                  <a:r>
                    <a:rPr lang="zh-CN" altLang="en-US">
                      <a:noFill/>
                    </a:rPr>
                    <a:t> </a:t>
                  </a:r>
                </a:p>
              </p:txBody>
            </p:sp>
          </mc:Fallback>
        </mc:AlternateContent>
      </p:grpSp>
      <p:sp>
        <p:nvSpPr>
          <p:cNvPr id="186" name="文本框 185">
            <a:extLst>
              <a:ext uri="{FF2B5EF4-FFF2-40B4-BE49-F238E27FC236}">
                <a16:creationId xmlns:a16="http://schemas.microsoft.com/office/drawing/2014/main" id="{F52C302F-1935-B093-DF50-08B27BA8012C}"/>
              </a:ext>
            </a:extLst>
          </p:cNvPr>
          <p:cNvSpPr txBox="1"/>
          <p:nvPr/>
        </p:nvSpPr>
        <p:spPr>
          <a:xfrm>
            <a:off x="360595" y="1093007"/>
            <a:ext cx="6106886" cy="369332"/>
          </a:xfrm>
          <a:prstGeom prst="rect">
            <a:avLst/>
          </a:prstGeom>
          <a:noFill/>
        </p:spPr>
        <p:txBody>
          <a:bodyPr wrap="square">
            <a:spAutoFit/>
          </a:bodyPr>
          <a:lstStyle/>
          <a:p>
            <a:r>
              <a:rPr kumimoji="1" lang="en-US" altLang="zh-CN" sz="1800" b="1" dirty="0">
                <a:latin typeface="Times New Roman" panose="02020603050405020304" pitchFamily="18" charset="0"/>
                <a:cs typeface="Times New Roman" panose="02020603050405020304" pitchFamily="18" charset="0"/>
              </a:rPr>
              <a:t>Perspective #1</a:t>
            </a:r>
            <a:r>
              <a:rPr kumimoji="1" lang="en-US" altLang="zh-CN" sz="1800" dirty="0">
                <a:latin typeface="Times New Roman" panose="02020603050405020304" pitchFamily="18" charset="0"/>
                <a:cs typeface="Times New Roman" panose="02020603050405020304" pitchFamily="18" charset="0"/>
              </a:rPr>
              <a:t>: learning continuity from extrapolation</a:t>
            </a:r>
            <a:endParaRPr lang="zh-CN" altLang="en-US" dirty="0"/>
          </a:p>
        </p:txBody>
      </p:sp>
      <p:sp>
        <p:nvSpPr>
          <p:cNvPr id="187" name="文本框 186">
            <a:extLst>
              <a:ext uri="{FF2B5EF4-FFF2-40B4-BE49-F238E27FC236}">
                <a16:creationId xmlns:a16="http://schemas.microsoft.com/office/drawing/2014/main" id="{51BC65CC-DB7E-F040-65C4-548A6B9186B2}"/>
              </a:ext>
            </a:extLst>
          </p:cNvPr>
          <p:cNvSpPr txBox="1"/>
          <p:nvPr/>
        </p:nvSpPr>
        <p:spPr>
          <a:xfrm>
            <a:off x="6251322" y="1093007"/>
            <a:ext cx="5785168" cy="646331"/>
          </a:xfrm>
          <a:prstGeom prst="rect">
            <a:avLst/>
          </a:prstGeom>
          <a:noFill/>
        </p:spPr>
        <p:txBody>
          <a:bodyPr wrap="square">
            <a:spAutoFit/>
          </a:bodyPr>
          <a:lstStyle/>
          <a:p>
            <a:r>
              <a:rPr kumimoji="1" lang="en-US" altLang="zh-CN" sz="1800" b="1" dirty="0">
                <a:latin typeface="Times New Roman" panose="02020603050405020304" pitchFamily="18" charset="0"/>
                <a:cs typeface="Times New Roman" panose="02020603050405020304" pitchFamily="18" charset="0"/>
              </a:rPr>
              <a:t>Perspective #1</a:t>
            </a:r>
            <a:r>
              <a:rPr kumimoji="1" lang="en-US" altLang="zh-CN" sz="1800" dirty="0">
                <a:latin typeface="Times New Roman" panose="02020603050405020304" pitchFamily="18" charset="0"/>
                <a:cs typeface="Times New Roman" panose="02020603050405020304" pitchFamily="18" charset="0"/>
              </a:rPr>
              <a:t>: learning consistent spatial layout from order correction</a:t>
            </a:r>
            <a:endParaRPr lang="zh-CN" altLang="en-US" dirty="0"/>
          </a:p>
        </p:txBody>
      </p:sp>
      <p:grpSp>
        <p:nvGrpSpPr>
          <p:cNvPr id="306" name="组合 305">
            <a:extLst>
              <a:ext uri="{FF2B5EF4-FFF2-40B4-BE49-F238E27FC236}">
                <a16:creationId xmlns:a16="http://schemas.microsoft.com/office/drawing/2014/main" id="{E4924DE0-ABC8-5A93-C218-C8E1AA5E55DD}"/>
              </a:ext>
            </a:extLst>
          </p:cNvPr>
          <p:cNvGrpSpPr/>
          <p:nvPr/>
        </p:nvGrpSpPr>
        <p:grpSpPr>
          <a:xfrm>
            <a:off x="6739861" y="2102047"/>
            <a:ext cx="4432231" cy="2764194"/>
            <a:chOff x="6739861" y="2102047"/>
            <a:chExt cx="4432231" cy="2764194"/>
          </a:xfrm>
        </p:grpSpPr>
        <p:cxnSp>
          <p:nvCxnSpPr>
            <p:cNvPr id="188" name="直线箭头连接符 187">
              <a:extLst>
                <a:ext uri="{FF2B5EF4-FFF2-40B4-BE49-F238E27FC236}">
                  <a16:creationId xmlns:a16="http://schemas.microsoft.com/office/drawing/2014/main" id="{939DEC8A-A1EC-40DE-D78D-537B90B23190}"/>
                </a:ext>
              </a:extLst>
            </p:cNvPr>
            <p:cNvCxnSpPr>
              <a:cxnSpLocks/>
            </p:cNvCxnSpPr>
            <p:nvPr/>
          </p:nvCxnSpPr>
          <p:spPr>
            <a:xfrm flipV="1">
              <a:off x="7676063" y="2880505"/>
              <a:ext cx="399995"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直线箭头连接符 188">
              <a:extLst>
                <a:ext uri="{FF2B5EF4-FFF2-40B4-BE49-F238E27FC236}">
                  <a16:creationId xmlns:a16="http://schemas.microsoft.com/office/drawing/2014/main" id="{83200E3B-1638-E96D-40D1-6151D5CD8FB9}"/>
                </a:ext>
              </a:extLst>
            </p:cNvPr>
            <p:cNvCxnSpPr>
              <a:cxnSpLocks/>
            </p:cNvCxnSpPr>
            <p:nvPr/>
          </p:nvCxnSpPr>
          <p:spPr>
            <a:xfrm>
              <a:off x="7729921" y="4411590"/>
              <a:ext cx="38724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90" name="矩形 189">
              <a:extLst>
                <a:ext uri="{FF2B5EF4-FFF2-40B4-BE49-F238E27FC236}">
                  <a16:creationId xmlns:a16="http://schemas.microsoft.com/office/drawing/2014/main" id="{129C1083-8D2F-6B73-CCA8-F9E92C9C5867}"/>
                </a:ext>
              </a:extLst>
            </p:cNvPr>
            <p:cNvSpPr/>
            <p:nvPr/>
          </p:nvSpPr>
          <p:spPr>
            <a:xfrm>
              <a:off x="8099887" y="2504211"/>
              <a:ext cx="734033" cy="726980"/>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191" name="矩形 190">
              <a:extLst>
                <a:ext uri="{FF2B5EF4-FFF2-40B4-BE49-F238E27FC236}">
                  <a16:creationId xmlns:a16="http://schemas.microsoft.com/office/drawing/2014/main" id="{FC70FBA5-522B-94FB-8194-E12D434D1F74}"/>
                </a:ext>
              </a:extLst>
            </p:cNvPr>
            <p:cNvSpPr/>
            <p:nvPr/>
          </p:nvSpPr>
          <p:spPr>
            <a:xfrm>
              <a:off x="8113231" y="2526548"/>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192" name="矩形 191">
              <a:extLst>
                <a:ext uri="{FF2B5EF4-FFF2-40B4-BE49-F238E27FC236}">
                  <a16:creationId xmlns:a16="http://schemas.microsoft.com/office/drawing/2014/main" id="{6C337EB4-4D8D-01B8-2084-18B8C229EE52}"/>
                </a:ext>
              </a:extLst>
            </p:cNvPr>
            <p:cNvSpPr/>
            <p:nvPr/>
          </p:nvSpPr>
          <p:spPr>
            <a:xfrm>
              <a:off x="8295599" y="2526548"/>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193" name="矩形 192">
              <a:extLst>
                <a:ext uri="{FF2B5EF4-FFF2-40B4-BE49-F238E27FC236}">
                  <a16:creationId xmlns:a16="http://schemas.microsoft.com/office/drawing/2014/main" id="{1EA29BE7-CC22-D6CD-BF9C-B19E81678550}"/>
                </a:ext>
              </a:extLst>
            </p:cNvPr>
            <p:cNvSpPr/>
            <p:nvPr/>
          </p:nvSpPr>
          <p:spPr>
            <a:xfrm>
              <a:off x="8476365" y="2526548"/>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194" name="矩形 193">
              <a:extLst>
                <a:ext uri="{FF2B5EF4-FFF2-40B4-BE49-F238E27FC236}">
                  <a16:creationId xmlns:a16="http://schemas.microsoft.com/office/drawing/2014/main" id="{582E4F8F-0675-C427-990B-49BAEDE3158D}"/>
                </a:ext>
              </a:extLst>
            </p:cNvPr>
            <p:cNvSpPr/>
            <p:nvPr/>
          </p:nvSpPr>
          <p:spPr>
            <a:xfrm>
              <a:off x="8663199" y="2526548"/>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195" name="矩形 194">
              <a:extLst>
                <a:ext uri="{FF2B5EF4-FFF2-40B4-BE49-F238E27FC236}">
                  <a16:creationId xmlns:a16="http://schemas.microsoft.com/office/drawing/2014/main" id="{46163521-9A7C-7448-1634-BEDB09A27B80}"/>
                </a:ext>
              </a:extLst>
            </p:cNvPr>
            <p:cNvSpPr/>
            <p:nvPr/>
          </p:nvSpPr>
          <p:spPr>
            <a:xfrm>
              <a:off x="8114756" y="2711214"/>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196" name="矩形 195">
              <a:extLst>
                <a:ext uri="{FF2B5EF4-FFF2-40B4-BE49-F238E27FC236}">
                  <a16:creationId xmlns:a16="http://schemas.microsoft.com/office/drawing/2014/main" id="{0E3926F4-129D-0EFE-E26D-C262D04F898A}"/>
                </a:ext>
              </a:extLst>
            </p:cNvPr>
            <p:cNvSpPr/>
            <p:nvPr/>
          </p:nvSpPr>
          <p:spPr>
            <a:xfrm>
              <a:off x="8297124" y="2711214"/>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197" name="矩形 196">
              <a:extLst>
                <a:ext uri="{FF2B5EF4-FFF2-40B4-BE49-F238E27FC236}">
                  <a16:creationId xmlns:a16="http://schemas.microsoft.com/office/drawing/2014/main" id="{926F8E3F-244F-E476-6D4A-5A245C7AD725}"/>
                </a:ext>
              </a:extLst>
            </p:cNvPr>
            <p:cNvSpPr/>
            <p:nvPr/>
          </p:nvSpPr>
          <p:spPr>
            <a:xfrm>
              <a:off x="8477890" y="2711214"/>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198" name="矩形 197">
              <a:extLst>
                <a:ext uri="{FF2B5EF4-FFF2-40B4-BE49-F238E27FC236}">
                  <a16:creationId xmlns:a16="http://schemas.microsoft.com/office/drawing/2014/main" id="{131F334A-9F2F-BDAA-AD3C-CF46D3AB8294}"/>
                </a:ext>
              </a:extLst>
            </p:cNvPr>
            <p:cNvSpPr/>
            <p:nvPr/>
          </p:nvSpPr>
          <p:spPr>
            <a:xfrm>
              <a:off x="8664724" y="2711214"/>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199" name="矩形 198">
              <a:extLst>
                <a:ext uri="{FF2B5EF4-FFF2-40B4-BE49-F238E27FC236}">
                  <a16:creationId xmlns:a16="http://schemas.microsoft.com/office/drawing/2014/main" id="{1D04748C-EFB9-2655-8A2F-38B8030F4106}"/>
                </a:ext>
              </a:extLst>
            </p:cNvPr>
            <p:cNvSpPr/>
            <p:nvPr/>
          </p:nvSpPr>
          <p:spPr>
            <a:xfrm>
              <a:off x="8115603" y="2896532"/>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200" name="矩形 199">
              <a:extLst>
                <a:ext uri="{FF2B5EF4-FFF2-40B4-BE49-F238E27FC236}">
                  <a16:creationId xmlns:a16="http://schemas.microsoft.com/office/drawing/2014/main" id="{1B0B5861-0BA9-005E-6E75-963678F1B680}"/>
                </a:ext>
              </a:extLst>
            </p:cNvPr>
            <p:cNvSpPr/>
            <p:nvPr/>
          </p:nvSpPr>
          <p:spPr>
            <a:xfrm>
              <a:off x="8297971" y="2896532"/>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201" name="矩形 200">
              <a:extLst>
                <a:ext uri="{FF2B5EF4-FFF2-40B4-BE49-F238E27FC236}">
                  <a16:creationId xmlns:a16="http://schemas.microsoft.com/office/drawing/2014/main" id="{5DD833F1-0B6B-F9A6-6B52-7CA6CEE71688}"/>
                </a:ext>
              </a:extLst>
            </p:cNvPr>
            <p:cNvSpPr/>
            <p:nvPr/>
          </p:nvSpPr>
          <p:spPr>
            <a:xfrm>
              <a:off x="8478737" y="2896532"/>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202" name="矩形 201">
              <a:extLst>
                <a:ext uri="{FF2B5EF4-FFF2-40B4-BE49-F238E27FC236}">
                  <a16:creationId xmlns:a16="http://schemas.microsoft.com/office/drawing/2014/main" id="{F5CBC075-9D7B-88F0-43C8-264FDAB1E37B}"/>
                </a:ext>
              </a:extLst>
            </p:cNvPr>
            <p:cNvSpPr/>
            <p:nvPr/>
          </p:nvSpPr>
          <p:spPr>
            <a:xfrm>
              <a:off x="8665571" y="2896532"/>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203" name="矩形 202">
              <a:extLst>
                <a:ext uri="{FF2B5EF4-FFF2-40B4-BE49-F238E27FC236}">
                  <a16:creationId xmlns:a16="http://schemas.microsoft.com/office/drawing/2014/main" id="{031B8F29-91E0-1E8E-804E-4BDCBC77C0CC}"/>
                </a:ext>
              </a:extLst>
            </p:cNvPr>
            <p:cNvSpPr/>
            <p:nvPr/>
          </p:nvSpPr>
          <p:spPr>
            <a:xfrm>
              <a:off x="8120072" y="3078585"/>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204" name="矩形 203">
              <a:extLst>
                <a:ext uri="{FF2B5EF4-FFF2-40B4-BE49-F238E27FC236}">
                  <a16:creationId xmlns:a16="http://schemas.microsoft.com/office/drawing/2014/main" id="{DD4F448E-272B-E9D6-0464-E98507CECAAF}"/>
                </a:ext>
              </a:extLst>
            </p:cNvPr>
            <p:cNvSpPr/>
            <p:nvPr/>
          </p:nvSpPr>
          <p:spPr>
            <a:xfrm>
              <a:off x="8302440" y="3078585"/>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205" name="矩形 204">
              <a:extLst>
                <a:ext uri="{FF2B5EF4-FFF2-40B4-BE49-F238E27FC236}">
                  <a16:creationId xmlns:a16="http://schemas.microsoft.com/office/drawing/2014/main" id="{E6FAA4A7-81E6-3538-2E8D-239069EE04E7}"/>
                </a:ext>
              </a:extLst>
            </p:cNvPr>
            <p:cNvSpPr/>
            <p:nvPr/>
          </p:nvSpPr>
          <p:spPr>
            <a:xfrm>
              <a:off x="8483206" y="3078585"/>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206" name="矩形 205">
              <a:extLst>
                <a:ext uri="{FF2B5EF4-FFF2-40B4-BE49-F238E27FC236}">
                  <a16:creationId xmlns:a16="http://schemas.microsoft.com/office/drawing/2014/main" id="{81A61F88-82A0-0F1C-B89E-350F9A30FD96}"/>
                </a:ext>
              </a:extLst>
            </p:cNvPr>
            <p:cNvSpPr/>
            <p:nvPr/>
          </p:nvSpPr>
          <p:spPr>
            <a:xfrm>
              <a:off x="8670040" y="3078585"/>
              <a:ext cx="156521" cy="1571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207" name="矩形 206">
              <a:extLst>
                <a:ext uri="{FF2B5EF4-FFF2-40B4-BE49-F238E27FC236}">
                  <a16:creationId xmlns:a16="http://schemas.microsoft.com/office/drawing/2014/main" id="{1C6F86F0-FE33-CC95-EEEE-B436BCEF5579}"/>
                </a:ext>
              </a:extLst>
            </p:cNvPr>
            <p:cNvSpPr/>
            <p:nvPr/>
          </p:nvSpPr>
          <p:spPr>
            <a:xfrm>
              <a:off x="8117489" y="4062680"/>
              <a:ext cx="720879" cy="716273"/>
            </a:xfrm>
            <a:prstGeom prst="rect">
              <a:avLst/>
            </a:prstGeom>
            <a:noFill/>
            <a:ln w="285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08" name="矩形 207">
              <a:extLst>
                <a:ext uri="{FF2B5EF4-FFF2-40B4-BE49-F238E27FC236}">
                  <a16:creationId xmlns:a16="http://schemas.microsoft.com/office/drawing/2014/main" id="{05E2BBA3-2550-98C6-0045-60C4CDFF7343}"/>
                </a:ext>
              </a:extLst>
            </p:cNvPr>
            <p:cNvSpPr/>
            <p:nvPr/>
          </p:nvSpPr>
          <p:spPr>
            <a:xfrm>
              <a:off x="8141734" y="4085871"/>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09" name="矩形 208">
              <a:extLst>
                <a:ext uri="{FF2B5EF4-FFF2-40B4-BE49-F238E27FC236}">
                  <a16:creationId xmlns:a16="http://schemas.microsoft.com/office/drawing/2014/main" id="{D3322F9A-8266-D67B-93C2-C057C2D49253}"/>
                </a:ext>
              </a:extLst>
            </p:cNvPr>
            <p:cNvSpPr/>
            <p:nvPr/>
          </p:nvSpPr>
          <p:spPr>
            <a:xfrm>
              <a:off x="8322062" y="4085497"/>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10" name="矩形 209">
              <a:extLst>
                <a:ext uri="{FF2B5EF4-FFF2-40B4-BE49-F238E27FC236}">
                  <a16:creationId xmlns:a16="http://schemas.microsoft.com/office/drawing/2014/main" id="{979DF313-F237-AAAC-CE53-10862F97B744}"/>
                </a:ext>
              </a:extLst>
            </p:cNvPr>
            <p:cNvSpPr/>
            <p:nvPr/>
          </p:nvSpPr>
          <p:spPr>
            <a:xfrm>
              <a:off x="8496677" y="4085497"/>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11" name="矩形 210">
              <a:extLst>
                <a:ext uri="{FF2B5EF4-FFF2-40B4-BE49-F238E27FC236}">
                  <a16:creationId xmlns:a16="http://schemas.microsoft.com/office/drawing/2014/main" id="{04F32F87-34FA-4318-C8F9-0176813D438D}"/>
                </a:ext>
              </a:extLst>
            </p:cNvPr>
            <p:cNvSpPr/>
            <p:nvPr/>
          </p:nvSpPr>
          <p:spPr>
            <a:xfrm>
              <a:off x="8669293" y="4085497"/>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12" name="矩形 211">
              <a:extLst>
                <a:ext uri="{FF2B5EF4-FFF2-40B4-BE49-F238E27FC236}">
                  <a16:creationId xmlns:a16="http://schemas.microsoft.com/office/drawing/2014/main" id="{7BBDA1F8-A09F-BC2D-FDC9-E9FBA8DBB852}"/>
                </a:ext>
              </a:extLst>
            </p:cNvPr>
            <p:cNvSpPr/>
            <p:nvPr/>
          </p:nvSpPr>
          <p:spPr>
            <a:xfrm>
              <a:off x="8141118" y="4259673"/>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13" name="矩形 212">
              <a:extLst>
                <a:ext uri="{FF2B5EF4-FFF2-40B4-BE49-F238E27FC236}">
                  <a16:creationId xmlns:a16="http://schemas.microsoft.com/office/drawing/2014/main" id="{92CBA5B7-D7A0-37B3-8743-00FCE312DD95}"/>
                </a:ext>
              </a:extLst>
            </p:cNvPr>
            <p:cNvSpPr/>
            <p:nvPr/>
          </p:nvSpPr>
          <p:spPr>
            <a:xfrm>
              <a:off x="8322063" y="4266521"/>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14" name="矩形 213">
              <a:extLst>
                <a:ext uri="{FF2B5EF4-FFF2-40B4-BE49-F238E27FC236}">
                  <a16:creationId xmlns:a16="http://schemas.microsoft.com/office/drawing/2014/main" id="{FB327866-14E0-C18A-B257-8B1B6C311C6C}"/>
                </a:ext>
              </a:extLst>
            </p:cNvPr>
            <p:cNvSpPr/>
            <p:nvPr/>
          </p:nvSpPr>
          <p:spPr>
            <a:xfrm>
              <a:off x="8493141" y="4266521"/>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15" name="矩形 214">
              <a:extLst>
                <a:ext uri="{FF2B5EF4-FFF2-40B4-BE49-F238E27FC236}">
                  <a16:creationId xmlns:a16="http://schemas.microsoft.com/office/drawing/2014/main" id="{CEEC223A-8F33-6A2D-5F73-AB333290506D}"/>
                </a:ext>
              </a:extLst>
            </p:cNvPr>
            <p:cNvSpPr/>
            <p:nvPr/>
          </p:nvSpPr>
          <p:spPr>
            <a:xfrm>
              <a:off x="8665666" y="4260151"/>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16" name="矩形 215">
              <a:extLst>
                <a:ext uri="{FF2B5EF4-FFF2-40B4-BE49-F238E27FC236}">
                  <a16:creationId xmlns:a16="http://schemas.microsoft.com/office/drawing/2014/main" id="{CFE88132-DE68-35D2-B34A-0889A448FF80}"/>
                </a:ext>
              </a:extLst>
            </p:cNvPr>
            <p:cNvSpPr/>
            <p:nvPr/>
          </p:nvSpPr>
          <p:spPr>
            <a:xfrm>
              <a:off x="8141118" y="4434985"/>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17" name="矩形 216">
              <a:extLst>
                <a:ext uri="{FF2B5EF4-FFF2-40B4-BE49-F238E27FC236}">
                  <a16:creationId xmlns:a16="http://schemas.microsoft.com/office/drawing/2014/main" id="{409BCE15-6C24-28B4-F83E-EA19F7F223FB}"/>
                </a:ext>
              </a:extLst>
            </p:cNvPr>
            <p:cNvSpPr/>
            <p:nvPr/>
          </p:nvSpPr>
          <p:spPr>
            <a:xfrm>
              <a:off x="8322047" y="4434985"/>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18" name="矩形 217">
              <a:extLst>
                <a:ext uri="{FF2B5EF4-FFF2-40B4-BE49-F238E27FC236}">
                  <a16:creationId xmlns:a16="http://schemas.microsoft.com/office/drawing/2014/main" id="{E2A60150-0B97-9ED7-98A5-7657DF536423}"/>
                </a:ext>
              </a:extLst>
            </p:cNvPr>
            <p:cNvSpPr/>
            <p:nvPr/>
          </p:nvSpPr>
          <p:spPr>
            <a:xfrm>
              <a:off x="8494751" y="4434985"/>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19" name="矩形 218">
              <a:extLst>
                <a:ext uri="{FF2B5EF4-FFF2-40B4-BE49-F238E27FC236}">
                  <a16:creationId xmlns:a16="http://schemas.microsoft.com/office/drawing/2014/main" id="{9481B848-622D-F3F4-1E78-33F0D3C36E41}"/>
                </a:ext>
              </a:extLst>
            </p:cNvPr>
            <p:cNvSpPr/>
            <p:nvPr/>
          </p:nvSpPr>
          <p:spPr>
            <a:xfrm>
              <a:off x="8662805" y="4434985"/>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20" name="矩形 219">
              <a:extLst>
                <a:ext uri="{FF2B5EF4-FFF2-40B4-BE49-F238E27FC236}">
                  <a16:creationId xmlns:a16="http://schemas.microsoft.com/office/drawing/2014/main" id="{F6CF0D42-191A-10D7-7A0A-0D98631567BD}"/>
                </a:ext>
              </a:extLst>
            </p:cNvPr>
            <p:cNvSpPr/>
            <p:nvPr/>
          </p:nvSpPr>
          <p:spPr>
            <a:xfrm>
              <a:off x="8141118" y="4610606"/>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21" name="矩形 220">
              <a:extLst>
                <a:ext uri="{FF2B5EF4-FFF2-40B4-BE49-F238E27FC236}">
                  <a16:creationId xmlns:a16="http://schemas.microsoft.com/office/drawing/2014/main" id="{1551D4AC-B614-7975-1E0E-6F4597CB8479}"/>
                </a:ext>
              </a:extLst>
            </p:cNvPr>
            <p:cNvSpPr/>
            <p:nvPr/>
          </p:nvSpPr>
          <p:spPr>
            <a:xfrm>
              <a:off x="8322063" y="4610606"/>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22" name="矩形 221">
              <a:extLst>
                <a:ext uri="{FF2B5EF4-FFF2-40B4-BE49-F238E27FC236}">
                  <a16:creationId xmlns:a16="http://schemas.microsoft.com/office/drawing/2014/main" id="{104FA5C0-E9C3-EBC1-5D63-37EBC15E2187}"/>
                </a:ext>
              </a:extLst>
            </p:cNvPr>
            <p:cNvSpPr/>
            <p:nvPr/>
          </p:nvSpPr>
          <p:spPr>
            <a:xfrm>
              <a:off x="8492448" y="4610606"/>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23" name="矩形 222">
              <a:extLst>
                <a:ext uri="{FF2B5EF4-FFF2-40B4-BE49-F238E27FC236}">
                  <a16:creationId xmlns:a16="http://schemas.microsoft.com/office/drawing/2014/main" id="{17EF36A8-3DD4-B201-A7EA-F952429147C9}"/>
                </a:ext>
              </a:extLst>
            </p:cNvPr>
            <p:cNvSpPr/>
            <p:nvPr/>
          </p:nvSpPr>
          <p:spPr>
            <a:xfrm>
              <a:off x="8665666" y="4610606"/>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224" name="直线箭头连接符 223">
              <a:extLst>
                <a:ext uri="{FF2B5EF4-FFF2-40B4-BE49-F238E27FC236}">
                  <a16:creationId xmlns:a16="http://schemas.microsoft.com/office/drawing/2014/main" id="{BCDD7E79-8F78-EEE2-0B92-D05F6B532941}"/>
                </a:ext>
              </a:extLst>
            </p:cNvPr>
            <p:cNvCxnSpPr>
              <a:cxnSpLocks/>
              <a:stCxn id="190" idx="3"/>
            </p:cNvCxnSpPr>
            <p:nvPr/>
          </p:nvCxnSpPr>
          <p:spPr>
            <a:xfrm>
              <a:off x="8833920" y="2867701"/>
              <a:ext cx="279953" cy="798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pic>
          <p:nvPicPr>
            <p:cNvPr id="225" name="图片 224">
              <a:extLst>
                <a:ext uri="{FF2B5EF4-FFF2-40B4-BE49-F238E27FC236}">
                  <a16:creationId xmlns:a16="http://schemas.microsoft.com/office/drawing/2014/main" id="{F399643A-D91F-4697-75CB-75E39C9ACC63}"/>
                </a:ext>
              </a:extLst>
            </p:cNvPr>
            <p:cNvPicPr>
              <a:picLocks noChangeAspect="1"/>
            </p:cNvPicPr>
            <p:nvPr/>
          </p:nvPicPr>
          <p:blipFill>
            <a:blip r:embed="rId12"/>
            <a:stretch>
              <a:fillRect/>
            </a:stretch>
          </p:blipFill>
          <p:spPr>
            <a:xfrm>
              <a:off x="6765797" y="2398947"/>
              <a:ext cx="1022103" cy="978741"/>
            </a:xfrm>
            <a:prstGeom prst="rect">
              <a:avLst/>
            </a:prstGeom>
          </p:spPr>
        </p:pic>
        <p:sp>
          <p:nvSpPr>
            <p:cNvPr id="226" name="文本框 225">
              <a:extLst>
                <a:ext uri="{FF2B5EF4-FFF2-40B4-BE49-F238E27FC236}">
                  <a16:creationId xmlns:a16="http://schemas.microsoft.com/office/drawing/2014/main" id="{E1C96A13-ED07-6F85-2001-F1B6FE60DFC2}"/>
                </a:ext>
              </a:extLst>
            </p:cNvPr>
            <p:cNvSpPr txBox="1"/>
            <p:nvPr/>
          </p:nvSpPr>
          <p:spPr>
            <a:xfrm>
              <a:off x="8076592" y="2498086"/>
              <a:ext cx="176706"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9</a:t>
              </a:r>
              <a:endParaRPr kumimoji="1" lang="zh-CN" altLang="en-US" sz="700" dirty="0">
                <a:solidFill>
                  <a:schemeClr val="accent4">
                    <a:lumMod val="60000"/>
                    <a:lumOff val="40000"/>
                  </a:schemeClr>
                </a:solidFill>
              </a:endParaRPr>
            </a:p>
          </p:txBody>
        </p:sp>
        <p:sp>
          <p:nvSpPr>
            <p:cNvPr id="227" name="文本框 226">
              <a:extLst>
                <a:ext uri="{FF2B5EF4-FFF2-40B4-BE49-F238E27FC236}">
                  <a16:creationId xmlns:a16="http://schemas.microsoft.com/office/drawing/2014/main" id="{9B1E3AE8-BC59-AED9-FC67-15909AAC7DEB}"/>
                </a:ext>
              </a:extLst>
            </p:cNvPr>
            <p:cNvSpPr txBox="1"/>
            <p:nvPr/>
          </p:nvSpPr>
          <p:spPr>
            <a:xfrm>
              <a:off x="8228548" y="2495437"/>
              <a:ext cx="318407"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14</a:t>
              </a:r>
              <a:endParaRPr kumimoji="1" lang="zh-CN" altLang="en-US" sz="700" dirty="0">
                <a:solidFill>
                  <a:schemeClr val="accent4">
                    <a:lumMod val="60000"/>
                    <a:lumOff val="40000"/>
                  </a:schemeClr>
                </a:solidFill>
              </a:endParaRPr>
            </a:p>
          </p:txBody>
        </p:sp>
        <p:sp>
          <p:nvSpPr>
            <p:cNvPr id="228" name="文本框 227">
              <a:extLst>
                <a:ext uri="{FF2B5EF4-FFF2-40B4-BE49-F238E27FC236}">
                  <a16:creationId xmlns:a16="http://schemas.microsoft.com/office/drawing/2014/main" id="{7F5FCE30-B10C-7945-BB37-02EA7A4451D3}"/>
                </a:ext>
              </a:extLst>
            </p:cNvPr>
            <p:cNvSpPr txBox="1"/>
            <p:nvPr/>
          </p:nvSpPr>
          <p:spPr>
            <a:xfrm>
              <a:off x="8441883" y="2494759"/>
              <a:ext cx="176706"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3</a:t>
              </a:r>
              <a:endParaRPr kumimoji="1" lang="zh-CN" altLang="en-US" sz="700" dirty="0">
                <a:solidFill>
                  <a:schemeClr val="accent4">
                    <a:lumMod val="60000"/>
                    <a:lumOff val="40000"/>
                  </a:schemeClr>
                </a:solidFill>
              </a:endParaRPr>
            </a:p>
          </p:txBody>
        </p:sp>
        <p:sp>
          <p:nvSpPr>
            <p:cNvPr id="229" name="文本框 228">
              <a:extLst>
                <a:ext uri="{FF2B5EF4-FFF2-40B4-BE49-F238E27FC236}">
                  <a16:creationId xmlns:a16="http://schemas.microsoft.com/office/drawing/2014/main" id="{4D9BEFC9-04DA-91A3-9693-3F5611D08344}"/>
                </a:ext>
              </a:extLst>
            </p:cNvPr>
            <p:cNvSpPr txBox="1"/>
            <p:nvPr/>
          </p:nvSpPr>
          <p:spPr>
            <a:xfrm>
              <a:off x="8617743" y="2504062"/>
              <a:ext cx="318407"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8</a:t>
              </a:r>
              <a:endParaRPr kumimoji="1" lang="zh-CN" altLang="en-US" sz="700" dirty="0">
                <a:solidFill>
                  <a:schemeClr val="accent4">
                    <a:lumMod val="60000"/>
                    <a:lumOff val="40000"/>
                  </a:schemeClr>
                </a:solidFill>
              </a:endParaRPr>
            </a:p>
          </p:txBody>
        </p:sp>
        <p:sp>
          <p:nvSpPr>
            <p:cNvPr id="230" name="文本框 229">
              <a:extLst>
                <a:ext uri="{FF2B5EF4-FFF2-40B4-BE49-F238E27FC236}">
                  <a16:creationId xmlns:a16="http://schemas.microsoft.com/office/drawing/2014/main" id="{C53D133C-0838-61FE-2B3B-0905FED5E5B3}"/>
                </a:ext>
              </a:extLst>
            </p:cNvPr>
            <p:cNvSpPr txBox="1"/>
            <p:nvPr/>
          </p:nvSpPr>
          <p:spPr>
            <a:xfrm>
              <a:off x="8054877" y="2682732"/>
              <a:ext cx="333335"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10</a:t>
              </a:r>
              <a:endParaRPr kumimoji="1" lang="zh-CN" altLang="en-US" sz="700" dirty="0">
                <a:solidFill>
                  <a:schemeClr val="accent4">
                    <a:lumMod val="60000"/>
                    <a:lumOff val="40000"/>
                  </a:schemeClr>
                </a:solidFill>
              </a:endParaRPr>
            </a:p>
          </p:txBody>
        </p:sp>
        <p:sp>
          <p:nvSpPr>
            <p:cNvPr id="231" name="文本框 230">
              <a:extLst>
                <a:ext uri="{FF2B5EF4-FFF2-40B4-BE49-F238E27FC236}">
                  <a16:creationId xmlns:a16="http://schemas.microsoft.com/office/drawing/2014/main" id="{3D7689B5-C43F-3ACC-4F80-DFBD12C0EBFC}"/>
                </a:ext>
              </a:extLst>
            </p:cNvPr>
            <p:cNvSpPr txBox="1"/>
            <p:nvPr/>
          </p:nvSpPr>
          <p:spPr>
            <a:xfrm>
              <a:off x="8254639" y="2685735"/>
              <a:ext cx="318407"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7</a:t>
              </a:r>
              <a:endParaRPr kumimoji="1" lang="zh-CN" altLang="en-US" sz="700" dirty="0">
                <a:solidFill>
                  <a:schemeClr val="accent4">
                    <a:lumMod val="60000"/>
                    <a:lumOff val="40000"/>
                  </a:schemeClr>
                </a:solidFill>
              </a:endParaRPr>
            </a:p>
          </p:txBody>
        </p:sp>
        <p:sp>
          <p:nvSpPr>
            <p:cNvPr id="232" name="文本框 231">
              <a:extLst>
                <a:ext uri="{FF2B5EF4-FFF2-40B4-BE49-F238E27FC236}">
                  <a16:creationId xmlns:a16="http://schemas.microsoft.com/office/drawing/2014/main" id="{CA5A37A0-3C7F-5130-EBB5-830430B89113}"/>
                </a:ext>
              </a:extLst>
            </p:cNvPr>
            <p:cNvSpPr txBox="1"/>
            <p:nvPr/>
          </p:nvSpPr>
          <p:spPr>
            <a:xfrm>
              <a:off x="8443618" y="2684654"/>
              <a:ext cx="176706"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5</a:t>
              </a:r>
              <a:endParaRPr kumimoji="1" lang="zh-CN" altLang="en-US" sz="700" dirty="0">
                <a:solidFill>
                  <a:schemeClr val="accent4">
                    <a:lumMod val="60000"/>
                    <a:lumOff val="40000"/>
                  </a:schemeClr>
                </a:solidFill>
              </a:endParaRPr>
            </a:p>
          </p:txBody>
        </p:sp>
        <p:sp>
          <p:nvSpPr>
            <p:cNvPr id="233" name="文本框 232">
              <a:extLst>
                <a:ext uri="{FF2B5EF4-FFF2-40B4-BE49-F238E27FC236}">
                  <a16:creationId xmlns:a16="http://schemas.microsoft.com/office/drawing/2014/main" id="{6A9E9CCD-B2F7-ECBC-B83E-7C2A0086EFEC}"/>
                </a:ext>
              </a:extLst>
            </p:cNvPr>
            <p:cNvSpPr txBox="1"/>
            <p:nvPr/>
          </p:nvSpPr>
          <p:spPr>
            <a:xfrm>
              <a:off x="8613502" y="2687981"/>
              <a:ext cx="318407"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13</a:t>
              </a:r>
              <a:endParaRPr kumimoji="1" lang="zh-CN" altLang="en-US" sz="700" dirty="0">
                <a:solidFill>
                  <a:schemeClr val="accent4">
                    <a:lumMod val="60000"/>
                    <a:lumOff val="40000"/>
                  </a:schemeClr>
                </a:solidFill>
              </a:endParaRPr>
            </a:p>
          </p:txBody>
        </p:sp>
        <p:sp>
          <p:nvSpPr>
            <p:cNvPr id="234" name="文本框 233">
              <a:extLst>
                <a:ext uri="{FF2B5EF4-FFF2-40B4-BE49-F238E27FC236}">
                  <a16:creationId xmlns:a16="http://schemas.microsoft.com/office/drawing/2014/main" id="{11054A2E-69B3-E9A2-6E30-3B3F57CEAD9E}"/>
                </a:ext>
              </a:extLst>
            </p:cNvPr>
            <p:cNvSpPr txBox="1"/>
            <p:nvPr/>
          </p:nvSpPr>
          <p:spPr>
            <a:xfrm>
              <a:off x="8067967" y="2860678"/>
              <a:ext cx="176706"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4</a:t>
              </a:r>
              <a:endParaRPr kumimoji="1" lang="zh-CN" altLang="en-US" sz="700" dirty="0">
                <a:solidFill>
                  <a:schemeClr val="accent4">
                    <a:lumMod val="60000"/>
                    <a:lumOff val="40000"/>
                  </a:schemeClr>
                </a:solidFill>
              </a:endParaRPr>
            </a:p>
          </p:txBody>
        </p:sp>
        <p:sp>
          <p:nvSpPr>
            <p:cNvPr id="235" name="文本框 234">
              <a:extLst>
                <a:ext uri="{FF2B5EF4-FFF2-40B4-BE49-F238E27FC236}">
                  <a16:creationId xmlns:a16="http://schemas.microsoft.com/office/drawing/2014/main" id="{FAD4327E-6487-63BE-32CA-B10B0A5082AB}"/>
                </a:ext>
              </a:extLst>
            </p:cNvPr>
            <p:cNvSpPr txBox="1"/>
            <p:nvPr/>
          </p:nvSpPr>
          <p:spPr>
            <a:xfrm>
              <a:off x="8249803" y="2864005"/>
              <a:ext cx="318407"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2</a:t>
              </a:r>
              <a:endParaRPr kumimoji="1" lang="zh-CN" altLang="en-US" sz="700" dirty="0">
                <a:solidFill>
                  <a:schemeClr val="accent4">
                    <a:lumMod val="60000"/>
                    <a:lumOff val="40000"/>
                  </a:schemeClr>
                </a:solidFill>
              </a:endParaRPr>
            </a:p>
          </p:txBody>
        </p:sp>
        <p:sp>
          <p:nvSpPr>
            <p:cNvPr id="236" name="文本框 235">
              <a:extLst>
                <a:ext uri="{FF2B5EF4-FFF2-40B4-BE49-F238E27FC236}">
                  <a16:creationId xmlns:a16="http://schemas.microsoft.com/office/drawing/2014/main" id="{78BA9228-2BEC-CD7E-2AE7-316BF4509094}"/>
                </a:ext>
              </a:extLst>
            </p:cNvPr>
            <p:cNvSpPr txBox="1"/>
            <p:nvPr/>
          </p:nvSpPr>
          <p:spPr>
            <a:xfrm>
              <a:off x="8421306" y="2863327"/>
              <a:ext cx="308575"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15</a:t>
              </a:r>
              <a:endParaRPr kumimoji="1" lang="zh-CN" altLang="en-US" sz="700" dirty="0">
                <a:solidFill>
                  <a:schemeClr val="accent4">
                    <a:lumMod val="60000"/>
                    <a:lumOff val="40000"/>
                  </a:schemeClr>
                </a:solidFill>
              </a:endParaRPr>
            </a:p>
          </p:txBody>
        </p:sp>
        <p:sp>
          <p:nvSpPr>
            <p:cNvPr id="237" name="文本框 236">
              <a:extLst>
                <a:ext uri="{FF2B5EF4-FFF2-40B4-BE49-F238E27FC236}">
                  <a16:creationId xmlns:a16="http://schemas.microsoft.com/office/drawing/2014/main" id="{767CB00F-9B6E-B347-3C8E-0ED2268574A8}"/>
                </a:ext>
              </a:extLst>
            </p:cNvPr>
            <p:cNvSpPr txBox="1"/>
            <p:nvPr/>
          </p:nvSpPr>
          <p:spPr>
            <a:xfrm>
              <a:off x="8597166" y="2866654"/>
              <a:ext cx="318407"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16</a:t>
              </a:r>
              <a:endParaRPr kumimoji="1" lang="zh-CN" altLang="en-US" sz="700" dirty="0">
                <a:solidFill>
                  <a:schemeClr val="accent4">
                    <a:lumMod val="60000"/>
                    <a:lumOff val="40000"/>
                  </a:schemeClr>
                </a:solidFill>
              </a:endParaRPr>
            </a:p>
          </p:txBody>
        </p:sp>
        <p:sp>
          <p:nvSpPr>
            <p:cNvPr id="238" name="文本框 237">
              <a:extLst>
                <a:ext uri="{FF2B5EF4-FFF2-40B4-BE49-F238E27FC236}">
                  <a16:creationId xmlns:a16="http://schemas.microsoft.com/office/drawing/2014/main" id="{1F97F83F-4F27-90CF-115E-ACC86F3206F1}"/>
                </a:ext>
              </a:extLst>
            </p:cNvPr>
            <p:cNvSpPr txBox="1"/>
            <p:nvPr/>
          </p:nvSpPr>
          <p:spPr>
            <a:xfrm>
              <a:off x="8046252" y="3045324"/>
              <a:ext cx="333335"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16</a:t>
              </a:r>
              <a:endParaRPr kumimoji="1" lang="zh-CN" altLang="en-US" sz="700" dirty="0">
                <a:solidFill>
                  <a:schemeClr val="accent4">
                    <a:lumMod val="60000"/>
                    <a:lumOff val="40000"/>
                  </a:schemeClr>
                </a:solidFill>
              </a:endParaRPr>
            </a:p>
          </p:txBody>
        </p:sp>
        <p:sp>
          <p:nvSpPr>
            <p:cNvPr id="239" name="文本框 238">
              <a:extLst>
                <a:ext uri="{FF2B5EF4-FFF2-40B4-BE49-F238E27FC236}">
                  <a16:creationId xmlns:a16="http://schemas.microsoft.com/office/drawing/2014/main" id="{C071E83C-8499-8071-65E6-55A241885CD2}"/>
                </a:ext>
              </a:extLst>
            </p:cNvPr>
            <p:cNvSpPr txBox="1"/>
            <p:nvPr/>
          </p:nvSpPr>
          <p:spPr>
            <a:xfrm>
              <a:off x="8246014" y="3048327"/>
              <a:ext cx="318407"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1</a:t>
              </a:r>
              <a:endParaRPr kumimoji="1" lang="zh-CN" altLang="en-US" sz="700" dirty="0">
                <a:solidFill>
                  <a:schemeClr val="accent4">
                    <a:lumMod val="60000"/>
                    <a:lumOff val="40000"/>
                  </a:schemeClr>
                </a:solidFill>
              </a:endParaRPr>
            </a:p>
          </p:txBody>
        </p:sp>
        <p:sp>
          <p:nvSpPr>
            <p:cNvPr id="240" name="文本框 239">
              <a:extLst>
                <a:ext uri="{FF2B5EF4-FFF2-40B4-BE49-F238E27FC236}">
                  <a16:creationId xmlns:a16="http://schemas.microsoft.com/office/drawing/2014/main" id="{14D9FF84-6455-FCB0-E31B-7745B65483D2}"/>
                </a:ext>
              </a:extLst>
            </p:cNvPr>
            <p:cNvSpPr txBox="1"/>
            <p:nvPr/>
          </p:nvSpPr>
          <p:spPr>
            <a:xfrm>
              <a:off x="8422542" y="3052356"/>
              <a:ext cx="307673"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11</a:t>
              </a:r>
              <a:endParaRPr kumimoji="1" lang="zh-CN" altLang="en-US" sz="700" dirty="0">
                <a:solidFill>
                  <a:schemeClr val="accent4">
                    <a:lumMod val="60000"/>
                    <a:lumOff val="40000"/>
                  </a:schemeClr>
                </a:solidFill>
              </a:endParaRPr>
            </a:p>
          </p:txBody>
        </p:sp>
        <p:sp>
          <p:nvSpPr>
            <p:cNvPr id="241" name="文本框 240">
              <a:extLst>
                <a:ext uri="{FF2B5EF4-FFF2-40B4-BE49-F238E27FC236}">
                  <a16:creationId xmlns:a16="http://schemas.microsoft.com/office/drawing/2014/main" id="{459B2BEB-2D33-584A-C2AE-6304525FF49B}"/>
                </a:ext>
              </a:extLst>
            </p:cNvPr>
            <p:cNvSpPr txBox="1"/>
            <p:nvPr/>
          </p:nvSpPr>
          <p:spPr>
            <a:xfrm>
              <a:off x="8604877" y="3050573"/>
              <a:ext cx="318407" cy="200055"/>
            </a:xfrm>
            <a:prstGeom prst="rect">
              <a:avLst/>
            </a:prstGeom>
            <a:noFill/>
          </p:spPr>
          <p:txBody>
            <a:bodyPr wrap="square" rtlCol="0">
              <a:spAutoFit/>
            </a:bodyPr>
            <a:lstStyle/>
            <a:p>
              <a:r>
                <a:rPr kumimoji="1" lang="en-US" altLang="zh-CN" sz="700" dirty="0">
                  <a:solidFill>
                    <a:schemeClr val="accent4">
                      <a:lumMod val="60000"/>
                      <a:lumOff val="40000"/>
                    </a:schemeClr>
                  </a:solidFill>
                </a:rPr>
                <a:t>12</a:t>
              </a:r>
              <a:endParaRPr kumimoji="1" lang="zh-CN" altLang="en-US" sz="700" dirty="0">
                <a:solidFill>
                  <a:schemeClr val="accent4">
                    <a:lumMod val="60000"/>
                    <a:lumOff val="40000"/>
                  </a:schemeClr>
                </a:solidFill>
              </a:endParaRPr>
            </a:p>
          </p:txBody>
        </p:sp>
        <p:sp>
          <p:nvSpPr>
            <p:cNvPr id="242" name="文本框 241">
              <a:extLst>
                <a:ext uri="{FF2B5EF4-FFF2-40B4-BE49-F238E27FC236}">
                  <a16:creationId xmlns:a16="http://schemas.microsoft.com/office/drawing/2014/main" id="{9FBAE630-38C5-371A-5D26-1B3AFD91DE00}"/>
                </a:ext>
              </a:extLst>
            </p:cNvPr>
            <p:cNvSpPr txBox="1"/>
            <p:nvPr/>
          </p:nvSpPr>
          <p:spPr>
            <a:xfrm>
              <a:off x="8095527" y="4048998"/>
              <a:ext cx="176706"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a:t>
              </a:r>
              <a:endParaRPr kumimoji="1" lang="zh-CN" altLang="en-US" sz="700" dirty="0">
                <a:solidFill>
                  <a:schemeClr val="accent4">
                    <a:lumMod val="20000"/>
                    <a:lumOff val="80000"/>
                  </a:schemeClr>
                </a:solidFill>
              </a:endParaRPr>
            </a:p>
          </p:txBody>
        </p:sp>
        <p:sp>
          <p:nvSpPr>
            <p:cNvPr id="243" name="文本框 242">
              <a:extLst>
                <a:ext uri="{FF2B5EF4-FFF2-40B4-BE49-F238E27FC236}">
                  <a16:creationId xmlns:a16="http://schemas.microsoft.com/office/drawing/2014/main" id="{A0EC8852-9799-0B74-8F28-D94587BF4F43}"/>
                </a:ext>
              </a:extLst>
            </p:cNvPr>
            <p:cNvSpPr txBox="1"/>
            <p:nvPr/>
          </p:nvSpPr>
          <p:spPr>
            <a:xfrm>
              <a:off x="8282261" y="4058975"/>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2</a:t>
              </a:r>
              <a:endParaRPr kumimoji="1" lang="zh-CN" altLang="en-US" sz="700" dirty="0">
                <a:solidFill>
                  <a:schemeClr val="accent4">
                    <a:lumMod val="20000"/>
                    <a:lumOff val="80000"/>
                  </a:schemeClr>
                </a:solidFill>
              </a:endParaRPr>
            </a:p>
          </p:txBody>
        </p:sp>
        <p:sp>
          <p:nvSpPr>
            <p:cNvPr id="244" name="文本框 243">
              <a:extLst>
                <a:ext uri="{FF2B5EF4-FFF2-40B4-BE49-F238E27FC236}">
                  <a16:creationId xmlns:a16="http://schemas.microsoft.com/office/drawing/2014/main" id="{05B7EFF1-F297-0E14-E74F-231875CDBB88}"/>
                </a:ext>
              </a:extLst>
            </p:cNvPr>
            <p:cNvSpPr txBox="1"/>
            <p:nvPr/>
          </p:nvSpPr>
          <p:spPr>
            <a:xfrm>
              <a:off x="8460818" y="4057623"/>
              <a:ext cx="176706"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3</a:t>
              </a:r>
              <a:endParaRPr kumimoji="1" lang="zh-CN" altLang="en-US" sz="700" dirty="0">
                <a:solidFill>
                  <a:schemeClr val="accent4">
                    <a:lumMod val="20000"/>
                    <a:lumOff val="80000"/>
                  </a:schemeClr>
                </a:solidFill>
              </a:endParaRPr>
            </a:p>
          </p:txBody>
        </p:sp>
        <p:sp>
          <p:nvSpPr>
            <p:cNvPr id="245" name="文本框 244">
              <a:extLst>
                <a:ext uri="{FF2B5EF4-FFF2-40B4-BE49-F238E27FC236}">
                  <a16:creationId xmlns:a16="http://schemas.microsoft.com/office/drawing/2014/main" id="{99E5EE84-4B49-F9DD-35C5-543E99CC7957}"/>
                </a:ext>
              </a:extLst>
            </p:cNvPr>
            <p:cNvSpPr txBox="1"/>
            <p:nvPr/>
          </p:nvSpPr>
          <p:spPr>
            <a:xfrm>
              <a:off x="8636678" y="4054974"/>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4</a:t>
              </a:r>
              <a:endParaRPr kumimoji="1" lang="zh-CN" altLang="en-US" sz="700" dirty="0">
                <a:solidFill>
                  <a:schemeClr val="accent4">
                    <a:lumMod val="20000"/>
                    <a:lumOff val="80000"/>
                  </a:schemeClr>
                </a:solidFill>
              </a:endParaRPr>
            </a:p>
          </p:txBody>
        </p:sp>
        <p:sp>
          <p:nvSpPr>
            <p:cNvPr id="246" name="文本框 245">
              <a:extLst>
                <a:ext uri="{FF2B5EF4-FFF2-40B4-BE49-F238E27FC236}">
                  <a16:creationId xmlns:a16="http://schemas.microsoft.com/office/drawing/2014/main" id="{00FDD102-310A-571E-7166-6F3F2E1966DB}"/>
                </a:ext>
              </a:extLst>
            </p:cNvPr>
            <p:cNvSpPr txBox="1"/>
            <p:nvPr/>
          </p:nvSpPr>
          <p:spPr>
            <a:xfrm>
              <a:off x="8085764" y="4233644"/>
              <a:ext cx="333335"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5</a:t>
              </a:r>
              <a:endParaRPr kumimoji="1" lang="zh-CN" altLang="en-US" sz="700" dirty="0">
                <a:solidFill>
                  <a:schemeClr val="accent4">
                    <a:lumMod val="20000"/>
                    <a:lumOff val="80000"/>
                  </a:schemeClr>
                </a:solidFill>
              </a:endParaRPr>
            </a:p>
          </p:txBody>
        </p:sp>
        <p:sp>
          <p:nvSpPr>
            <p:cNvPr id="247" name="文本框 246">
              <a:extLst>
                <a:ext uri="{FF2B5EF4-FFF2-40B4-BE49-F238E27FC236}">
                  <a16:creationId xmlns:a16="http://schemas.microsoft.com/office/drawing/2014/main" id="{39AFBFC0-AAF7-3D64-8DFF-7786D663E4EF}"/>
                </a:ext>
              </a:extLst>
            </p:cNvPr>
            <p:cNvSpPr txBox="1"/>
            <p:nvPr/>
          </p:nvSpPr>
          <p:spPr>
            <a:xfrm>
              <a:off x="8273574" y="4236647"/>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6</a:t>
              </a:r>
              <a:endParaRPr kumimoji="1" lang="zh-CN" altLang="en-US" sz="700" dirty="0">
                <a:solidFill>
                  <a:schemeClr val="accent4">
                    <a:lumMod val="20000"/>
                    <a:lumOff val="80000"/>
                  </a:schemeClr>
                </a:solidFill>
              </a:endParaRPr>
            </a:p>
          </p:txBody>
        </p:sp>
        <p:sp>
          <p:nvSpPr>
            <p:cNvPr id="248" name="文本框 247">
              <a:extLst>
                <a:ext uri="{FF2B5EF4-FFF2-40B4-BE49-F238E27FC236}">
                  <a16:creationId xmlns:a16="http://schemas.microsoft.com/office/drawing/2014/main" id="{ED9ABB81-EB07-F72D-C418-DF5F8A8B3740}"/>
                </a:ext>
              </a:extLst>
            </p:cNvPr>
            <p:cNvSpPr txBox="1"/>
            <p:nvPr/>
          </p:nvSpPr>
          <p:spPr>
            <a:xfrm>
              <a:off x="8462553" y="4235566"/>
              <a:ext cx="176706"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7</a:t>
              </a:r>
              <a:endParaRPr kumimoji="1" lang="zh-CN" altLang="en-US" sz="700" dirty="0">
                <a:solidFill>
                  <a:schemeClr val="accent4">
                    <a:lumMod val="20000"/>
                    <a:lumOff val="80000"/>
                  </a:schemeClr>
                </a:solidFill>
              </a:endParaRPr>
            </a:p>
          </p:txBody>
        </p:sp>
        <p:sp>
          <p:nvSpPr>
            <p:cNvPr id="249" name="文本框 248">
              <a:extLst>
                <a:ext uri="{FF2B5EF4-FFF2-40B4-BE49-F238E27FC236}">
                  <a16:creationId xmlns:a16="http://schemas.microsoft.com/office/drawing/2014/main" id="{611F1846-6AC6-D331-0961-E4DE48CC7E24}"/>
                </a:ext>
              </a:extLst>
            </p:cNvPr>
            <p:cNvSpPr txBox="1"/>
            <p:nvPr/>
          </p:nvSpPr>
          <p:spPr>
            <a:xfrm>
              <a:off x="8632437" y="4238893"/>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8</a:t>
              </a:r>
              <a:endParaRPr kumimoji="1" lang="zh-CN" altLang="en-US" sz="700" dirty="0">
                <a:solidFill>
                  <a:schemeClr val="accent4">
                    <a:lumMod val="20000"/>
                    <a:lumOff val="80000"/>
                  </a:schemeClr>
                </a:solidFill>
              </a:endParaRPr>
            </a:p>
          </p:txBody>
        </p:sp>
        <p:sp>
          <p:nvSpPr>
            <p:cNvPr id="250" name="文本框 249">
              <a:extLst>
                <a:ext uri="{FF2B5EF4-FFF2-40B4-BE49-F238E27FC236}">
                  <a16:creationId xmlns:a16="http://schemas.microsoft.com/office/drawing/2014/main" id="{D3ED7500-B34E-55C2-00F5-1C65ACABB748}"/>
                </a:ext>
              </a:extLst>
            </p:cNvPr>
            <p:cNvSpPr txBox="1"/>
            <p:nvPr/>
          </p:nvSpPr>
          <p:spPr>
            <a:xfrm>
              <a:off x="8092878" y="4411590"/>
              <a:ext cx="176706"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9</a:t>
              </a:r>
              <a:endParaRPr kumimoji="1" lang="zh-CN" altLang="en-US" sz="700" dirty="0">
                <a:solidFill>
                  <a:schemeClr val="accent4">
                    <a:lumMod val="20000"/>
                    <a:lumOff val="80000"/>
                  </a:schemeClr>
                </a:solidFill>
              </a:endParaRPr>
            </a:p>
          </p:txBody>
        </p:sp>
        <p:sp>
          <p:nvSpPr>
            <p:cNvPr id="251" name="文本框 250">
              <a:extLst>
                <a:ext uri="{FF2B5EF4-FFF2-40B4-BE49-F238E27FC236}">
                  <a16:creationId xmlns:a16="http://schemas.microsoft.com/office/drawing/2014/main" id="{F0E0CC7D-0A97-6F0E-C873-D095758B58EC}"/>
                </a:ext>
              </a:extLst>
            </p:cNvPr>
            <p:cNvSpPr txBox="1"/>
            <p:nvPr/>
          </p:nvSpPr>
          <p:spPr>
            <a:xfrm>
              <a:off x="8262762" y="4414917"/>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10</a:t>
              </a:r>
              <a:endParaRPr kumimoji="1" lang="zh-CN" altLang="en-US" sz="700" dirty="0">
                <a:solidFill>
                  <a:schemeClr val="accent4">
                    <a:lumMod val="20000"/>
                    <a:lumOff val="80000"/>
                  </a:schemeClr>
                </a:solidFill>
              </a:endParaRPr>
            </a:p>
          </p:txBody>
        </p:sp>
        <p:sp>
          <p:nvSpPr>
            <p:cNvPr id="252" name="文本框 251">
              <a:extLst>
                <a:ext uri="{FF2B5EF4-FFF2-40B4-BE49-F238E27FC236}">
                  <a16:creationId xmlns:a16="http://schemas.microsoft.com/office/drawing/2014/main" id="{377F1562-B673-652C-DCE0-B7C33761DD78}"/>
                </a:ext>
              </a:extLst>
            </p:cNvPr>
            <p:cNvSpPr txBox="1"/>
            <p:nvPr/>
          </p:nvSpPr>
          <p:spPr>
            <a:xfrm>
              <a:off x="8440241" y="4414239"/>
              <a:ext cx="308575"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11</a:t>
              </a:r>
              <a:endParaRPr kumimoji="1" lang="zh-CN" altLang="en-US" sz="700" dirty="0">
                <a:solidFill>
                  <a:schemeClr val="accent4">
                    <a:lumMod val="20000"/>
                    <a:lumOff val="80000"/>
                  </a:schemeClr>
                </a:solidFill>
              </a:endParaRPr>
            </a:p>
          </p:txBody>
        </p:sp>
        <p:sp>
          <p:nvSpPr>
            <p:cNvPr id="253" name="文本框 252">
              <a:extLst>
                <a:ext uri="{FF2B5EF4-FFF2-40B4-BE49-F238E27FC236}">
                  <a16:creationId xmlns:a16="http://schemas.microsoft.com/office/drawing/2014/main" id="{70B59492-AB50-E289-A6AC-7A348629F275}"/>
                </a:ext>
              </a:extLst>
            </p:cNvPr>
            <p:cNvSpPr txBox="1"/>
            <p:nvPr/>
          </p:nvSpPr>
          <p:spPr>
            <a:xfrm>
              <a:off x="8616101" y="4417566"/>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12</a:t>
              </a:r>
              <a:endParaRPr kumimoji="1" lang="zh-CN" altLang="en-US" sz="700" dirty="0">
                <a:solidFill>
                  <a:schemeClr val="accent4">
                    <a:lumMod val="20000"/>
                    <a:lumOff val="80000"/>
                  </a:schemeClr>
                </a:solidFill>
              </a:endParaRPr>
            </a:p>
          </p:txBody>
        </p:sp>
        <p:sp>
          <p:nvSpPr>
            <p:cNvPr id="254" name="文本框 253">
              <a:extLst>
                <a:ext uri="{FF2B5EF4-FFF2-40B4-BE49-F238E27FC236}">
                  <a16:creationId xmlns:a16="http://schemas.microsoft.com/office/drawing/2014/main" id="{8ECD170B-B5C7-630E-447A-86798DEC837C}"/>
                </a:ext>
              </a:extLst>
            </p:cNvPr>
            <p:cNvSpPr txBox="1"/>
            <p:nvPr/>
          </p:nvSpPr>
          <p:spPr>
            <a:xfrm>
              <a:off x="8065187" y="4596236"/>
              <a:ext cx="333335"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13</a:t>
              </a:r>
              <a:endParaRPr kumimoji="1" lang="zh-CN" altLang="en-US" sz="700" dirty="0">
                <a:solidFill>
                  <a:schemeClr val="accent4">
                    <a:lumMod val="20000"/>
                    <a:lumOff val="80000"/>
                  </a:schemeClr>
                </a:solidFill>
              </a:endParaRPr>
            </a:p>
          </p:txBody>
        </p:sp>
        <p:sp>
          <p:nvSpPr>
            <p:cNvPr id="255" name="文本框 254">
              <a:extLst>
                <a:ext uri="{FF2B5EF4-FFF2-40B4-BE49-F238E27FC236}">
                  <a16:creationId xmlns:a16="http://schemas.microsoft.com/office/drawing/2014/main" id="{855625AB-46E1-91BC-E271-6BFD28973599}"/>
                </a:ext>
              </a:extLst>
            </p:cNvPr>
            <p:cNvSpPr txBox="1"/>
            <p:nvPr/>
          </p:nvSpPr>
          <p:spPr>
            <a:xfrm>
              <a:off x="8258973" y="4593263"/>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14</a:t>
              </a:r>
              <a:endParaRPr kumimoji="1" lang="zh-CN" altLang="en-US" sz="700" dirty="0">
                <a:solidFill>
                  <a:schemeClr val="accent4">
                    <a:lumMod val="20000"/>
                    <a:lumOff val="80000"/>
                  </a:schemeClr>
                </a:solidFill>
              </a:endParaRPr>
            </a:p>
          </p:txBody>
        </p:sp>
        <p:sp>
          <p:nvSpPr>
            <p:cNvPr id="256" name="文本框 255">
              <a:extLst>
                <a:ext uri="{FF2B5EF4-FFF2-40B4-BE49-F238E27FC236}">
                  <a16:creationId xmlns:a16="http://schemas.microsoft.com/office/drawing/2014/main" id="{8ACBBD99-A190-60FE-F576-2399BF7BA380}"/>
                </a:ext>
              </a:extLst>
            </p:cNvPr>
            <p:cNvSpPr txBox="1"/>
            <p:nvPr/>
          </p:nvSpPr>
          <p:spPr>
            <a:xfrm>
              <a:off x="8435501" y="4597292"/>
              <a:ext cx="307673"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15</a:t>
              </a:r>
              <a:endParaRPr kumimoji="1" lang="zh-CN" altLang="en-US" sz="700" dirty="0">
                <a:solidFill>
                  <a:schemeClr val="accent4">
                    <a:lumMod val="20000"/>
                    <a:lumOff val="80000"/>
                  </a:schemeClr>
                </a:solidFill>
              </a:endParaRPr>
            </a:p>
          </p:txBody>
        </p:sp>
        <p:sp>
          <p:nvSpPr>
            <p:cNvPr id="257" name="文本框 256">
              <a:extLst>
                <a:ext uri="{FF2B5EF4-FFF2-40B4-BE49-F238E27FC236}">
                  <a16:creationId xmlns:a16="http://schemas.microsoft.com/office/drawing/2014/main" id="{B20AD1B2-B2D8-E179-4895-2289808B99AC}"/>
                </a:ext>
              </a:extLst>
            </p:cNvPr>
            <p:cNvSpPr txBox="1"/>
            <p:nvPr/>
          </p:nvSpPr>
          <p:spPr>
            <a:xfrm>
              <a:off x="8617836" y="4601485"/>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16</a:t>
              </a:r>
              <a:endParaRPr kumimoji="1" lang="zh-CN" altLang="en-US" sz="700" dirty="0">
                <a:solidFill>
                  <a:schemeClr val="accent4">
                    <a:lumMod val="20000"/>
                    <a:lumOff val="80000"/>
                  </a:schemeClr>
                </a:solidFill>
              </a:endParaRPr>
            </a:p>
          </p:txBody>
        </p:sp>
        <p:sp>
          <p:nvSpPr>
            <p:cNvPr id="258" name="矩形 257">
              <a:extLst>
                <a:ext uri="{FF2B5EF4-FFF2-40B4-BE49-F238E27FC236}">
                  <a16:creationId xmlns:a16="http://schemas.microsoft.com/office/drawing/2014/main" id="{28F0BB65-E443-2082-ACE7-F5E6831C1BB4}"/>
                </a:ext>
              </a:extLst>
            </p:cNvPr>
            <p:cNvSpPr/>
            <p:nvPr/>
          </p:nvSpPr>
          <p:spPr>
            <a:xfrm>
              <a:off x="9266565" y="4066153"/>
              <a:ext cx="720879" cy="716273"/>
            </a:xfrm>
            <a:prstGeom prst="rect">
              <a:avLst/>
            </a:prstGeom>
            <a:noFill/>
            <a:ln w="285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59" name="矩形 258">
              <a:extLst>
                <a:ext uri="{FF2B5EF4-FFF2-40B4-BE49-F238E27FC236}">
                  <a16:creationId xmlns:a16="http://schemas.microsoft.com/office/drawing/2014/main" id="{996BABB2-58AC-646B-8460-7B1313807D70}"/>
                </a:ext>
              </a:extLst>
            </p:cNvPr>
            <p:cNvSpPr/>
            <p:nvPr/>
          </p:nvSpPr>
          <p:spPr>
            <a:xfrm>
              <a:off x="9290810" y="4089344"/>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60" name="矩形 259">
              <a:extLst>
                <a:ext uri="{FF2B5EF4-FFF2-40B4-BE49-F238E27FC236}">
                  <a16:creationId xmlns:a16="http://schemas.microsoft.com/office/drawing/2014/main" id="{DE1BD959-C53C-43FE-5B3E-5E8FA489FC8C}"/>
                </a:ext>
              </a:extLst>
            </p:cNvPr>
            <p:cNvSpPr/>
            <p:nvPr/>
          </p:nvSpPr>
          <p:spPr>
            <a:xfrm>
              <a:off x="9471138" y="4088970"/>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61" name="矩形 260">
              <a:extLst>
                <a:ext uri="{FF2B5EF4-FFF2-40B4-BE49-F238E27FC236}">
                  <a16:creationId xmlns:a16="http://schemas.microsoft.com/office/drawing/2014/main" id="{64F89DD6-90CF-1BA7-F39B-467B8C172F22}"/>
                </a:ext>
              </a:extLst>
            </p:cNvPr>
            <p:cNvSpPr/>
            <p:nvPr/>
          </p:nvSpPr>
          <p:spPr>
            <a:xfrm>
              <a:off x="9645753" y="4088970"/>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62" name="矩形 261">
              <a:extLst>
                <a:ext uri="{FF2B5EF4-FFF2-40B4-BE49-F238E27FC236}">
                  <a16:creationId xmlns:a16="http://schemas.microsoft.com/office/drawing/2014/main" id="{E07E01A2-D4E7-647B-415E-8835E5F0D91C}"/>
                </a:ext>
              </a:extLst>
            </p:cNvPr>
            <p:cNvSpPr/>
            <p:nvPr/>
          </p:nvSpPr>
          <p:spPr>
            <a:xfrm>
              <a:off x="9818369" y="4088970"/>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63" name="矩形 262">
              <a:extLst>
                <a:ext uri="{FF2B5EF4-FFF2-40B4-BE49-F238E27FC236}">
                  <a16:creationId xmlns:a16="http://schemas.microsoft.com/office/drawing/2014/main" id="{05ED3282-C8F3-E91F-E67F-85B0C84CCF16}"/>
                </a:ext>
              </a:extLst>
            </p:cNvPr>
            <p:cNvSpPr/>
            <p:nvPr/>
          </p:nvSpPr>
          <p:spPr>
            <a:xfrm>
              <a:off x="9290194" y="4263146"/>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64" name="矩形 263">
              <a:extLst>
                <a:ext uri="{FF2B5EF4-FFF2-40B4-BE49-F238E27FC236}">
                  <a16:creationId xmlns:a16="http://schemas.microsoft.com/office/drawing/2014/main" id="{99496BA0-AB45-A916-78E0-3B86E85AA3FF}"/>
                </a:ext>
              </a:extLst>
            </p:cNvPr>
            <p:cNvSpPr/>
            <p:nvPr/>
          </p:nvSpPr>
          <p:spPr>
            <a:xfrm>
              <a:off x="9471139" y="4269994"/>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65" name="矩形 264">
              <a:extLst>
                <a:ext uri="{FF2B5EF4-FFF2-40B4-BE49-F238E27FC236}">
                  <a16:creationId xmlns:a16="http://schemas.microsoft.com/office/drawing/2014/main" id="{88FBFFD7-9B7A-472E-4A74-CDDE69FBF132}"/>
                </a:ext>
              </a:extLst>
            </p:cNvPr>
            <p:cNvSpPr/>
            <p:nvPr/>
          </p:nvSpPr>
          <p:spPr>
            <a:xfrm>
              <a:off x="9642217" y="4269994"/>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66" name="矩形 265">
              <a:extLst>
                <a:ext uri="{FF2B5EF4-FFF2-40B4-BE49-F238E27FC236}">
                  <a16:creationId xmlns:a16="http://schemas.microsoft.com/office/drawing/2014/main" id="{52885E1C-54DD-92D8-6FF4-F2A291754140}"/>
                </a:ext>
              </a:extLst>
            </p:cNvPr>
            <p:cNvSpPr/>
            <p:nvPr/>
          </p:nvSpPr>
          <p:spPr>
            <a:xfrm>
              <a:off x="9814742" y="4263624"/>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67" name="矩形 266">
              <a:extLst>
                <a:ext uri="{FF2B5EF4-FFF2-40B4-BE49-F238E27FC236}">
                  <a16:creationId xmlns:a16="http://schemas.microsoft.com/office/drawing/2014/main" id="{D927DD74-5CCB-F1EF-17C1-CA26D3191062}"/>
                </a:ext>
              </a:extLst>
            </p:cNvPr>
            <p:cNvSpPr/>
            <p:nvPr/>
          </p:nvSpPr>
          <p:spPr>
            <a:xfrm>
              <a:off x="9290194" y="4438458"/>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68" name="矩形 267">
              <a:extLst>
                <a:ext uri="{FF2B5EF4-FFF2-40B4-BE49-F238E27FC236}">
                  <a16:creationId xmlns:a16="http://schemas.microsoft.com/office/drawing/2014/main" id="{6FFC9E27-8450-BC9D-12D5-631CCED906FF}"/>
                </a:ext>
              </a:extLst>
            </p:cNvPr>
            <p:cNvSpPr/>
            <p:nvPr/>
          </p:nvSpPr>
          <p:spPr>
            <a:xfrm>
              <a:off x="9471123" y="4438458"/>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69" name="矩形 268">
              <a:extLst>
                <a:ext uri="{FF2B5EF4-FFF2-40B4-BE49-F238E27FC236}">
                  <a16:creationId xmlns:a16="http://schemas.microsoft.com/office/drawing/2014/main" id="{92878127-8D7D-A463-ED6D-59DDAA3A017D}"/>
                </a:ext>
              </a:extLst>
            </p:cNvPr>
            <p:cNvSpPr/>
            <p:nvPr/>
          </p:nvSpPr>
          <p:spPr>
            <a:xfrm>
              <a:off x="9643827" y="4438458"/>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70" name="矩形 269">
              <a:extLst>
                <a:ext uri="{FF2B5EF4-FFF2-40B4-BE49-F238E27FC236}">
                  <a16:creationId xmlns:a16="http://schemas.microsoft.com/office/drawing/2014/main" id="{6511DBCA-3B1E-A7DC-8D8C-A6E5C585A234}"/>
                </a:ext>
              </a:extLst>
            </p:cNvPr>
            <p:cNvSpPr/>
            <p:nvPr/>
          </p:nvSpPr>
          <p:spPr>
            <a:xfrm>
              <a:off x="9811881" y="4438458"/>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71" name="矩形 270">
              <a:extLst>
                <a:ext uri="{FF2B5EF4-FFF2-40B4-BE49-F238E27FC236}">
                  <a16:creationId xmlns:a16="http://schemas.microsoft.com/office/drawing/2014/main" id="{C056D3FB-A973-DFAE-FF55-45A62166B931}"/>
                </a:ext>
              </a:extLst>
            </p:cNvPr>
            <p:cNvSpPr/>
            <p:nvPr/>
          </p:nvSpPr>
          <p:spPr>
            <a:xfrm>
              <a:off x="9290194" y="4614079"/>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72" name="矩形 271">
              <a:extLst>
                <a:ext uri="{FF2B5EF4-FFF2-40B4-BE49-F238E27FC236}">
                  <a16:creationId xmlns:a16="http://schemas.microsoft.com/office/drawing/2014/main" id="{40A6C49F-F47A-EDB9-93BE-2698C2371724}"/>
                </a:ext>
              </a:extLst>
            </p:cNvPr>
            <p:cNvSpPr/>
            <p:nvPr/>
          </p:nvSpPr>
          <p:spPr>
            <a:xfrm>
              <a:off x="9471139" y="4614079"/>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73" name="矩形 272">
              <a:extLst>
                <a:ext uri="{FF2B5EF4-FFF2-40B4-BE49-F238E27FC236}">
                  <a16:creationId xmlns:a16="http://schemas.microsoft.com/office/drawing/2014/main" id="{E03DD1F5-BA83-FC7C-F02F-66976A27B7EF}"/>
                </a:ext>
              </a:extLst>
            </p:cNvPr>
            <p:cNvSpPr/>
            <p:nvPr/>
          </p:nvSpPr>
          <p:spPr>
            <a:xfrm>
              <a:off x="9641524" y="4614079"/>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74" name="矩形 273">
              <a:extLst>
                <a:ext uri="{FF2B5EF4-FFF2-40B4-BE49-F238E27FC236}">
                  <a16:creationId xmlns:a16="http://schemas.microsoft.com/office/drawing/2014/main" id="{6BFC8D04-E10C-D41B-C133-549B1A952A9D}"/>
                </a:ext>
              </a:extLst>
            </p:cNvPr>
            <p:cNvSpPr/>
            <p:nvPr/>
          </p:nvSpPr>
          <p:spPr>
            <a:xfrm>
              <a:off x="9814742" y="4614079"/>
              <a:ext cx="156521" cy="15713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275" name="直线箭头连接符 274">
              <a:extLst>
                <a:ext uri="{FF2B5EF4-FFF2-40B4-BE49-F238E27FC236}">
                  <a16:creationId xmlns:a16="http://schemas.microsoft.com/office/drawing/2014/main" id="{ADC7818E-E8DB-8759-3E12-33100ACB050F}"/>
                </a:ext>
              </a:extLst>
            </p:cNvPr>
            <p:cNvCxnSpPr>
              <a:cxnSpLocks/>
            </p:cNvCxnSpPr>
            <p:nvPr/>
          </p:nvCxnSpPr>
          <p:spPr>
            <a:xfrm>
              <a:off x="8861003" y="4420756"/>
              <a:ext cx="40848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6" name="文本框 275">
              <a:extLst>
                <a:ext uri="{FF2B5EF4-FFF2-40B4-BE49-F238E27FC236}">
                  <a16:creationId xmlns:a16="http://schemas.microsoft.com/office/drawing/2014/main" id="{EFA8A84F-C9C4-3319-3EBD-925D0ECF6FB6}"/>
                </a:ext>
              </a:extLst>
            </p:cNvPr>
            <p:cNvSpPr txBox="1"/>
            <p:nvPr/>
          </p:nvSpPr>
          <p:spPr>
            <a:xfrm>
              <a:off x="9253228" y="4048998"/>
              <a:ext cx="176706"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9</a:t>
              </a:r>
              <a:endParaRPr kumimoji="1" lang="zh-CN" altLang="en-US" sz="700" dirty="0">
                <a:solidFill>
                  <a:schemeClr val="accent4">
                    <a:lumMod val="20000"/>
                    <a:lumOff val="80000"/>
                  </a:schemeClr>
                </a:solidFill>
              </a:endParaRPr>
            </a:p>
          </p:txBody>
        </p:sp>
        <p:sp>
          <p:nvSpPr>
            <p:cNvPr id="277" name="文本框 276">
              <a:extLst>
                <a:ext uri="{FF2B5EF4-FFF2-40B4-BE49-F238E27FC236}">
                  <a16:creationId xmlns:a16="http://schemas.microsoft.com/office/drawing/2014/main" id="{99BDAEB5-4088-D528-F8B1-6834A6A56FBE}"/>
                </a:ext>
              </a:extLst>
            </p:cNvPr>
            <p:cNvSpPr txBox="1"/>
            <p:nvPr/>
          </p:nvSpPr>
          <p:spPr>
            <a:xfrm>
              <a:off x="9405184" y="4046349"/>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14</a:t>
              </a:r>
              <a:endParaRPr kumimoji="1" lang="zh-CN" altLang="en-US" sz="700" dirty="0">
                <a:solidFill>
                  <a:schemeClr val="accent4">
                    <a:lumMod val="20000"/>
                    <a:lumOff val="80000"/>
                  </a:schemeClr>
                </a:solidFill>
              </a:endParaRPr>
            </a:p>
          </p:txBody>
        </p:sp>
        <p:sp>
          <p:nvSpPr>
            <p:cNvPr id="278" name="文本框 277">
              <a:extLst>
                <a:ext uri="{FF2B5EF4-FFF2-40B4-BE49-F238E27FC236}">
                  <a16:creationId xmlns:a16="http://schemas.microsoft.com/office/drawing/2014/main" id="{A976BBAC-86C6-C52E-5F27-0E585AD16119}"/>
                </a:ext>
              </a:extLst>
            </p:cNvPr>
            <p:cNvSpPr txBox="1"/>
            <p:nvPr/>
          </p:nvSpPr>
          <p:spPr>
            <a:xfrm>
              <a:off x="9618519" y="4045671"/>
              <a:ext cx="176706"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3</a:t>
              </a:r>
              <a:endParaRPr kumimoji="1" lang="zh-CN" altLang="en-US" sz="700" dirty="0">
                <a:solidFill>
                  <a:schemeClr val="accent4">
                    <a:lumMod val="20000"/>
                    <a:lumOff val="80000"/>
                  </a:schemeClr>
                </a:solidFill>
              </a:endParaRPr>
            </a:p>
          </p:txBody>
        </p:sp>
        <p:sp>
          <p:nvSpPr>
            <p:cNvPr id="279" name="文本框 278">
              <a:extLst>
                <a:ext uri="{FF2B5EF4-FFF2-40B4-BE49-F238E27FC236}">
                  <a16:creationId xmlns:a16="http://schemas.microsoft.com/office/drawing/2014/main" id="{3B5D3C66-70A0-2179-F0EC-D3461CBB13BC}"/>
                </a:ext>
              </a:extLst>
            </p:cNvPr>
            <p:cNvSpPr txBox="1"/>
            <p:nvPr/>
          </p:nvSpPr>
          <p:spPr>
            <a:xfrm>
              <a:off x="9794379" y="4054974"/>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8</a:t>
              </a:r>
              <a:endParaRPr kumimoji="1" lang="zh-CN" altLang="en-US" sz="700" dirty="0">
                <a:solidFill>
                  <a:schemeClr val="accent4">
                    <a:lumMod val="20000"/>
                    <a:lumOff val="80000"/>
                  </a:schemeClr>
                </a:solidFill>
              </a:endParaRPr>
            </a:p>
          </p:txBody>
        </p:sp>
        <p:sp>
          <p:nvSpPr>
            <p:cNvPr id="280" name="文本框 279">
              <a:extLst>
                <a:ext uri="{FF2B5EF4-FFF2-40B4-BE49-F238E27FC236}">
                  <a16:creationId xmlns:a16="http://schemas.microsoft.com/office/drawing/2014/main" id="{E87683DB-ED59-0E96-A6A1-71175CB79EBA}"/>
                </a:ext>
              </a:extLst>
            </p:cNvPr>
            <p:cNvSpPr txBox="1"/>
            <p:nvPr/>
          </p:nvSpPr>
          <p:spPr>
            <a:xfrm>
              <a:off x="9231513" y="4233644"/>
              <a:ext cx="333335"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10</a:t>
              </a:r>
              <a:endParaRPr kumimoji="1" lang="zh-CN" altLang="en-US" sz="700" dirty="0">
                <a:solidFill>
                  <a:schemeClr val="accent4">
                    <a:lumMod val="20000"/>
                    <a:lumOff val="80000"/>
                  </a:schemeClr>
                </a:solidFill>
              </a:endParaRPr>
            </a:p>
          </p:txBody>
        </p:sp>
        <p:sp>
          <p:nvSpPr>
            <p:cNvPr id="281" name="文本框 280">
              <a:extLst>
                <a:ext uri="{FF2B5EF4-FFF2-40B4-BE49-F238E27FC236}">
                  <a16:creationId xmlns:a16="http://schemas.microsoft.com/office/drawing/2014/main" id="{E39D84B4-31AE-F254-20E4-E9290A614D68}"/>
                </a:ext>
              </a:extLst>
            </p:cNvPr>
            <p:cNvSpPr txBox="1"/>
            <p:nvPr/>
          </p:nvSpPr>
          <p:spPr>
            <a:xfrm>
              <a:off x="9431275" y="4236647"/>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7</a:t>
              </a:r>
              <a:endParaRPr kumimoji="1" lang="zh-CN" altLang="en-US" sz="700" dirty="0">
                <a:solidFill>
                  <a:schemeClr val="accent4">
                    <a:lumMod val="20000"/>
                    <a:lumOff val="80000"/>
                  </a:schemeClr>
                </a:solidFill>
              </a:endParaRPr>
            </a:p>
          </p:txBody>
        </p:sp>
        <p:sp>
          <p:nvSpPr>
            <p:cNvPr id="282" name="文本框 281">
              <a:extLst>
                <a:ext uri="{FF2B5EF4-FFF2-40B4-BE49-F238E27FC236}">
                  <a16:creationId xmlns:a16="http://schemas.microsoft.com/office/drawing/2014/main" id="{666EA36A-6305-A5DE-0CED-CF47E629C145}"/>
                </a:ext>
              </a:extLst>
            </p:cNvPr>
            <p:cNvSpPr txBox="1"/>
            <p:nvPr/>
          </p:nvSpPr>
          <p:spPr>
            <a:xfrm>
              <a:off x="9620254" y="4235566"/>
              <a:ext cx="176706"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5</a:t>
              </a:r>
              <a:endParaRPr kumimoji="1" lang="zh-CN" altLang="en-US" sz="700" dirty="0">
                <a:solidFill>
                  <a:schemeClr val="accent4">
                    <a:lumMod val="20000"/>
                    <a:lumOff val="80000"/>
                  </a:schemeClr>
                </a:solidFill>
              </a:endParaRPr>
            </a:p>
          </p:txBody>
        </p:sp>
        <p:sp>
          <p:nvSpPr>
            <p:cNvPr id="283" name="文本框 282">
              <a:extLst>
                <a:ext uri="{FF2B5EF4-FFF2-40B4-BE49-F238E27FC236}">
                  <a16:creationId xmlns:a16="http://schemas.microsoft.com/office/drawing/2014/main" id="{FC417813-CF52-63CD-CEAA-408FCDF9D3A9}"/>
                </a:ext>
              </a:extLst>
            </p:cNvPr>
            <p:cNvSpPr txBox="1"/>
            <p:nvPr/>
          </p:nvSpPr>
          <p:spPr>
            <a:xfrm>
              <a:off x="9766234" y="4238893"/>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13</a:t>
              </a:r>
              <a:endParaRPr kumimoji="1" lang="zh-CN" altLang="en-US" sz="700" dirty="0">
                <a:solidFill>
                  <a:schemeClr val="accent4">
                    <a:lumMod val="20000"/>
                    <a:lumOff val="80000"/>
                  </a:schemeClr>
                </a:solidFill>
              </a:endParaRPr>
            </a:p>
          </p:txBody>
        </p:sp>
        <p:sp>
          <p:nvSpPr>
            <p:cNvPr id="284" name="文本框 283">
              <a:extLst>
                <a:ext uri="{FF2B5EF4-FFF2-40B4-BE49-F238E27FC236}">
                  <a16:creationId xmlns:a16="http://schemas.microsoft.com/office/drawing/2014/main" id="{523AF8E7-6DD0-D40A-DF88-82B63433CADE}"/>
                </a:ext>
              </a:extLst>
            </p:cNvPr>
            <p:cNvSpPr txBox="1"/>
            <p:nvPr/>
          </p:nvSpPr>
          <p:spPr>
            <a:xfrm>
              <a:off x="9244603" y="4411590"/>
              <a:ext cx="176706"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4</a:t>
              </a:r>
              <a:endParaRPr kumimoji="1" lang="zh-CN" altLang="en-US" sz="700" dirty="0">
                <a:solidFill>
                  <a:schemeClr val="accent4">
                    <a:lumMod val="20000"/>
                    <a:lumOff val="80000"/>
                  </a:schemeClr>
                </a:solidFill>
              </a:endParaRPr>
            </a:p>
          </p:txBody>
        </p:sp>
        <p:sp>
          <p:nvSpPr>
            <p:cNvPr id="285" name="文本框 284">
              <a:extLst>
                <a:ext uri="{FF2B5EF4-FFF2-40B4-BE49-F238E27FC236}">
                  <a16:creationId xmlns:a16="http://schemas.microsoft.com/office/drawing/2014/main" id="{8980D746-1626-13D1-45A7-003D9CBEC8FE}"/>
                </a:ext>
              </a:extLst>
            </p:cNvPr>
            <p:cNvSpPr txBox="1"/>
            <p:nvPr/>
          </p:nvSpPr>
          <p:spPr>
            <a:xfrm>
              <a:off x="9426439" y="4414917"/>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2</a:t>
              </a:r>
              <a:endParaRPr kumimoji="1" lang="zh-CN" altLang="en-US" sz="700" dirty="0">
                <a:solidFill>
                  <a:schemeClr val="accent4">
                    <a:lumMod val="20000"/>
                    <a:lumOff val="80000"/>
                  </a:schemeClr>
                </a:solidFill>
              </a:endParaRPr>
            </a:p>
          </p:txBody>
        </p:sp>
        <p:sp>
          <p:nvSpPr>
            <p:cNvPr id="286" name="文本框 285">
              <a:extLst>
                <a:ext uri="{FF2B5EF4-FFF2-40B4-BE49-F238E27FC236}">
                  <a16:creationId xmlns:a16="http://schemas.microsoft.com/office/drawing/2014/main" id="{8DC1E4BC-D18C-B898-048D-D10F8A176FC2}"/>
                </a:ext>
              </a:extLst>
            </p:cNvPr>
            <p:cNvSpPr txBox="1"/>
            <p:nvPr/>
          </p:nvSpPr>
          <p:spPr>
            <a:xfrm>
              <a:off x="9597942" y="4414239"/>
              <a:ext cx="308575"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15</a:t>
              </a:r>
              <a:endParaRPr kumimoji="1" lang="zh-CN" altLang="en-US" sz="700" dirty="0">
                <a:solidFill>
                  <a:schemeClr val="accent4">
                    <a:lumMod val="20000"/>
                    <a:lumOff val="80000"/>
                  </a:schemeClr>
                </a:solidFill>
              </a:endParaRPr>
            </a:p>
          </p:txBody>
        </p:sp>
        <p:sp>
          <p:nvSpPr>
            <p:cNvPr id="287" name="文本框 286">
              <a:extLst>
                <a:ext uri="{FF2B5EF4-FFF2-40B4-BE49-F238E27FC236}">
                  <a16:creationId xmlns:a16="http://schemas.microsoft.com/office/drawing/2014/main" id="{72141D9B-1801-1D4E-0829-8401E36DBAA0}"/>
                </a:ext>
              </a:extLst>
            </p:cNvPr>
            <p:cNvSpPr txBox="1"/>
            <p:nvPr/>
          </p:nvSpPr>
          <p:spPr>
            <a:xfrm>
              <a:off x="9761850" y="4417566"/>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16</a:t>
              </a:r>
              <a:endParaRPr kumimoji="1" lang="zh-CN" altLang="en-US" sz="700" dirty="0">
                <a:solidFill>
                  <a:schemeClr val="accent4">
                    <a:lumMod val="20000"/>
                    <a:lumOff val="80000"/>
                  </a:schemeClr>
                </a:solidFill>
              </a:endParaRPr>
            </a:p>
          </p:txBody>
        </p:sp>
        <p:sp>
          <p:nvSpPr>
            <p:cNvPr id="288" name="文本框 287">
              <a:extLst>
                <a:ext uri="{FF2B5EF4-FFF2-40B4-BE49-F238E27FC236}">
                  <a16:creationId xmlns:a16="http://schemas.microsoft.com/office/drawing/2014/main" id="{9FECBB8F-E159-A11E-7E7B-64D94E57DE11}"/>
                </a:ext>
              </a:extLst>
            </p:cNvPr>
            <p:cNvSpPr txBox="1"/>
            <p:nvPr/>
          </p:nvSpPr>
          <p:spPr>
            <a:xfrm>
              <a:off x="9222888" y="4596236"/>
              <a:ext cx="333335"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16</a:t>
              </a:r>
              <a:endParaRPr kumimoji="1" lang="zh-CN" altLang="en-US" sz="700" dirty="0">
                <a:solidFill>
                  <a:schemeClr val="accent4">
                    <a:lumMod val="20000"/>
                    <a:lumOff val="80000"/>
                  </a:schemeClr>
                </a:solidFill>
              </a:endParaRPr>
            </a:p>
          </p:txBody>
        </p:sp>
        <p:sp>
          <p:nvSpPr>
            <p:cNvPr id="289" name="文本框 288">
              <a:extLst>
                <a:ext uri="{FF2B5EF4-FFF2-40B4-BE49-F238E27FC236}">
                  <a16:creationId xmlns:a16="http://schemas.microsoft.com/office/drawing/2014/main" id="{20401B8C-166D-7BDD-051D-2C553B614B29}"/>
                </a:ext>
              </a:extLst>
            </p:cNvPr>
            <p:cNvSpPr txBox="1"/>
            <p:nvPr/>
          </p:nvSpPr>
          <p:spPr>
            <a:xfrm>
              <a:off x="9422650" y="4599239"/>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a:t>
              </a:r>
              <a:endParaRPr kumimoji="1" lang="zh-CN" altLang="en-US" sz="700" dirty="0">
                <a:solidFill>
                  <a:schemeClr val="accent4">
                    <a:lumMod val="20000"/>
                    <a:lumOff val="80000"/>
                  </a:schemeClr>
                </a:solidFill>
              </a:endParaRPr>
            </a:p>
          </p:txBody>
        </p:sp>
        <p:sp>
          <p:nvSpPr>
            <p:cNvPr id="290" name="文本框 289">
              <a:extLst>
                <a:ext uri="{FF2B5EF4-FFF2-40B4-BE49-F238E27FC236}">
                  <a16:creationId xmlns:a16="http://schemas.microsoft.com/office/drawing/2014/main" id="{9235F521-5E78-1F21-DB4F-ED667307B862}"/>
                </a:ext>
              </a:extLst>
            </p:cNvPr>
            <p:cNvSpPr txBox="1"/>
            <p:nvPr/>
          </p:nvSpPr>
          <p:spPr>
            <a:xfrm>
              <a:off x="9599178" y="4603268"/>
              <a:ext cx="307673"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11</a:t>
              </a:r>
              <a:endParaRPr kumimoji="1" lang="zh-CN" altLang="en-US" sz="700" dirty="0">
                <a:solidFill>
                  <a:schemeClr val="accent4">
                    <a:lumMod val="20000"/>
                    <a:lumOff val="80000"/>
                  </a:schemeClr>
                </a:solidFill>
              </a:endParaRPr>
            </a:p>
          </p:txBody>
        </p:sp>
        <p:sp>
          <p:nvSpPr>
            <p:cNvPr id="291" name="文本框 290">
              <a:extLst>
                <a:ext uri="{FF2B5EF4-FFF2-40B4-BE49-F238E27FC236}">
                  <a16:creationId xmlns:a16="http://schemas.microsoft.com/office/drawing/2014/main" id="{D73BAD83-7068-AA3D-814C-4BF87E5220E3}"/>
                </a:ext>
              </a:extLst>
            </p:cNvPr>
            <p:cNvSpPr txBox="1"/>
            <p:nvPr/>
          </p:nvSpPr>
          <p:spPr>
            <a:xfrm>
              <a:off x="9763585" y="4601485"/>
              <a:ext cx="318407" cy="200055"/>
            </a:xfrm>
            <a:prstGeom prst="rect">
              <a:avLst/>
            </a:prstGeom>
            <a:noFill/>
          </p:spPr>
          <p:txBody>
            <a:bodyPr wrap="square" rtlCol="0">
              <a:spAutoFit/>
            </a:bodyPr>
            <a:lstStyle/>
            <a:p>
              <a:r>
                <a:rPr kumimoji="1" lang="en-US" altLang="zh-CN" sz="700" dirty="0">
                  <a:solidFill>
                    <a:schemeClr val="accent4">
                      <a:lumMod val="20000"/>
                      <a:lumOff val="80000"/>
                    </a:schemeClr>
                  </a:solidFill>
                </a:rPr>
                <a:t>12</a:t>
              </a:r>
              <a:endParaRPr kumimoji="1" lang="zh-CN" altLang="en-US" sz="700" dirty="0">
                <a:solidFill>
                  <a:schemeClr val="accent4">
                    <a:lumMod val="20000"/>
                    <a:lumOff val="80000"/>
                  </a:schemeClr>
                </a:solidFill>
              </a:endParaRPr>
            </a:p>
          </p:txBody>
        </p:sp>
        <p:sp>
          <p:nvSpPr>
            <p:cNvPr id="292" name="文本框 291">
              <a:extLst>
                <a:ext uri="{FF2B5EF4-FFF2-40B4-BE49-F238E27FC236}">
                  <a16:creationId xmlns:a16="http://schemas.microsoft.com/office/drawing/2014/main" id="{1E8D17FA-78D0-EA5C-E2FC-8276F80EFD4B}"/>
                </a:ext>
              </a:extLst>
            </p:cNvPr>
            <p:cNvSpPr txBox="1"/>
            <p:nvPr/>
          </p:nvSpPr>
          <p:spPr>
            <a:xfrm>
              <a:off x="8776143" y="4182491"/>
              <a:ext cx="562975" cy="246221"/>
            </a:xfrm>
            <a:prstGeom prst="rect">
              <a:avLst/>
            </a:prstGeom>
            <a:noFill/>
          </p:spPr>
          <p:txBody>
            <a:bodyPr wrap="none" rtlCol="0">
              <a:spAutoFit/>
            </a:bodyPr>
            <a:lstStyle/>
            <a:p>
              <a:r>
                <a:rPr kumimoji="1" lang="en-US" altLang="zh-CN" sz="1000" dirty="0">
                  <a:latin typeface="Times New Roman" panose="02020603050405020304" pitchFamily="18" charset="0"/>
                  <a:cs typeface="Times New Roman" panose="02020603050405020304" pitchFamily="18" charset="0"/>
                </a:rPr>
                <a:t>Shuffle</a:t>
              </a:r>
              <a:endParaRPr kumimoji="1" lang="zh-CN" altLang="en-US" sz="1000" dirty="0">
                <a:latin typeface="Times New Roman" panose="02020603050405020304" pitchFamily="18" charset="0"/>
                <a:cs typeface="Times New Roman" panose="02020603050405020304" pitchFamily="18" charset="0"/>
              </a:endParaRPr>
            </a:p>
          </p:txBody>
        </p:sp>
        <p:cxnSp>
          <p:nvCxnSpPr>
            <p:cNvPr id="293" name="直线箭头连接符 292">
              <a:extLst>
                <a:ext uri="{FF2B5EF4-FFF2-40B4-BE49-F238E27FC236}">
                  <a16:creationId xmlns:a16="http://schemas.microsoft.com/office/drawing/2014/main" id="{5C21F7AB-F1F9-F8C6-E625-EA739D6B380C}"/>
                </a:ext>
              </a:extLst>
            </p:cNvPr>
            <p:cNvCxnSpPr>
              <a:cxnSpLocks/>
              <a:stCxn id="298" idx="3"/>
            </p:cNvCxnSpPr>
            <p:nvPr/>
          </p:nvCxnSpPr>
          <p:spPr>
            <a:xfrm>
              <a:off x="9811657" y="2867701"/>
              <a:ext cx="274577" cy="2920"/>
            </a:xfrm>
            <a:prstGeom prst="straightConnector1">
              <a:avLst/>
            </a:prstGeom>
            <a:ln w="190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294" name="图片 293">
              <a:extLst>
                <a:ext uri="{FF2B5EF4-FFF2-40B4-BE49-F238E27FC236}">
                  <a16:creationId xmlns:a16="http://schemas.microsoft.com/office/drawing/2014/main" id="{54A749D7-DF9D-1D41-6252-F523E6810997}"/>
                </a:ext>
              </a:extLst>
            </p:cNvPr>
            <p:cNvPicPr>
              <a:picLocks noChangeAspect="1"/>
            </p:cNvPicPr>
            <p:nvPr/>
          </p:nvPicPr>
          <p:blipFill>
            <a:blip r:embed="rId13"/>
            <a:stretch>
              <a:fillRect/>
            </a:stretch>
          </p:blipFill>
          <p:spPr>
            <a:xfrm>
              <a:off x="6792720" y="3956939"/>
              <a:ext cx="969540" cy="909302"/>
            </a:xfrm>
            <a:prstGeom prst="rect">
              <a:avLst/>
            </a:prstGeom>
          </p:spPr>
        </p:pic>
        <p:sp>
          <p:nvSpPr>
            <p:cNvPr id="295" name="文本框 294">
              <a:extLst>
                <a:ext uri="{FF2B5EF4-FFF2-40B4-BE49-F238E27FC236}">
                  <a16:creationId xmlns:a16="http://schemas.microsoft.com/office/drawing/2014/main" id="{42782850-3DA9-6F5A-CAED-884119DD8139}"/>
                </a:ext>
              </a:extLst>
            </p:cNvPr>
            <p:cNvSpPr txBox="1"/>
            <p:nvPr/>
          </p:nvSpPr>
          <p:spPr>
            <a:xfrm>
              <a:off x="7838996" y="2102047"/>
              <a:ext cx="1226247" cy="430887"/>
            </a:xfrm>
            <a:prstGeom prst="rect">
              <a:avLst/>
            </a:prstGeom>
            <a:noFill/>
          </p:spPr>
          <p:txBody>
            <a:bodyPr wrap="square" rtlCol="0">
              <a:spAutoFit/>
            </a:bodyPr>
            <a:lstStyle/>
            <a:p>
              <a:pPr algn="ctr"/>
              <a:r>
                <a:rPr kumimoji="1" lang="en-US" altLang="zh-CN" sz="1100" dirty="0">
                  <a:latin typeface="Times New Roman" panose="02020603050405020304" pitchFamily="18" charset="0"/>
                  <a:cs typeface="Times New Roman" panose="02020603050405020304" pitchFamily="18" charset="0"/>
                </a:rPr>
                <a:t>Patch embeddings</a:t>
              </a:r>
              <a:r>
                <a:rPr kumimoji="1" lang="zh-CN" altLang="en-US" sz="1100" dirty="0">
                  <a:latin typeface="Times New Roman" panose="02020603050405020304" pitchFamily="18" charset="0"/>
                  <a:cs typeface="Times New Roman" panose="02020603050405020304" pitchFamily="18" charset="0"/>
                </a:rPr>
                <a:t> </a:t>
              </a:r>
              <a:r>
                <a:rPr kumimoji="1" lang="en-US" altLang="zh-CN" sz="1100" dirty="0">
                  <a:latin typeface="Times New Roman" panose="02020603050405020304" pitchFamily="18" charset="0"/>
                  <a:cs typeface="Times New Roman" panose="02020603050405020304" pitchFamily="18" charset="0"/>
                </a:rPr>
                <a:t>from student</a:t>
              </a:r>
              <a:endParaRPr kumimoji="1" lang="zh-CN" altLang="en-US" sz="1100" dirty="0">
                <a:latin typeface="Times New Roman" panose="02020603050405020304" pitchFamily="18" charset="0"/>
                <a:cs typeface="Times New Roman" panose="02020603050405020304" pitchFamily="18" charset="0"/>
              </a:endParaRPr>
            </a:p>
          </p:txBody>
        </p:sp>
        <p:sp>
          <p:nvSpPr>
            <p:cNvPr id="296" name="文本框 295">
              <a:extLst>
                <a:ext uri="{FF2B5EF4-FFF2-40B4-BE49-F238E27FC236}">
                  <a16:creationId xmlns:a16="http://schemas.microsoft.com/office/drawing/2014/main" id="{9552F44B-56F3-486C-9057-7DFA0F7F772A}"/>
                </a:ext>
              </a:extLst>
            </p:cNvPr>
            <p:cNvSpPr txBox="1"/>
            <p:nvPr/>
          </p:nvSpPr>
          <p:spPr>
            <a:xfrm>
              <a:off x="7896622" y="3668962"/>
              <a:ext cx="1226247" cy="430887"/>
            </a:xfrm>
            <a:prstGeom prst="rect">
              <a:avLst/>
            </a:prstGeom>
            <a:noFill/>
          </p:spPr>
          <p:txBody>
            <a:bodyPr wrap="square" rtlCol="0">
              <a:spAutoFit/>
            </a:bodyPr>
            <a:lstStyle/>
            <a:p>
              <a:pPr algn="ctr"/>
              <a:r>
                <a:rPr kumimoji="1" lang="en-US" altLang="zh-CN" sz="1100" dirty="0">
                  <a:latin typeface="Times New Roman" panose="02020603050405020304" pitchFamily="18" charset="0"/>
                  <a:cs typeface="Times New Roman" panose="02020603050405020304" pitchFamily="18" charset="0"/>
                </a:rPr>
                <a:t>Patch embeddings</a:t>
              </a:r>
              <a:r>
                <a:rPr kumimoji="1" lang="zh-CN" altLang="en-US" sz="1100" dirty="0">
                  <a:latin typeface="Times New Roman" panose="02020603050405020304" pitchFamily="18" charset="0"/>
                  <a:cs typeface="Times New Roman" panose="02020603050405020304" pitchFamily="18" charset="0"/>
                </a:rPr>
                <a:t> </a:t>
              </a:r>
              <a:r>
                <a:rPr kumimoji="1" lang="en-US" altLang="zh-CN" sz="1100" dirty="0">
                  <a:latin typeface="Times New Roman" panose="02020603050405020304" pitchFamily="18" charset="0"/>
                  <a:cs typeface="Times New Roman" panose="02020603050405020304" pitchFamily="18" charset="0"/>
                </a:rPr>
                <a:t>from teacher</a:t>
              </a:r>
              <a:endParaRPr kumimoji="1" lang="zh-CN" altLang="en-US" sz="1100" dirty="0">
                <a:latin typeface="Times New Roman" panose="02020603050405020304" pitchFamily="18" charset="0"/>
                <a:cs typeface="Times New Roman" panose="02020603050405020304" pitchFamily="18" charset="0"/>
              </a:endParaRPr>
            </a:p>
          </p:txBody>
        </p:sp>
        <p:sp>
          <p:nvSpPr>
            <p:cNvPr id="297" name="矩形 296">
              <a:extLst>
                <a:ext uri="{FF2B5EF4-FFF2-40B4-BE49-F238E27FC236}">
                  <a16:creationId xmlns:a16="http://schemas.microsoft.com/office/drawing/2014/main" id="{9CB4FCA3-8698-06D5-CB7C-B49075552AA4}"/>
                </a:ext>
              </a:extLst>
            </p:cNvPr>
            <p:cNvSpPr/>
            <p:nvPr/>
          </p:nvSpPr>
          <p:spPr>
            <a:xfrm>
              <a:off x="9122869" y="2740692"/>
              <a:ext cx="642985" cy="264202"/>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8" name="文本框 297">
              <a:extLst>
                <a:ext uri="{FF2B5EF4-FFF2-40B4-BE49-F238E27FC236}">
                  <a16:creationId xmlns:a16="http://schemas.microsoft.com/office/drawing/2014/main" id="{A20E9E4D-F6E0-2A0D-B9BA-36F52CBDB45A}"/>
                </a:ext>
              </a:extLst>
            </p:cNvPr>
            <p:cNvSpPr txBox="1"/>
            <p:nvPr/>
          </p:nvSpPr>
          <p:spPr>
            <a:xfrm>
              <a:off x="9107181" y="2729201"/>
              <a:ext cx="704476"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Head #2</a:t>
              </a:r>
              <a:endParaRPr kumimoji="1" lang="zh-CN" altLang="en-US" sz="1200" dirty="0">
                <a:latin typeface="Times New Roman" panose="02020603050405020304" pitchFamily="18" charset="0"/>
                <a:cs typeface="Times New Roman" panose="02020603050405020304" pitchFamily="18" charset="0"/>
              </a:endParaRPr>
            </a:p>
          </p:txBody>
        </p:sp>
        <p:cxnSp>
          <p:nvCxnSpPr>
            <p:cNvPr id="299" name="肘形连接符 298">
              <a:extLst>
                <a:ext uri="{FF2B5EF4-FFF2-40B4-BE49-F238E27FC236}">
                  <a16:creationId xmlns:a16="http://schemas.microsoft.com/office/drawing/2014/main" id="{5B06CC03-7A56-CC59-6D7A-0722BCE736E8}"/>
                </a:ext>
              </a:extLst>
            </p:cNvPr>
            <p:cNvCxnSpPr>
              <a:cxnSpLocks/>
              <a:stCxn id="240" idx="2"/>
              <a:endCxn id="304" idx="0"/>
            </p:cNvCxnSpPr>
            <p:nvPr/>
          </p:nvCxnSpPr>
          <p:spPr>
            <a:xfrm rot="16200000" flipH="1">
              <a:off x="9119810" y="2708980"/>
              <a:ext cx="990218" cy="2077080"/>
            </a:xfrm>
            <a:prstGeom prst="bentConnector3">
              <a:avLst>
                <a:gd name="adj1" fmla="val 34609"/>
              </a:avLst>
            </a:prstGeom>
            <a:ln w="190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0" name="直线箭头连接符 299">
              <a:extLst>
                <a:ext uri="{FF2B5EF4-FFF2-40B4-BE49-F238E27FC236}">
                  <a16:creationId xmlns:a16="http://schemas.microsoft.com/office/drawing/2014/main" id="{B592DD84-0EAA-F375-509E-FA9BC652CB13}"/>
                </a:ext>
              </a:extLst>
            </p:cNvPr>
            <p:cNvCxnSpPr>
              <a:cxnSpLocks/>
            </p:cNvCxnSpPr>
            <p:nvPr/>
          </p:nvCxnSpPr>
          <p:spPr>
            <a:xfrm flipV="1">
              <a:off x="9925437" y="4440560"/>
              <a:ext cx="272036" cy="5582"/>
            </a:xfrm>
            <a:prstGeom prst="straightConnector1">
              <a:avLst/>
            </a:prstGeom>
            <a:ln w="190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01" name="矩形 300">
              <a:extLst>
                <a:ext uri="{FF2B5EF4-FFF2-40B4-BE49-F238E27FC236}">
                  <a16:creationId xmlns:a16="http://schemas.microsoft.com/office/drawing/2014/main" id="{8844AD83-830C-07C7-F5A3-C63870B38B32}"/>
                </a:ext>
              </a:extLst>
            </p:cNvPr>
            <p:cNvSpPr/>
            <p:nvPr/>
          </p:nvSpPr>
          <p:spPr>
            <a:xfrm>
              <a:off x="10092611" y="2682951"/>
              <a:ext cx="953565" cy="3607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02" name="文本框 301">
                  <a:extLst>
                    <a:ext uri="{FF2B5EF4-FFF2-40B4-BE49-F238E27FC236}">
                      <a16:creationId xmlns:a16="http://schemas.microsoft.com/office/drawing/2014/main" id="{9E107BE0-7C41-38CD-0B50-57C98AD3E4EE}"/>
                    </a:ext>
                  </a:extLst>
                </p:cNvPr>
                <p:cNvSpPr txBox="1"/>
                <p:nvPr/>
              </p:nvSpPr>
              <p:spPr>
                <a:xfrm>
                  <a:off x="10040318" y="2698486"/>
                  <a:ext cx="103726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400" i="1" smtClean="0">
                                <a:solidFill>
                                  <a:schemeClr val="bg1"/>
                                </a:solidFill>
                                <a:latin typeface="Cambria Math" panose="02040503050406030204" pitchFamily="18" charset="0"/>
                              </a:rPr>
                            </m:ctrlPr>
                          </m:sSubPr>
                          <m:e>
                            <m:r>
                              <a:rPr kumimoji="1" lang="en-US" altLang="zh-CN" sz="1400" i="1" smtClean="0">
                                <a:solidFill>
                                  <a:schemeClr val="bg1"/>
                                </a:solidFill>
                                <a:latin typeface="Cambria Math" panose="02040503050406030204" pitchFamily="18" charset="0"/>
                                <a:ea typeface="Cambria Math" panose="02040503050406030204" pitchFamily="18" charset="0"/>
                              </a:rPr>
                              <m:t>ℒ</m:t>
                            </m:r>
                          </m:e>
                          <m:sub>
                            <m:r>
                              <a:rPr kumimoji="1" lang="en-US" altLang="zh-CN" sz="1400" b="0" i="1" smtClean="0">
                                <a:solidFill>
                                  <a:schemeClr val="bg1"/>
                                </a:solidFill>
                                <a:latin typeface="Cambria Math" panose="02040503050406030204" pitchFamily="18" charset="0"/>
                                <a:ea typeface="Cambria Math" panose="02040503050406030204" pitchFamily="18" charset="0"/>
                              </a:rPr>
                              <m:t>𝑜𝑟𝑑𝑒𝑟</m:t>
                            </m:r>
                          </m:sub>
                        </m:sSub>
                      </m:oMath>
                    </m:oMathPara>
                  </a14:m>
                  <a:endParaRPr kumimoji="1" lang="zh-CN" altLang="en-US" sz="1400" dirty="0">
                    <a:solidFill>
                      <a:schemeClr val="bg1"/>
                    </a:solidFill>
                  </a:endParaRPr>
                </a:p>
              </p:txBody>
            </p:sp>
          </mc:Choice>
          <mc:Fallback>
            <p:sp>
              <p:nvSpPr>
                <p:cNvPr id="302" name="文本框 301">
                  <a:extLst>
                    <a:ext uri="{FF2B5EF4-FFF2-40B4-BE49-F238E27FC236}">
                      <a16:creationId xmlns:a16="http://schemas.microsoft.com/office/drawing/2014/main" id="{9E107BE0-7C41-38CD-0B50-57C98AD3E4EE}"/>
                    </a:ext>
                  </a:extLst>
                </p:cNvPr>
                <p:cNvSpPr txBox="1">
                  <a:spLocks noRot="1" noChangeAspect="1" noMove="1" noResize="1" noEditPoints="1" noAdjustHandles="1" noChangeArrowheads="1" noChangeShapeType="1" noTextEdit="1"/>
                </p:cNvSpPr>
                <p:nvPr/>
              </p:nvSpPr>
              <p:spPr>
                <a:xfrm>
                  <a:off x="10040318" y="2698486"/>
                  <a:ext cx="1037267" cy="307777"/>
                </a:xfrm>
                <a:prstGeom prst="rect">
                  <a:avLst/>
                </a:prstGeom>
                <a:blipFill>
                  <a:blip r:embed="rId14"/>
                  <a:stretch>
                    <a:fillRect/>
                  </a:stretch>
                </a:blipFill>
              </p:spPr>
              <p:txBody>
                <a:bodyPr/>
                <a:lstStyle/>
                <a:p>
                  <a:r>
                    <a:rPr lang="zh-CN" altLang="en-US">
                      <a:noFill/>
                    </a:rPr>
                    <a:t> </a:t>
                  </a:r>
                </a:p>
              </p:txBody>
            </p:sp>
          </mc:Fallback>
        </mc:AlternateContent>
        <p:sp>
          <p:nvSpPr>
            <p:cNvPr id="303" name="矩形 302">
              <a:extLst>
                <a:ext uri="{FF2B5EF4-FFF2-40B4-BE49-F238E27FC236}">
                  <a16:creationId xmlns:a16="http://schemas.microsoft.com/office/drawing/2014/main" id="{5E8F1E59-F392-4358-7D5E-6CC342E93342}"/>
                </a:ext>
              </a:extLst>
            </p:cNvPr>
            <p:cNvSpPr/>
            <p:nvPr/>
          </p:nvSpPr>
          <p:spPr>
            <a:xfrm>
              <a:off x="10187118" y="4227094"/>
              <a:ext cx="953565" cy="3607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04" name="文本框 303">
                  <a:extLst>
                    <a:ext uri="{FF2B5EF4-FFF2-40B4-BE49-F238E27FC236}">
                      <a16:creationId xmlns:a16="http://schemas.microsoft.com/office/drawing/2014/main" id="{F4ED3D2D-4FCA-A294-2A06-13CDEF11AA1B}"/>
                    </a:ext>
                  </a:extLst>
                </p:cNvPr>
                <p:cNvSpPr txBox="1"/>
                <p:nvPr/>
              </p:nvSpPr>
              <p:spPr>
                <a:xfrm>
                  <a:off x="10134825" y="4242629"/>
                  <a:ext cx="103726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400" i="1" smtClean="0">
                                <a:solidFill>
                                  <a:schemeClr val="bg1"/>
                                </a:solidFill>
                                <a:latin typeface="Cambria Math" panose="02040503050406030204" pitchFamily="18" charset="0"/>
                              </a:rPr>
                            </m:ctrlPr>
                          </m:sSubPr>
                          <m:e>
                            <m:r>
                              <a:rPr kumimoji="1" lang="en-US" altLang="zh-CN" sz="1400" i="1" smtClean="0">
                                <a:solidFill>
                                  <a:schemeClr val="bg1"/>
                                </a:solidFill>
                                <a:latin typeface="Cambria Math" panose="02040503050406030204" pitchFamily="18" charset="0"/>
                                <a:ea typeface="Cambria Math" panose="02040503050406030204" pitchFamily="18" charset="0"/>
                              </a:rPr>
                              <m:t>ℒ</m:t>
                            </m:r>
                          </m:e>
                          <m:sub>
                            <m:r>
                              <a:rPr kumimoji="1" lang="en-US" altLang="zh-CN" sz="1400" b="0" i="1" smtClean="0">
                                <a:solidFill>
                                  <a:schemeClr val="bg1"/>
                                </a:solidFill>
                                <a:latin typeface="Cambria Math" panose="02040503050406030204" pitchFamily="18" charset="0"/>
                                <a:ea typeface="Cambria Math" panose="02040503050406030204" pitchFamily="18" charset="0"/>
                              </a:rPr>
                              <m:t>𝑐𝑜𝑛𝑠𝑖𝑠</m:t>
                            </m:r>
                          </m:sub>
                        </m:sSub>
                      </m:oMath>
                    </m:oMathPara>
                  </a14:m>
                  <a:endParaRPr kumimoji="1" lang="zh-CN" altLang="en-US" sz="1400" dirty="0">
                    <a:solidFill>
                      <a:schemeClr val="bg1"/>
                    </a:solidFill>
                  </a:endParaRPr>
                </a:p>
              </p:txBody>
            </p:sp>
          </mc:Choice>
          <mc:Fallback>
            <p:sp>
              <p:nvSpPr>
                <p:cNvPr id="304" name="文本框 303">
                  <a:extLst>
                    <a:ext uri="{FF2B5EF4-FFF2-40B4-BE49-F238E27FC236}">
                      <a16:creationId xmlns:a16="http://schemas.microsoft.com/office/drawing/2014/main" id="{F4ED3D2D-4FCA-A294-2A06-13CDEF11AA1B}"/>
                    </a:ext>
                  </a:extLst>
                </p:cNvPr>
                <p:cNvSpPr txBox="1">
                  <a:spLocks noRot="1" noChangeAspect="1" noMove="1" noResize="1" noEditPoints="1" noAdjustHandles="1" noChangeArrowheads="1" noChangeShapeType="1" noTextEdit="1"/>
                </p:cNvSpPr>
                <p:nvPr/>
              </p:nvSpPr>
              <p:spPr>
                <a:xfrm>
                  <a:off x="10134825" y="4242629"/>
                  <a:ext cx="1037267" cy="307777"/>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5" name="文本框 57">
                  <a:extLst>
                    <a:ext uri="{FF2B5EF4-FFF2-40B4-BE49-F238E27FC236}">
                      <a16:creationId xmlns:a16="http://schemas.microsoft.com/office/drawing/2014/main" id="{86E6AC08-DD9B-79B3-DE92-95879F51EE2E}"/>
                    </a:ext>
                  </a:extLst>
                </p:cNvPr>
                <p:cNvSpPr txBox="1"/>
                <p:nvPr/>
              </p:nvSpPr>
              <p:spPr>
                <a:xfrm>
                  <a:off x="6739861" y="3678364"/>
                  <a:ext cx="290628"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CN" sz="1400" b="1" i="1" smtClean="0">
                                <a:solidFill>
                                  <a:schemeClr val="tx1"/>
                                </a:solidFill>
                                <a:latin typeface="Cambria Math" panose="02040503050406030204" pitchFamily="18" charset="0"/>
                                <a:cs typeface="Times New Roman" panose="02020603050405020304" pitchFamily="18" charset="0"/>
                              </a:rPr>
                            </m:ctrlPr>
                          </m:sSubPr>
                          <m:e>
                            <m:r>
                              <a:rPr lang="en-US" altLang="zh-CN" sz="1400" b="1" i="1" smtClean="0">
                                <a:solidFill>
                                  <a:schemeClr val="tx1"/>
                                </a:solidFill>
                                <a:latin typeface="Cambria Math" panose="02040503050406030204" pitchFamily="18" charset="0"/>
                                <a:cs typeface="Times New Roman" panose="02020603050405020304" pitchFamily="18" charset="0"/>
                              </a:rPr>
                              <m:t>𝑪</m:t>
                            </m:r>
                          </m:e>
                          <m:sub>
                            <m:r>
                              <a:rPr lang="en-US" altLang="zh-CN" sz="1400" b="1" i="1" smtClean="0">
                                <a:solidFill>
                                  <a:schemeClr val="tx1"/>
                                </a:solidFill>
                                <a:latin typeface="Cambria Math" panose="02040503050406030204" pitchFamily="18" charset="0"/>
                                <a:cs typeface="Times New Roman" panose="02020603050405020304" pitchFamily="18" charset="0"/>
                              </a:rPr>
                              <m:t>𝟏</m:t>
                            </m:r>
                          </m:sub>
                        </m:sSub>
                      </m:oMath>
                    </m:oMathPara>
                  </a14:m>
                  <a:endParaRPr lang="zh-CN" altLang="en-US" sz="1400" b="1" dirty="0">
                    <a:solidFill>
                      <a:schemeClr val="tx1"/>
                    </a:solidFill>
                    <a:latin typeface="Times New Roman" panose="02020603050405020304" pitchFamily="18" charset="0"/>
                    <a:cs typeface="Times New Roman" panose="02020603050405020304" pitchFamily="18" charset="0"/>
                  </a:endParaRPr>
                </a:p>
              </p:txBody>
            </p:sp>
          </mc:Choice>
          <mc:Fallback>
            <p:sp>
              <p:nvSpPr>
                <p:cNvPr id="305" name="文本框 57">
                  <a:extLst>
                    <a:ext uri="{FF2B5EF4-FFF2-40B4-BE49-F238E27FC236}">
                      <a16:creationId xmlns:a16="http://schemas.microsoft.com/office/drawing/2014/main" id="{86E6AC08-DD9B-79B3-DE92-95879F51EE2E}"/>
                    </a:ext>
                  </a:extLst>
                </p:cNvPr>
                <p:cNvSpPr txBox="1">
                  <a:spLocks noRot="1" noChangeAspect="1" noMove="1" noResize="1" noEditPoints="1" noAdjustHandles="1" noChangeArrowheads="1" noChangeShapeType="1" noTextEdit="1"/>
                </p:cNvSpPr>
                <p:nvPr/>
              </p:nvSpPr>
              <p:spPr>
                <a:xfrm>
                  <a:off x="6739861" y="3678364"/>
                  <a:ext cx="290628" cy="307777"/>
                </a:xfrm>
                <a:prstGeom prst="rect">
                  <a:avLst/>
                </a:prstGeom>
                <a:blipFill>
                  <a:blip r:embed="rId16"/>
                  <a:stretch>
                    <a:fillRect r="-12500"/>
                  </a:stretch>
                </a:blipFill>
              </p:spPr>
              <p:txBody>
                <a:bodyPr/>
                <a:lstStyle/>
                <a:p>
                  <a:r>
                    <a:rPr lang="zh-CN" altLang="en-US">
                      <a:noFill/>
                    </a:rPr>
                    <a:t> </a:t>
                  </a:r>
                </a:p>
              </p:txBody>
            </p:sp>
          </mc:Fallback>
        </mc:AlternateContent>
      </p:grpSp>
      <p:pic>
        <p:nvPicPr>
          <p:cNvPr id="343" name="音频 342">
            <a:extLst>
              <a:ext uri="{FF2B5EF4-FFF2-40B4-BE49-F238E27FC236}">
                <a16:creationId xmlns:a16="http://schemas.microsoft.com/office/drawing/2014/main" id="{D2557AA1-9E0C-1895-2B86-5EC9F9905992}"/>
              </a:ext>
            </a:extLst>
          </p:cNvPr>
          <p:cNvPicPr>
            <a:picLocks noChangeAspect="1"/>
          </p:cNvPicPr>
          <p:nvPr>
            <a:audioFile r:link="rId3"/>
            <p:extLst>
              <p:ext uri="{DAA4B4D4-6D71-4841-9C94-3DE7FCFB9230}">
                <p14:media xmlns:p14="http://schemas.microsoft.com/office/powerpoint/2010/main" r:embed="rId2"/>
              </p:ext>
            </p:extLst>
          </p:nvPr>
        </p:nvPicPr>
        <p:blipFill>
          <a:blip r:embed="rId17"/>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536075006"/>
      </p:ext>
    </p:extLst>
  </p:cSld>
  <p:clrMapOvr>
    <a:masterClrMapping/>
  </p:clrMapOvr>
  <mc:AlternateContent xmlns:mc="http://schemas.openxmlformats.org/markup-compatibility/2006">
    <mc:Choice xmlns:p14="http://schemas.microsoft.com/office/powerpoint/2010/main" Requires="p14">
      <p:transition spd="slow" p14:dur="2000" advTm="74327"/>
    </mc:Choice>
    <mc:Fallback>
      <p:transition spd="slow" advTm="743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343"/>
                </p:tgtEl>
              </p:cMediaNode>
            </p:audio>
          </p:childTnLst>
        </p:cTn>
      </p:par>
    </p:tnLst>
    <p:bldLst>
      <p:bldP spid="186" grpId="0"/>
      <p:bldP spid="18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5F71C7A-28AF-06C5-F2CF-D30E447B3017}"/>
              </a:ext>
            </a:extLst>
          </p:cNvPr>
          <p:cNvSpPr txBox="1"/>
          <p:nvPr/>
        </p:nvSpPr>
        <p:spPr>
          <a:xfrm>
            <a:off x="271484" y="94892"/>
            <a:ext cx="3945937" cy="584775"/>
          </a:xfrm>
          <a:prstGeom prst="rect">
            <a:avLst/>
          </a:prstGeom>
          <a:noFill/>
        </p:spPr>
        <p:txBody>
          <a:bodyPr wrap="square" rtlCol="0">
            <a:spAutoFit/>
          </a:bodyPr>
          <a:lstStyle/>
          <a:p>
            <a:r>
              <a:rPr lang="en-US" altLang="zh-CN" sz="3200" b="1" dirty="0"/>
              <a:t>Method</a:t>
            </a:r>
            <a:endParaRPr lang="zh-CN" altLang="en-US" sz="3200" b="1" dirty="0"/>
          </a:p>
        </p:txBody>
      </p:sp>
      <p:cxnSp>
        <p:nvCxnSpPr>
          <p:cNvPr id="4" name="Straight Connector 2">
            <a:extLst>
              <a:ext uri="{FF2B5EF4-FFF2-40B4-BE49-F238E27FC236}">
                <a16:creationId xmlns:a16="http://schemas.microsoft.com/office/drawing/2014/main" id="{CF3CABD3-CC70-6BCF-99AA-01E7DD1079B8}"/>
              </a:ext>
            </a:extLst>
          </p:cNvPr>
          <p:cNvCxnSpPr/>
          <p:nvPr/>
        </p:nvCxnSpPr>
        <p:spPr>
          <a:xfrm flipH="1">
            <a:off x="0" y="679667"/>
            <a:ext cx="121920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86" name="文本框 185">
            <a:extLst>
              <a:ext uri="{FF2B5EF4-FFF2-40B4-BE49-F238E27FC236}">
                <a16:creationId xmlns:a16="http://schemas.microsoft.com/office/drawing/2014/main" id="{F52C302F-1935-B093-DF50-08B27BA8012C}"/>
              </a:ext>
            </a:extLst>
          </p:cNvPr>
          <p:cNvSpPr txBox="1"/>
          <p:nvPr/>
        </p:nvSpPr>
        <p:spPr>
          <a:xfrm>
            <a:off x="360594" y="1093007"/>
            <a:ext cx="8699429" cy="369332"/>
          </a:xfrm>
          <a:prstGeom prst="rect">
            <a:avLst/>
          </a:prstGeom>
          <a:noFill/>
        </p:spPr>
        <p:txBody>
          <a:bodyPr wrap="square">
            <a:spAutoFit/>
          </a:bodyPr>
          <a:lstStyle/>
          <a:p>
            <a:r>
              <a:rPr kumimoji="1" lang="en-US" altLang="zh-CN" sz="1800" b="1" dirty="0">
                <a:latin typeface="Times New Roman" panose="02020603050405020304" pitchFamily="18" charset="0"/>
                <a:cs typeface="Times New Roman" panose="02020603050405020304" pitchFamily="18" charset="0"/>
              </a:rPr>
              <a:t>Perspective #3</a:t>
            </a:r>
            <a:r>
              <a:rPr kumimoji="1" lang="en-US" altLang="zh-CN" sz="1800" dirty="0">
                <a:latin typeface="Times New Roman" panose="02020603050405020304" pitchFamily="18" charset="0"/>
                <a:cs typeface="Times New Roman" panose="02020603050405020304" pitchFamily="18" charset="0"/>
              </a:rPr>
              <a:t>: learning hierarchy from composition/decomposition</a:t>
            </a:r>
            <a:endParaRPr lang="zh-CN" altLang="en-US" dirty="0"/>
          </a:p>
        </p:txBody>
      </p:sp>
      <p:grpSp>
        <p:nvGrpSpPr>
          <p:cNvPr id="91" name="组合 90">
            <a:extLst>
              <a:ext uri="{FF2B5EF4-FFF2-40B4-BE49-F238E27FC236}">
                <a16:creationId xmlns:a16="http://schemas.microsoft.com/office/drawing/2014/main" id="{74B33143-B07F-255C-398D-D7D420C6FCD3}"/>
              </a:ext>
            </a:extLst>
          </p:cNvPr>
          <p:cNvGrpSpPr/>
          <p:nvPr/>
        </p:nvGrpSpPr>
        <p:grpSpPr>
          <a:xfrm>
            <a:off x="1294641" y="1967434"/>
            <a:ext cx="7074917" cy="3304362"/>
            <a:chOff x="1294642" y="1967434"/>
            <a:chExt cx="5964798" cy="2800895"/>
          </a:xfrm>
        </p:grpSpPr>
        <p:sp>
          <p:nvSpPr>
            <p:cNvPr id="2" name="矩形 1">
              <a:extLst>
                <a:ext uri="{FF2B5EF4-FFF2-40B4-BE49-F238E27FC236}">
                  <a16:creationId xmlns:a16="http://schemas.microsoft.com/office/drawing/2014/main" id="{A63984EE-752D-0B1B-A538-6919EBE47CD2}"/>
                </a:ext>
              </a:extLst>
            </p:cNvPr>
            <p:cNvSpPr/>
            <p:nvPr/>
          </p:nvSpPr>
          <p:spPr>
            <a:xfrm>
              <a:off x="1294642" y="1967434"/>
              <a:ext cx="1136939" cy="2800895"/>
            </a:xfrm>
            <a:prstGeom prst="rect">
              <a:avLst/>
            </a:prstGeom>
            <a:noFill/>
            <a:ln w="19050">
              <a:solidFill>
                <a:schemeClr val="bg1">
                  <a:lumMod val="8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8FC9378E-0C49-1EA9-3E88-B72425E73925}"/>
                </a:ext>
              </a:extLst>
            </p:cNvPr>
            <p:cNvSpPr/>
            <p:nvPr/>
          </p:nvSpPr>
          <p:spPr>
            <a:xfrm>
              <a:off x="3892771" y="2015800"/>
              <a:ext cx="3366669" cy="126486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8" name="矩形 7">
              <a:extLst>
                <a:ext uri="{FF2B5EF4-FFF2-40B4-BE49-F238E27FC236}">
                  <a16:creationId xmlns:a16="http://schemas.microsoft.com/office/drawing/2014/main" id="{FD8530AE-78D1-1E78-4227-91550B63DA4F}"/>
                </a:ext>
              </a:extLst>
            </p:cNvPr>
            <p:cNvSpPr/>
            <p:nvPr/>
          </p:nvSpPr>
          <p:spPr>
            <a:xfrm>
              <a:off x="6189306" y="2012209"/>
              <a:ext cx="1070134" cy="258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100" dirty="0">
                  <a:latin typeface="Times New Roman" panose="02020603050405020304" pitchFamily="18" charset="0"/>
                  <a:cs typeface="Times New Roman" panose="02020603050405020304" pitchFamily="18" charset="0"/>
                </a:rPr>
                <a:t>Composition</a:t>
              </a:r>
              <a:endParaRPr kumimoji="1" lang="zh-CN" altLang="en-US" sz="1100" dirty="0">
                <a:latin typeface="Times New Roman" panose="02020603050405020304" pitchFamily="18" charset="0"/>
                <a:cs typeface="Times New Roman" panose="02020603050405020304" pitchFamily="18" charset="0"/>
              </a:endParaRPr>
            </a:p>
          </p:txBody>
        </p:sp>
        <p:sp>
          <p:nvSpPr>
            <p:cNvPr id="9" name="立方体 8">
              <a:extLst>
                <a:ext uri="{FF2B5EF4-FFF2-40B4-BE49-F238E27FC236}">
                  <a16:creationId xmlns:a16="http://schemas.microsoft.com/office/drawing/2014/main" id="{83C2A5E1-BE00-5D1E-7AE5-96D53F7FBC39}"/>
                </a:ext>
              </a:extLst>
            </p:cNvPr>
            <p:cNvSpPr/>
            <p:nvPr/>
          </p:nvSpPr>
          <p:spPr>
            <a:xfrm>
              <a:off x="4065218" y="2122205"/>
              <a:ext cx="288000" cy="288000"/>
            </a:xfrm>
            <a:prstGeom prst="cube">
              <a:avLst>
                <a:gd name="adj" fmla="val 77584"/>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立方体 10">
              <a:extLst>
                <a:ext uri="{FF2B5EF4-FFF2-40B4-BE49-F238E27FC236}">
                  <a16:creationId xmlns:a16="http://schemas.microsoft.com/office/drawing/2014/main" id="{B75B2CF3-F25B-4FDC-8A49-9D410A4AFA8E}"/>
                </a:ext>
              </a:extLst>
            </p:cNvPr>
            <p:cNvSpPr/>
            <p:nvPr/>
          </p:nvSpPr>
          <p:spPr>
            <a:xfrm>
              <a:off x="4065218" y="2281170"/>
              <a:ext cx="288000" cy="288000"/>
            </a:xfrm>
            <a:prstGeom prst="cube">
              <a:avLst>
                <a:gd name="adj" fmla="val 77584"/>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mc:Choice xmlns:a14="http://schemas.microsoft.com/office/drawing/2010/main" Requires="a14">
            <p:sp>
              <p:nvSpPr>
                <p:cNvPr id="12" name="文本框 8">
                  <a:extLst>
                    <a:ext uri="{FF2B5EF4-FFF2-40B4-BE49-F238E27FC236}">
                      <a16:creationId xmlns:a16="http://schemas.microsoft.com/office/drawing/2014/main" id="{3E551C45-979F-7444-BA0C-BB99CB3821D9}"/>
                    </a:ext>
                  </a:extLst>
                </p:cNvPr>
                <p:cNvSpPr txBox="1"/>
                <p:nvPr/>
              </p:nvSpPr>
              <p:spPr>
                <a:xfrm>
                  <a:off x="3836800" y="2192161"/>
                  <a:ext cx="274665" cy="22602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CN" sz="800" i="1" smtClean="0">
                                <a:solidFill>
                                  <a:schemeClr val="tx1"/>
                                </a:solidFill>
                                <a:latin typeface="Cambria Math" panose="02040503050406030204" pitchFamily="18" charset="0"/>
                                <a:cs typeface="Times New Roman" panose="02020603050405020304" pitchFamily="18" charset="0"/>
                              </a:rPr>
                            </m:ctrlPr>
                          </m:sSubPr>
                          <m:e>
                            <m:r>
                              <a:rPr lang="en-US" altLang="zh-CN" sz="800" b="1" i="1" smtClean="0">
                                <a:solidFill>
                                  <a:schemeClr val="tx1"/>
                                </a:solidFill>
                                <a:latin typeface="Cambria Math" panose="02040503050406030204" pitchFamily="18" charset="0"/>
                                <a:cs typeface="Times New Roman" panose="02020603050405020304" pitchFamily="18" charset="0"/>
                              </a:rPr>
                              <m:t>𝒆</m:t>
                            </m:r>
                          </m:e>
                          <m:sub>
                            <m:sSub>
                              <m:sSubPr>
                                <m:ctrlPr>
                                  <a:rPr lang="en-US" altLang="zh-CN" sz="800" i="1" smtClean="0">
                                    <a:solidFill>
                                      <a:schemeClr val="tx1"/>
                                    </a:solidFill>
                                    <a:latin typeface="Cambria Math" panose="02040503050406030204" pitchFamily="18" charset="0"/>
                                    <a:cs typeface="Times New Roman" panose="02020603050405020304" pitchFamily="18" charset="0"/>
                                  </a:rPr>
                                </m:ctrlPr>
                              </m:sSubPr>
                              <m:e>
                                <m:r>
                                  <a:rPr lang="en-US" altLang="zh-CN" sz="800" b="0" i="1" smtClean="0">
                                    <a:solidFill>
                                      <a:schemeClr val="tx1"/>
                                    </a:solidFill>
                                    <a:latin typeface="Cambria Math" panose="02040503050406030204" pitchFamily="18" charset="0"/>
                                    <a:cs typeface="Times New Roman" panose="02020603050405020304" pitchFamily="18" charset="0"/>
                                  </a:rPr>
                                  <m:t>𝑠</m:t>
                                </m:r>
                              </m:e>
                              <m:sub>
                                <m:r>
                                  <a:rPr lang="en-US" altLang="zh-CN" sz="800" b="0" i="1" smtClean="0">
                                    <a:solidFill>
                                      <a:schemeClr val="tx1"/>
                                    </a:solidFill>
                                    <a:latin typeface="Cambria Math" panose="02040503050406030204" pitchFamily="18" charset="0"/>
                                    <a:cs typeface="Times New Roman" panose="02020603050405020304" pitchFamily="18" charset="0"/>
                                  </a:rPr>
                                  <m:t>1</m:t>
                                </m:r>
                              </m:sub>
                            </m:sSub>
                          </m:sub>
                        </m:sSub>
                      </m:oMath>
                    </m:oMathPara>
                  </a14:m>
                  <a:endParaRPr lang="zh-CN" altLang="en-US" sz="800" dirty="0">
                    <a:solidFill>
                      <a:schemeClr val="tx1"/>
                    </a:solidFill>
                    <a:latin typeface="Times New Roman" panose="02020603050405020304" pitchFamily="18" charset="0"/>
                    <a:cs typeface="Times New Roman" panose="02020603050405020304" pitchFamily="18" charset="0"/>
                  </a:endParaRPr>
                </a:p>
              </p:txBody>
            </p:sp>
          </mc:Choice>
          <mc:Fallback>
            <p:sp>
              <p:nvSpPr>
                <p:cNvPr id="12" name="文本框 8">
                  <a:extLst>
                    <a:ext uri="{FF2B5EF4-FFF2-40B4-BE49-F238E27FC236}">
                      <a16:creationId xmlns:a16="http://schemas.microsoft.com/office/drawing/2014/main" id="{3E551C45-979F-7444-BA0C-BB99CB3821D9}"/>
                    </a:ext>
                  </a:extLst>
                </p:cNvPr>
                <p:cNvSpPr txBox="1">
                  <a:spLocks noRot="1" noChangeAspect="1" noMove="1" noResize="1" noEditPoints="1" noAdjustHandles="1" noChangeArrowheads="1" noChangeShapeType="1" noTextEdit="1"/>
                </p:cNvSpPr>
                <p:nvPr/>
              </p:nvSpPr>
              <p:spPr>
                <a:xfrm>
                  <a:off x="3836800" y="2192161"/>
                  <a:ext cx="274665" cy="226024"/>
                </a:xfrm>
                <a:prstGeom prst="rect">
                  <a:avLst/>
                </a:prstGeom>
                <a:blipFill>
                  <a:blip r:embed="rId6"/>
                  <a:stretch>
                    <a:fillRect/>
                  </a:stretch>
                </a:blipFill>
              </p:spPr>
              <p:txBody>
                <a:bodyPr/>
                <a:lstStyle/>
                <a:p>
                  <a:r>
                    <a:rPr lang="zh-CN" altLang="en-US">
                      <a:noFill/>
                    </a:rPr>
                    <a:t> </a:t>
                  </a:r>
                </a:p>
              </p:txBody>
            </p:sp>
          </mc:Fallback>
        </mc:AlternateContent>
        <p:sp>
          <p:nvSpPr>
            <p:cNvPr id="13" name="立方体 12">
              <a:extLst>
                <a:ext uri="{FF2B5EF4-FFF2-40B4-BE49-F238E27FC236}">
                  <a16:creationId xmlns:a16="http://schemas.microsoft.com/office/drawing/2014/main" id="{0868AD9C-3424-23D6-0329-A71AA6F34709}"/>
                </a:ext>
              </a:extLst>
            </p:cNvPr>
            <p:cNvSpPr/>
            <p:nvPr/>
          </p:nvSpPr>
          <p:spPr>
            <a:xfrm>
              <a:off x="5541364" y="2270838"/>
              <a:ext cx="288000" cy="288000"/>
            </a:xfrm>
            <a:prstGeom prst="cube">
              <a:avLst>
                <a:gd name="adj" fmla="val 77584"/>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立方体 13">
              <a:extLst>
                <a:ext uri="{FF2B5EF4-FFF2-40B4-BE49-F238E27FC236}">
                  <a16:creationId xmlns:a16="http://schemas.microsoft.com/office/drawing/2014/main" id="{1F9A795E-4224-7F74-2A61-9FF0FDA20454}"/>
                </a:ext>
              </a:extLst>
            </p:cNvPr>
            <p:cNvSpPr/>
            <p:nvPr/>
          </p:nvSpPr>
          <p:spPr>
            <a:xfrm>
              <a:off x="5562281" y="2897037"/>
              <a:ext cx="288000" cy="288000"/>
            </a:xfrm>
            <a:prstGeom prst="cube">
              <a:avLst>
                <a:gd name="adj" fmla="val 77584"/>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010303E4-E734-48BE-14F2-B664D36BEFC9}"/>
                </a:ext>
              </a:extLst>
            </p:cNvPr>
            <p:cNvSpPr/>
            <p:nvPr/>
          </p:nvSpPr>
          <p:spPr>
            <a:xfrm>
              <a:off x="3888565" y="3345670"/>
              <a:ext cx="3370875" cy="13553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16" name="矩形 15">
              <a:extLst>
                <a:ext uri="{FF2B5EF4-FFF2-40B4-BE49-F238E27FC236}">
                  <a16:creationId xmlns:a16="http://schemas.microsoft.com/office/drawing/2014/main" id="{E290147C-230D-8DAA-A086-BD528A5C8466}"/>
                </a:ext>
              </a:extLst>
            </p:cNvPr>
            <p:cNvSpPr/>
            <p:nvPr/>
          </p:nvSpPr>
          <p:spPr>
            <a:xfrm>
              <a:off x="6189306" y="3345670"/>
              <a:ext cx="1070134" cy="258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zh-CN" sz="1100" dirty="0">
                  <a:latin typeface="Times New Roman" panose="02020603050405020304" pitchFamily="18" charset="0"/>
                  <a:cs typeface="Times New Roman" panose="02020603050405020304" pitchFamily="18" charset="0"/>
                </a:rPr>
                <a:t>Decomposition</a:t>
              </a:r>
              <a:endParaRPr kumimoji="1" lang="zh-CN" altLang="en-US" sz="1100" dirty="0">
                <a:latin typeface="Times New Roman" panose="02020603050405020304" pitchFamily="18" charset="0"/>
                <a:cs typeface="Times New Roman" panose="02020603050405020304" pitchFamily="18" charset="0"/>
              </a:endParaRPr>
            </a:p>
          </p:txBody>
        </p:sp>
        <p:sp>
          <p:nvSpPr>
            <p:cNvPr id="18" name="立方体 17">
              <a:extLst>
                <a:ext uri="{FF2B5EF4-FFF2-40B4-BE49-F238E27FC236}">
                  <a16:creationId xmlns:a16="http://schemas.microsoft.com/office/drawing/2014/main" id="{E8399540-466C-1D93-B0A9-298B09671382}"/>
                </a:ext>
              </a:extLst>
            </p:cNvPr>
            <p:cNvSpPr/>
            <p:nvPr/>
          </p:nvSpPr>
          <p:spPr>
            <a:xfrm>
              <a:off x="4024852" y="3531110"/>
              <a:ext cx="288000" cy="288000"/>
            </a:xfrm>
            <a:prstGeom prst="cube">
              <a:avLst>
                <a:gd name="adj" fmla="val 77584"/>
              </a:avLst>
            </a:prstGeom>
            <a:solidFill>
              <a:srgbClr val="69A9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9" name="立方体 18">
              <a:extLst>
                <a:ext uri="{FF2B5EF4-FFF2-40B4-BE49-F238E27FC236}">
                  <a16:creationId xmlns:a16="http://schemas.microsoft.com/office/drawing/2014/main" id="{F120FDB6-9CEB-8550-AB3F-7D748976F46E}"/>
                </a:ext>
              </a:extLst>
            </p:cNvPr>
            <p:cNvSpPr/>
            <p:nvPr/>
          </p:nvSpPr>
          <p:spPr>
            <a:xfrm>
              <a:off x="5230599" y="3533388"/>
              <a:ext cx="288000" cy="288000"/>
            </a:xfrm>
            <a:prstGeom prst="cube">
              <a:avLst>
                <a:gd name="adj" fmla="val 77584"/>
              </a:avLst>
            </a:prstGeom>
            <a:solidFill>
              <a:srgbClr val="69A9AF">
                <a:alpha val="4902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立方体 19">
              <a:extLst>
                <a:ext uri="{FF2B5EF4-FFF2-40B4-BE49-F238E27FC236}">
                  <a16:creationId xmlns:a16="http://schemas.microsoft.com/office/drawing/2014/main" id="{B9FFDDAE-DA16-7222-6927-A0766A5717DA}"/>
                </a:ext>
              </a:extLst>
            </p:cNvPr>
            <p:cNvSpPr/>
            <p:nvPr/>
          </p:nvSpPr>
          <p:spPr>
            <a:xfrm>
              <a:off x="5413147" y="3534012"/>
              <a:ext cx="288000" cy="288000"/>
            </a:xfrm>
            <a:prstGeom prst="cube">
              <a:avLst>
                <a:gd name="adj" fmla="val 77584"/>
              </a:avLst>
            </a:prstGeom>
            <a:solidFill>
              <a:srgbClr val="69A9AF">
                <a:alpha val="23137"/>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立方体 20">
              <a:extLst>
                <a:ext uri="{FF2B5EF4-FFF2-40B4-BE49-F238E27FC236}">
                  <a16:creationId xmlns:a16="http://schemas.microsoft.com/office/drawing/2014/main" id="{D517F2C0-7A0E-DB4C-7769-C3B94175878B}"/>
                </a:ext>
              </a:extLst>
            </p:cNvPr>
            <p:cNvSpPr/>
            <p:nvPr/>
          </p:nvSpPr>
          <p:spPr>
            <a:xfrm>
              <a:off x="5216524" y="4203438"/>
              <a:ext cx="288000" cy="288000"/>
            </a:xfrm>
            <a:prstGeom prst="cube">
              <a:avLst>
                <a:gd name="adj" fmla="val 77584"/>
              </a:avLst>
            </a:prstGeom>
            <a:solidFill>
              <a:schemeClr val="accent6">
                <a:lumMod val="60000"/>
                <a:lumOff val="40000"/>
                <a:alpha val="4902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2" name="立方体 21">
              <a:extLst>
                <a:ext uri="{FF2B5EF4-FFF2-40B4-BE49-F238E27FC236}">
                  <a16:creationId xmlns:a16="http://schemas.microsoft.com/office/drawing/2014/main" id="{5EC5F50E-44F3-15D3-629F-B7CACD4A1258}"/>
                </a:ext>
              </a:extLst>
            </p:cNvPr>
            <p:cNvSpPr/>
            <p:nvPr/>
          </p:nvSpPr>
          <p:spPr>
            <a:xfrm>
              <a:off x="5412901" y="4203438"/>
              <a:ext cx="288000" cy="288000"/>
            </a:xfrm>
            <a:prstGeom prst="cube">
              <a:avLst>
                <a:gd name="adj" fmla="val 77584"/>
              </a:avLst>
            </a:prstGeom>
            <a:solidFill>
              <a:schemeClr val="accent6">
                <a:lumMod val="60000"/>
                <a:lumOff val="40000"/>
                <a:alpha val="2313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23" name="直线箭头连接符 22">
              <a:extLst>
                <a:ext uri="{FF2B5EF4-FFF2-40B4-BE49-F238E27FC236}">
                  <a16:creationId xmlns:a16="http://schemas.microsoft.com/office/drawing/2014/main" id="{854B0ABF-C087-8761-EEEF-9E18581D5728}"/>
                </a:ext>
              </a:extLst>
            </p:cNvPr>
            <p:cNvCxnSpPr/>
            <p:nvPr/>
          </p:nvCxnSpPr>
          <p:spPr>
            <a:xfrm>
              <a:off x="5688069" y="2512330"/>
              <a:ext cx="0" cy="330840"/>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直线箭头连接符 23">
              <a:extLst>
                <a:ext uri="{FF2B5EF4-FFF2-40B4-BE49-F238E27FC236}">
                  <a16:creationId xmlns:a16="http://schemas.microsoft.com/office/drawing/2014/main" id="{BD8B2F72-9A55-AE06-38BA-7F40763C38E7}"/>
                </a:ext>
              </a:extLst>
            </p:cNvPr>
            <p:cNvCxnSpPr/>
            <p:nvPr/>
          </p:nvCxnSpPr>
          <p:spPr>
            <a:xfrm>
              <a:off x="5635406" y="4002910"/>
              <a:ext cx="0" cy="164320"/>
            </a:xfrm>
            <a:prstGeom prst="straightConnector1">
              <a:avLst/>
            </a:prstGeom>
            <a:ln w="12700">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5" name="文本框 24">
                  <a:extLst>
                    <a:ext uri="{FF2B5EF4-FFF2-40B4-BE49-F238E27FC236}">
                      <a16:creationId xmlns:a16="http://schemas.microsoft.com/office/drawing/2014/main" id="{F88C6B66-4D19-D0EA-04D9-A67CC941246E}"/>
                    </a:ext>
                  </a:extLst>
                </p:cNvPr>
                <p:cNvSpPr txBox="1"/>
                <p:nvPr/>
              </p:nvSpPr>
              <p:spPr>
                <a:xfrm>
                  <a:off x="5461863" y="2549434"/>
                  <a:ext cx="1037267" cy="291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i="1" smtClean="0">
                                <a:latin typeface="Cambria Math" panose="02040503050406030204" pitchFamily="18" charset="0"/>
                              </a:rPr>
                            </m:ctrlPr>
                          </m:sSubPr>
                          <m:e>
                            <m:r>
                              <a:rPr kumimoji="1" lang="en-US" altLang="zh-CN" sz="1200" i="1" smtClean="0">
                                <a:latin typeface="Cambria Math" panose="02040503050406030204" pitchFamily="18" charset="0"/>
                                <a:ea typeface="Cambria Math" panose="02040503050406030204" pitchFamily="18" charset="0"/>
                              </a:rPr>
                              <m:t>ℒ</m:t>
                            </m:r>
                          </m:e>
                          <m:sub>
                            <m:r>
                              <a:rPr kumimoji="1" lang="en-US" altLang="zh-CN" sz="1200" b="0" i="1" smtClean="0">
                                <a:latin typeface="Cambria Math" panose="02040503050406030204" pitchFamily="18" charset="0"/>
                              </a:rPr>
                              <m:t>𝑐𝑜𝑚𝑝</m:t>
                            </m:r>
                          </m:sub>
                        </m:sSub>
                      </m:oMath>
                    </m:oMathPara>
                  </a14:m>
                  <a:endParaRPr kumimoji="1" lang="zh-CN" altLang="en-US" sz="1200" dirty="0"/>
                </a:p>
              </p:txBody>
            </p:sp>
          </mc:Choice>
          <mc:Fallback>
            <p:sp>
              <p:nvSpPr>
                <p:cNvPr id="25" name="文本框 24">
                  <a:extLst>
                    <a:ext uri="{FF2B5EF4-FFF2-40B4-BE49-F238E27FC236}">
                      <a16:creationId xmlns:a16="http://schemas.microsoft.com/office/drawing/2014/main" id="{F88C6B66-4D19-D0EA-04D9-A67CC941246E}"/>
                    </a:ext>
                  </a:extLst>
                </p:cNvPr>
                <p:cNvSpPr txBox="1">
                  <a:spLocks noRot="1" noChangeAspect="1" noMove="1" noResize="1" noEditPoints="1" noAdjustHandles="1" noChangeArrowheads="1" noChangeShapeType="1" noTextEdit="1"/>
                </p:cNvSpPr>
                <p:nvPr/>
              </p:nvSpPr>
              <p:spPr>
                <a:xfrm>
                  <a:off x="5461863" y="2549434"/>
                  <a:ext cx="1037267" cy="291298"/>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文本框 25">
                  <a:extLst>
                    <a:ext uri="{FF2B5EF4-FFF2-40B4-BE49-F238E27FC236}">
                      <a16:creationId xmlns:a16="http://schemas.microsoft.com/office/drawing/2014/main" id="{621264A9-30BA-69CD-CF23-5D01B3395C4D}"/>
                    </a:ext>
                  </a:extLst>
                </p:cNvPr>
                <p:cNvSpPr txBox="1"/>
                <p:nvPr/>
              </p:nvSpPr>
              <p:spPr>
                <a:xfrm>
                  <a:off x="5788765" y="3929577"/>
                  <a:ext cx="1037267" cy="291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200" i="1" smtClean="0">
                                <a:latin typeface="Cambria Math" panose="02040503050406030204" pitchFamily="18" charset="0"/>
                              </a:rPr>
                            </m:ctrlPr>
                          </m:sSubPr>
                          <m:e>
                            <m:r>
                              <a:rPr kumimoji="1" lang="en-US" altLang="zh-CN" sz="1200" i="1" smtClean="0">
                                <a:latin typeface="Cambria Math" panose="02040503050406030204" pitchFamily="18" charset="0"/>
                                <a:ea typeface="Cambria Math" panose="02040503050406030204" pitchFamily="18" charset="0"/>
                              </a:rPr>
                              <m:t>ℒ</m:t>
                            </m:r>
                          </m:e>
                          <m:sub>
                            <m:r>
                              <a:rPr kumimoji="1" lang="en-US" altLang="zh-CN" sz="1200" b="0" i="1" smtClean="0">
                                <a:latin typeface="Cambria Math" panose="02040503050406030204" pitchFamily="18" charset="0"/>
                              </a:rPr>
                              <m:t>𝑑𝑒𝑐𝑜𝑚𝑝</m:t>
                            </m:r>
                          </m:sub>
                        </m:sSub>
                      </m:oMath>
                    </m:oMathPara>
                  </a14:m>
                  <a:endParaRPr kumimoji="1" lang="zh-CN" altLang="en-US" sz="1200" dirty="0"/>
                </a:p>
              </p:txBody>
            </p:sp>
          </mc:Choice>
          <mc:Fallback>
            <p:sp>
              <p:nvSpPr>
                <p:cNvPr id="26" name="文本框 25">
                  <a:extLst>
                    <a:ext uri="{FF2B5EF4-FFF2-40B4-BE49-F238E27FC236}">
                      <a16:creationId xmlns:a16="http://schemas.microsoft.com/office/drawing/2014/main" id="{621264A9-30BA-69CD-CF23-5D01B3395C4D}"/>
                    </a:ext>
                  </a:extLst>
                </p:cNvPr>
                <p:cNvSpPr txBox="1">
                  <a:spLocks noRot="1" noChangeAspect="1" noMove="1" noResize="1" noEditPoints="1" noAdjustHandles="1" noChangeArrowheads="1" noChangeShapeType="1" noTextEdit="1"/>
                </p:cNvSpPr>
                <p:nvPr/>
              </p:nvSpPr>
              <p:spPr>
                <a:xfrm>
                  <a:off x="5788765" y="3929577"/>
                  <a:ext cx="1037267" cy="291298"/>
                </a:xfrm>
                <a:prstGeom prst="rect">
                  <a:avLst/>
                </a:prstGeom>
                <a:blipFill>
                  <a:blip r:embed="rId8"/>
                  <a:stretch>
                    <a:fillRect/>
                  </a:stretch>
                </a:blipFill>
              </p:spPr>
              <p:txBody>
                <a:bodyPr/>
                <a:lstStyle/>
                <a:p>
                  <a:r>
                    <a:rPr lang="zh-CN" altLang="en-US">
                      <a:noFill/>
                    </a:rPr>
                    <a:t> </a:t>
                  </a:r>
                </a:p>
              </p:txBody>
            </p:sp>
          </mc:Fallback>
        </mc:AlternateContent>
        <p:cxnSp>
          <p:nvCxnSpPr>
            <p:cNvPr id="27" name="直线箭头连接符 26">
              <a:extLst>
                <a:ext uri="{FF2B5EF4-FFF2-40B4-BE49-F238E27FC236}">
                  <a16:creationId xmlns:a16="http://schemas.microsoft.com/office/drawing/2014/main" id="{DD16435D-BF29-936B-9B08-8D99F2A1740F}"/>
                </a:ext>
              </a:extLst>
            </p:cNvPr>
            <p:cNvCxnSpPr>
              <a:cxnSpLocks/>
            </p:cNvCxnSpPr>
            <p:nvPr/>
          </p:nvCxnSpPr>
          <p:spPr>
            <a:xfrm flipV="1">
              <a:off x="4409250" y="2368088"/>
              <a:ext cx="286598" cy="537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9" name="直线箭头连接符 28">
              <a:extLst>
                <a:ext uri="{FF2B5EF4-FFF2-40B4-BE49-F238E27FC236}">
                  <a16:creationId xmlns:a16="http://schemas.microsoft.com/office/drawing/2014/main" id="{BF402294-C3A6-65B0-D9CE-8A82F77F5196}"/>
                </a:ext>
              </a:extLst>
            </p:cNvPr>
            <p:cNvCxnSpPr>
              <a:cxnSpLocks/>
            </p:cNvCxnSpPr>
            <p:nvPr/>
          </p:nvCxnSpPr>
          <p:spPr>
            <a:xfrm flipV="1">
              <a:off x="5237366" y="2375394"/>
              <a:ext cx="297745" cy="344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0" name="直线箭头连接符 29">
              <a:extLst>
                <a:ext uri="{FF2B5EF4-FFF2-40B4-BE49-F238E27FC236}">
                  <a16:creationId xmlns:a16="http://schemas.microsoft.com/office/drawing/2014/main" id="{DF925EEB-4B88-8FC2-BE1C-152D62FBDB1E}"/>
                </a:ext>
              </a:extLst>
            </p:cNvPr>
            <p:cNvCxnSpPr>
              <a:cxnSpLocks/>
            </p:cNvCxnSpPr>
            <p:nvPr/>
          </p:nvCxnSpPr>
          <p:spPr>
            <a:xfrm>
              <a:off x="4256972" y="3693638"/>
              <a:ext cx="163828"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3" name="直线箭头连接符 32">
              <a:extLst>
                <a:ext uri="{FF2B5EF4-FFF2-40B4-BE49-F238E27FC236}">
                  <a16:creationId xmlns:a16="http://schemas.microsoft.com/office/drawing/2014/main" id="{76DB18C6-8D7D-BBCD-DC7C-A9F0928107E3}"/>
                </a:ext>
              </a:extLst>
            </p:cNvPr>
            <p:cNvCxnSpPr>
              <a:cxnSpLocks/>
            </p:cNvCxnSpPr>
            <p:nvPr/>
          </p:nvCxnSpPr>
          <p:spPr>
            <a:xfrm>
              <a:off x="4970644" y="3697662"/>
              <a:ext cx="261434"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4" name="立方体 33">
              <a:extLst>
                <a:ext uri="{FF2B5EF4-FFF2-40B4-BE49-F238E27FC236}">
                  <a16:creationId xmlns:a16="http://schemas.microsoft.com/office/drawing/2014/main" id="{8C254A4D-4D01-ECF5-533D-6CDC8DFAA2B3}"/>
                </a:ext>
              </a:extLst>
            </p:cNvPr>
            <p:cNvSpPr/>
            <p:nvPr/>
          </p:nvSpPr>
          <p:spPr>
            <a:xfrm>
              <a:off x="4066736" y="2433469"/>
              <a:ext cx="288000" cy="288000"/>
            </a:xfrm>
            <a:prstGeom prst="cube">
              <a:avLst>
                <a:gd name="adj" fmla="val 77584"/>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5" name="立方体 34">
              <a:extLst>
                <a:ext uri="{FF2B5EF4-FFF2-40B4-BE49-F238E27FC236}">
                  <a16:creationId xmlns:a16="http://schemas.microsoft.com/office/drawing/2014/main" id="{5338D3EA-955A-B112-1376-B79B5EC8A5DF}"/>
                </a:ext>
              </a:extLst>
            </p:cNvPr>
            <p:cNvSpPr/>
            <p:nvPr/>
          </p:nvSpPr>
          <p:spPr>
            <a:xfrm>
              <a:off x="4077310" y="2589913"/>
              <a:ext cx="288000" cy="288000"/>
            </a:xfrm>
            <a:prstGeom prst="cube">
              <a:avLst>
                <a:gd name="adj" fmla="val 77584"/>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6" name="立方体 35">
              <a:extLst>
                <a:ext uri="{FF2B5EF4-FFF2-40B4-BE49-F238E27FC236}">
                  <a16:creationId xmlns:a16="http://schemas.microsoft.com/office/drawing/2014/main" id="{D9CA0AF7-CCDC-6141-CD9B-92E975A536A9}"/>
                </a:ext>
              </a:extLst>
            </p:cNvPr>
            <p:cNvSpPr/>
            <p:nvPr/>
          </p:nvSpPr>
          <p:spPr>
            <a:xfrm>
              <a:off x="5599507" y="3535703"/>
              <a:ext cx="288000" cy="288000"/>
            </a:xfrm>
            <a:prstGeom prst="cube">
              <a:avLst>
                <a:gd name="adj" fmla="val 77584"/>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7" name="立方体 36">
              <a:extLst>
                <a:ext uri="{FF2B5EF4-FFF2-40B4-BE49-F238E27FC236}">
                  <a16:creationId xmlns:a16="http://schemas.microsoft.com/office/drawing/2014/main" id="{8899CCF0-8449-D758-442D-76668B8B9F57}"/>
                </a:ext>
              </a:extLst>
            </p:cNvPr>
            <p:cNvSpPr/>
            <p:nvPr/>
          </p:nvSpPr>
          <p:spPr>
            <a:xfrm>
              <a:off x="5799775" y="3533388"/>
              <a:ext cx="288000" cy="288000"/>
            </a:xfrm>
            <a:prstGeom prst="cube">
              <a:avLst>
                <a:gd name="adj" fmla="val 77584"/>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8" name="立方体 37">
              <a:extLst>
                <a:ext uri="{FF2B5EF4-FFF2-40B4-BE49-F238E27FC236}">
                  <a16:creationId xmlns:a16="http://schemas.microsoft.com/office/drawing/2014/main" id="{5313A5BC-3BE8-63D1-6481-6082AC4A260C}"/>
                </a:ext>
              </a:extLst>
            </p:cNvPr>
            <p:cNvSpPr/>
            <p:nvPr/>
          </p:nvSpPr>
          <p:spPr>
            <a:xfrm>
              <a:off x="5609588" y="4197836"/>
              <a:ext cx="288000" cy="288000"/>
            </a:xfrm>
            <a:prstGeom prst="cube">
              <a:avLst>
                <a:gd name="adj" fmla="val 77584"/>
              </a:avLst>
            </a:prstGeom>
            <a:solidFill>
              <a:srgbClr val="A9D18E">
                <a:alpha val="6902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9" name="立方体 38">
              <a:extLst>
                <a:ext uri="{FF2B5EF4-FFF2-40B4-BE49-F238E27FC236}">
                  <a16:creationId xmlns:a16="http://schemas.microsoft.com/office/drawing/2014/main" id="{A63B4875-6E0E-C80E-AE9A-2F7AB31F629F}"/>
                </a:ext>
              </a:extLst>
            </p:cNvPr>
            <p:cNvSpPr/>
            <p:nvPr/>
          </p:nvSpPr>
          <p:spPr>
            <a:xfrm>
              <a:off x="5805965" y="4197836"/>
              <a:ext cx="288000" cy="288000"/>
            </a:xfrm>
            <a:prstGeom prst="cube">
              <a:avLst>
                <a:gd name="adj" fmla="val 77584"/>
              </a:avLst>
            </a:prstGeom>
            <a:solidFill>
              <a:srgbClr val="A9D18E">
                <a:alpha val="588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0" name="文本框 39">
              <a:extLst>
                <a:ext uri="{FF2B5EF4-FFF2-40B4-BE49-F238E27FC236}">
                  <a16:creationId xmlns:a16="http://schemas.microsoft.com/office/drawing/2014/main" id="{CBB3B586-E701-184E-93E4-EFD19F4637A4}"/>
                </a:ext>
              </a:extLst>
            </p:cNvPr>
            <p:cNvSpPr txBox="1"/>
            <p:nvPr/>
          </p:nvSpPr>
          <p:spPr>
            <a:xfrm>
              <a:off x="4493841" y="2015564"/>
              <a:ext cx="1207060" cy="261610"/>
            </a:xfrm>
            <a:prstGeom prst="rect">
              <a:avLst/>
            </a:prstGeom>
            <a:noFill/>
          </p:spPr>
          <p:txBody>
            <a:bodyPr wrap="square" rtlCol="0">
              <a:spAutoFit/>
            </a:bodyPr>
            <a:lstStyle/>
            <a:p>
              <a:r>
                <a:rPr kumimoji="1" lang="en-US" altLang="zh-CN" sz="1100" dirty="0">
                  <a:latin typeface="Times New Roman" panose="02020603050405020304" pitchFamily="18" charset="0"/>
                  <a:cs typeface="Times New Roman" panose="02020603050405020304" pitchFamily="18" charset="0"/>
                </a:rPr>
                <a:t>Composer head</a:t>
              </a:r>
              <a:endParaRPr kumimoji="1" lang="zh-CN" altLang="en-US" sz="1100"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90503C2E-8B08-3FCC-ED9F-8867F1E2EBFF}"/>
                </a:ext>
              </a:extLst>
            </p:cNvPr>
            <p:cNvSpPr txBox="1"/>
            <p:nvPr/>
          </p:nvSpPr>
          <p:spPr>
            <a:xfrm>
              <a:off x="4167557" y="3313980"/>
              <a:ext cx="1419738" cy="261610"/>
            </a:xfrm>
            <a:prstGeom prst="rect">
              <a:avLst/>
            </a:prstGeom>
            <a:noFill/>
          </p:spPr>
          <p:txBody>
            <a:bodyPr wrap="square" rtlCol="0">
              <a:spAutoFit/>
            </a:bodyPr>
            <a:lstStyle/>
            <a:p>
              <a:r>
                <a:rPr kumimoji="1" lang="en-US" altLang="zh-CN" sz="1100" dirty="0">
                  <a:latin typeface="Times New Roman" panose="02020603050405020304" pitchFamily="18" charset="0"/>
                  <a:cs typeface="Times New Roman" panose="02020603050405020304" pitchFamily="18" charset="0"/>
                </a:rPr>
                <a:t>Decomposer head</a:t>
              </a:r>
              <a:endParaRPr kumimoji="1" lang="zh-CN" altLang="en-US" sz="1100" dirty="0">
                <a:latin typeface="Times New Roman" panose="02020603050405020304" pitchFamily="18" charset="0"/>
                <a:cs typeface="Times New Roman" panose="02020603050405020304" pitchFamily="18" charset="0"/>
              </a:endParaRPr>
            </a:p>
          </p:txBody>
        </p:sp>
        <p:pic>
          <p:nvPicPr>
            <p:cNvPr id="42" name="图片 41">
              <a:extLst>
                <a:ext uri="{FF2B5EF4-FFF2-40B4-BE49-F238E27FC236}">
                  <a16:creationId xmlns:a16="http://schemas.microsoft.com/office/drawing/2014/main" id="{DC87C347-07E5-B973-D502-916807DE9A74}"/>
                </a:ext>
              </a:extLst>
            </p:cNvPr>
            <p:cNvPicPr>
              <a:picLocks noChangeAspect="1"/>
            </p:cNvPicPr>
            <p:nvPr/>
          </p:nvPicPr>
          <p:blipFill>
            <a:blip r:embed="rId9"/>
            <a:stretch>
              <a:fillRect/>
            </a:stretch>
          </p:blipFill>
          <p:spPr>
            <a:xfrm>
              <a:off x="3156354" y="3059520"/>
              <a:ext cx="536735" cy="536735"/>
            </a:xfrm>
            <a:prstGeom prst="rect">
              <a:avLst/>
            </a:prstGeom>
          </p:spPr>
        </p:pic>
        <p:pic>
          <p:nvPicPr>
            <p:cNvPr id="43" name="图片 42">
              <a:extLst>
                <a:ext uri="{FF2B5EF4-FFF2-40B4-BE49-F238E27FC236}">
                  <a16:creationId xmlns:a16="http://schemas.microsoft.com/office/drawing/2014/main" id="{FA015D2C-98A3-BE08-A8AD-C82A6231D2AD}"/>
                </a:ext>
              </a:extLst>
            </p:cNvPr>
            <p:cNvPicPr>
              <a:picLocks noChangeAspect="1"/>
            </p:cNvPicPr>
            <p:nvPr/>
          </p:nvPicPr>
          <p:blipFill>
            <a:blip r:embed="rId10"/>
            <a:stretch>
              <a:fillRect/>
            </a:stretch>
          </p:blipFill>
          <p:spPr>
            <a:xfrm>
              <a:off x="2641568" y="2542363"/>
              <a:ext cx="369332" cy="369332"/>
            </a:xfrm>
            <a:prstGeom prst="rect">
              <a:avLst/>
            </a:prstGeom>
          </p:spPr>
        </p:pic>
        <p:pic>
          <p:nvPicPr>
            <p:cNvPr id="45" name="图片 44">
              <a:extLst>
                <a:ext uri="{FF2B5EF4-FFF2-40B4-BE49-F238E27FC236}">
                  <a16:creationId xmlns:a16="http://schemas.microsoft.com/office/drawing/2014/main" id="{BFD0E8BD-BC0B-6742-F9CF-8917B3411B97}"/>
                </a:ext>
              </a:extLst>
            </p:cNvPr>
            <p:cNvPicPr>
              <a:picLocks noChangeAspect="1"/>
            </p:cNvPicPr>
            <p:nvPr/>
          </p:nvPicPr>
          <p:blipFill>
            <a:blip r:embed="rId11"/>
            <a:stretch>
              <a:fillRect/>
            </a:stretch>
          </p:blipFill>
          <p:spPr>
            <a:xfrm>
              <a:off x="2640262" y="2951221"/>
              <a:ext cx="366636" cy="369332"/>
            </a:xfrm>
            <a:prstGeom prst="rect">
              <a:avLst/>
            </a:prstGeom>
          </p:spPr>
        </p:pic>
        <p:pic>
          <p:nvPicPr>
            <p:cNvPr id="46" name="图片 45">
              <a:extLst>
                <a:ext uri="{FF2B5EF4-FFF2-40B4-BE49-F238E27FC236}">
                  <a16:creationId xmlns:a16="http://schemas.microsoft.com/office/drawing/2014/main" id="{23E99FF8-99F3-7F22-6A70-1528B23D47C9}"/>
                </a:ext>
              </a:extLst>
            </p:cNvPr>
            <p:cNvPicPr>
              <a:picLocks noChangeAspect="1"/>
            </p:cNvPicPr>
            <p:nvPr/>
          </p:nvPicPr>
          <p:blipFill>
            <a:blip r:embed="rId12"/>
            <a:stretch>
              <a:fillRect/>
            </a:stretch>
          </p:blipFill>
          <p:spPr>
            <a:xfrm>
              <a:off x="2635633" y="3358871"/>
              <a:ext cx="366636" cy="363960"/>
            </a:xfrm>
            <a:prstGeom prst="rect">
              <a:avLst/>
            </a:prstGeom>
          </p:spPr>
        </p:pic>
        <p:pic>
          <p:nvPicPr>
            <p:cNvPr id="47" name="图片 46">
              <a:extLst>
                <a:ext uri="{FF2B5EF4-FFF2-40B4-BE49-F238E27FC236}">
                  <a16:creationId xmlns:a16="http://schemas.microsoft.com/office/drawing/2014/main" id="{05B88AD7-0A90-2084-69D3-8F67AD08E312}"/>
                </a:ext>
              </a:extLst>
            </p:cNvPr>
            <p:cNvPicPr>
              <a:picLocks noChangeAspect="1"/>
            </p:cNvPicPr>
            <p:nvPr/>
          </p:nvPicPr>
          <p:blipFill>
            <a:blip r:embed="rId13"/>
            <a:stretch>
              <a:fillRect/>
            </a:stretch>
          </p:blipFill>
          <p:spPr>
            <a:xfrm>
              <a:off x="2634719" y="3759786"/>
              <a:ext cx="369333" cy="369333"/>
            </a:xfrm>
            <a:prstGeom prst="rect">
              <a:avLst/>
            </a:prstGeom>
          </p:spPr>
        </p:pic>
        <p:cxnSp>
          <p:nvCxnSpPr>
            <p:cNvPr id="48" name="肘形连接符 47">
              <a:extLst>
                <a:ext uri="{FF2B5EF4-FFF2-40B4-BE49-F238E27FC236}">
                  <a16:creationId xmlns:a16="http://schemas.microsoft.com/office/drawing/2014/main" id="{381FFC2A-2BA3-0E70-6E69-1EB63A3C0BD6}"/>
                </a:ext>
              </a:extLst>
            </p:cNvPr>
            <p:cNvCxnSpPr>
              <a:cxnSpLocks/>
              <a:stCxn id="42" idx="3"/>
            </p:cNvCxnSpPr>
            <p:nvPr/>
          </p:nvCxnSpPr>
          <p:spPr>
            <a:xfrm flipV="1">
              <a:off x="3693089" y="3000455"/>
              <a:ext cx="1646709" cy="327433"/>
            </a:xfrm>
            <a:prstGeom prst="bentConnector3">
              <a:avLst>
                <a:gd name="adj1" fmla="val 5904"/>
              </a:avLst>
            </a:prstGeom>
            <a:ln w="12700">
              <a:tailEnd type="triangle"/>
            </a:ln>
          </p:spPr>
          <p:style>
            <a:lnRef idx="1">
              <a:schemeClr val="dk1"/>
            </a:lnRef>
            <a:fillRef idx="0">
              <a:schemeClr val="dk1"/>
            </a:fillRef>
            <a:effectRef idx="0">
              <a:schemeClr val="dk1"/>
            </a:effectRef>
            <a:fontRef idx="minor">
              <a:schemeClr val="tx1"/>
            </a:fontRef>
          </p:style>
        </p:cxnSp>
        <p:cxnSp>
          <p:nvCxnSpPr>
            <p:cNvPr id="49" name="肘形连接符 48">
              <a:extLst>
                <a:ext uri="{FF2B5EF4-FFF2-40B4-BE49-F238E27FC236}">
                  <a16:creationId xmlns:a16="http://schemas.microsoft.com/office/drawing/2014/main" id="{F5961C98-4EC5-52F6-20BF-0D0B43EA9213}"/>
                </a:ext>
              </a:extLst>
            </p:cNvPr>
            <p:cNvCxnSpPr>
              <a:cxnSpLocks/>
              <a:stCxn id="42" idx="3"/>
            </p:cNvCxnSpPr>
            <p:nvPr/>
          </p:nvCxnSpPr>
          <p:spPr>
            <a:xfrm>
              <a:off x="3693089" y="3327888"/>
              <a:ext cx="197858" cy="308873"/>
            </a:xfrm>
            <a:prstGeom prst="bentConnector3">
              <a:avLst/>
            </a:prstGeom>
            <a:ln w="12700">
              <a:tailEnd type="triangle"/>
            </a:ln>
          </p:spPr>
          <p:style>
            <a:lnRef idx="1">
              <a:schemeClr val="dk1"/>
            </a:lnRef>
            <a:fillRef idx="0">
              <a:schemeClr val="dk1"/>
            </a:fillRef>
            <a:effectRef idx="0">
              <a:schemeClr val="dk1"/>
            </a:effectRef>
            <a:fontRef idx="minor">
              <a:schemeClr val="tx1"/>
            </a:fontRef>
          </p:style>
        </p:cxnSp>
        <p:cxnSp>
          <p:nvCxnSpPr>
            <p:cNvPr id="50" name="肘形连接符 49">
              <a:extLst>
                <a:ext uri="{FF2B5EF4-FFF2-40B4-BE49-F238E27FC236}">
                  <a16:creationId xmlns:a16="http://schemas.microsoft.com/office/drawing/2014/main" id="{E2917F47-DD19-A9E4-5A21-5672CD43958D}"/>
                </a:ext>
              </a:extLst>
            </p:cNvPr>
            <p:cNvCxnSpPr>
              <a:cxnSpLocks/>
              <a:stCxn id="43" idx="0"/>
            </p:cNvCxnSpPr>
            <p:nvPr/>
          </p:nvCxnSpPr>
          <p:spPr>
            <a:xfrm rot="5400000" flipH="1" flipV="1">
              <a:off x="3258132" y="2049019"/>
              <a:ext cx="61446" cy="925243"/>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51" name="肘形连接符 50">
              <a:extLst>
                <a:ext uri="{FF2B5EF4-FFF2-40B4-BE49-F238E27FC236}">
                  <a16:creationId xmlns:a16="http://schemas.microsoft.com/office/drawing/2014/main" id="{D5B42A2B-2B0C-0A81-636F-CDE56E808879}"/>
                </a:ext>
              </a:extLst>
            </p:cNvPr>
            <p:cNvCxnSpPr>
              <a:stCxn id="47" idx="2"/>
              <a:endCxn id="21" idx="2"/>
            </p:cNvCxnSpPr>
            <p:nvPr/>
          </p:nvCxnSpPr>
          <p:spPr>
            <a:xfrm rot="16200000" flipH="1">
              <a:off x="3852935" y="3095570"/>
              <a:ext cx="330040" cy="2397138"/>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52" name="文本框 8">
                  <a:extLst>
                    <a:ext uri="{FF2B5EF4-FFF2-40B4-BE49-F238E27FC236}">
                      <a16:creationId xmlns:a16="http://schemas.microsoft.com/office/drawing/2014/main" id="{B99F1DC1-7DF6-F82F-67C7-3E3EADD498C4}"/>
                    </a:ext>
                  </a:extLst>
                </p:cNvPr>
                <p:cNvSpPr txBox="1"/>
                <p:nvPr/>
              </p:nvSpPr>
              <p:spPr>
                <a:xfrm>
                  <a:off x="3831073" y="2363407"/>
                  <a:ext cx="274665" cy="2311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CN" sz="800" i="1" smtClean="0">
                                <a:solidFill>
                                  <a:schemeClr val="tx1"/>
                                </a:solidFill>
                                <a:latin typeface="Cambria Math" panose="02040503050406030204" pitchFamily="18" charset="0"/>
                                <a:cs typeface="Times New Roman" panose="02020603050405020304" pitchFamily="18" charset="0"/>
                              </a:rPr>
                            </m:ctrlPr>
                          </m:sSubPr>
                          <m:e>
                            <m:r>
                              <a:rPr lang="en-US" altLang="zh-CN" sz="800" b="1" i="1" smtClean="0">
                                <a:solidFill>
                                  <a:schemeClr val="tx1"/>
                                </a:solidFill>
                                <a:latin typeface="Cambria Math" panose="02040503050406030204" pitchFamily="18" charset="0"/>
                                <a:cs typeface="Times New Roman" panose="02020603050405020304" pitchFamily="18" charset="0"/>
                              </a:rPr>
                              <m:t>𝒆</m:t>
                            </m:r>
                          </m:e>
                          <m:sub>
                            <m:sSub>
                              <m:sSubPr>
                                <m:ctrlPr>
                                  <a:rPr lang="en-US" altLang="zh-CN" sz="800" i="1" smtClean="0">
                                    <a:solidFill>
                                      <a:schemeClr val="tx1"/>
                                    </a:solidFill>
                                    <a:latin typeface="Cambria Math" panose="02040503050406030204" pitchFamily="18" charset="0"/>
                                    <a:cs typeface="Times New Roman" panose="02020603050405020304" pitchFamily="18" charset="0"/>
                                  </a:rPr>
                                </m:ctrlPr>
                              </m:sSubPr>
                              <m:e>
                                <m:r>
                                  <a:rPr lang="en-US" altLang="zh-CN" sz="800" b="0" i="1" smtClean="0">
                                    <a:solidFill>
                                      <a:schemeClr val="tx1"/>
                                    </a:solidFill>
                                    <a:latin typeface="Cambria Math" panose="02040503050406030204" pitchFamily="18" charset="0"/>
                                    <a:cs typeface="Times New Roman" panose="02020603050405020304" pitchFamily="18" charset="0"/>
                                  </a:rPr>
                                  <m:t>𝑠</m:t>
                                </m:r>
                              </m:e>
                              <m:sub>
                                <m:r>
                                  <a:rPr lang="en-US" altLang="zh-CN" sz="800" b="0" i="1" smtClean="0">
                                    <a:solidFill>
                                      <a:schemeClr val="tx1"/>
                                    </a:solidFill>
                                    <a:latin typeface="Cambria Math" panose="02040503050406030204" pitchFamily="18" charset="0"/>
                                    <a:cs typeface="Times New Roman" panose="02020603050405020304" pitchFamily="18" charset="0"/>
                                  </a:rPr>
                                  <m:t>2</m:t>
                                </m:r>
                              </m:sub>
                            </m:sSub>
                          </m:sub>
                        </m:sSub>
                      </m:oMath>
                    </m:oMathPara>
                  </a14:m>
                  <a:endParaRPr lang="zh-CN" altLang="en-US" sz="800" dirty="0">
                    <a:solidFill>
                      <a:schemeClr val="tx1"/>
                    </a:solidFill>
                    <a:latin typeface="Times New Roman" panose="02020603050405020304" pitchFamily="18" charset="0"/>
                    <a:cs typeface="Times New Roman" panose="02020603050405020304" pitchFamily="18" charset="0"/>
                  </a:endParaRPr>
                </a:p>
              </p:txBody>
            </p:sp>
          </mc:Choice>
          <mc:Fallback>
            <p:sp>
              <p:nvSpPr>
                <p:cNvPr id="52" name="文本框 8">
                  <a:extLst>
                    <a:ext uri="{FF2B5EF4-FFF2-40B4-BE49-F238E27FC236}">
                      <a16:creationId xmlns:a16="http://schemas.microsoft.com/office/drawing/2014/main" id="{B99F1DC1-7DF6-F82F-67C7-3E3EADD498C4}"/>
                    </a:ext>
                  </a:extLst>
                </p:cNvPr>
                <p:cNvSpPr txBox="1">
                  <a:spLocks noRot="1" noChangeAspect="1" noMove="1" noResize="1" noEditPoints="1" noAdjustHandles="1" noChangeArrowheads="1" noChangeShapeType="1" noTextEdit="1"/>
                </p:cNvSpPr>
                <p:nvPr/>
              </p:nvSpPr>
              <p:spPr>
                <a:xfrm>
                  <a:off x="3831073" y="2363407"/>
                  <a:ext cx="274665" cy="231154"/>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3" name="文本框 8">
                  <a:extLst>
                    <a:ext uri="{FF2B5EF4-FFF2-40B4-BE49-F238E27FC236}">
                      <a16:creationId xmlns:a16="http://schemas.microsoft.com/office/drawing/2014/main" id="{0D6CF365-09F9-98CD-A2B6-1ADD3EB70510}"/>
                    </a:ext>
                  </a:extLst>
                </p:cNvPr>
                <p:cNvSpPr txBox="1"/>
                <p:nvPr/>
              </p:nvSpPr>
              <p:spPr>
                <a:xfrm>
                  <a:off x="3836026" y="2531815"/>
                  <a:ext cx="274665" cy="2311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CN" sz="800" i="1" smtClean="0">
                                <a:solidFill>
                                  <a:schemeClr val="tx1"/>
                                </a:solidFill>
                                <a:latin typeface="Cambria Math" panose="02040503050406030204" pitchFamily="18" charset="0"/>
                                <a:cs typeface="Times New Roman" panose="02020603050405020304" pitchFamily="18" charset="0"/>
                              </a:rPr>
                            </m:ctrlPr>
                          </m:sSubPr>
                          <m:e>
                            <m:r>
                              <a:rPr lang="en-US" altLang="zh-CN" sz="800" b="1" i="1" smtClean="0">
                                <a:solidFill>
                                  <a:schemeClr val="tx1"/>
                                </a:solidFill>
                                <a:latin typeface="Cambria Math" panose="02040503050406030204" pitchFamily="18" charset="0"/>
                                <a:cs typeface="Times New Roman" panose="02020603050405020304" pitchFamily="18" charset="0"/>
                              </a:rPr>
                              <m:t>𝒆</m:t>
                            </m:r>
                          </m:e>
                          <m:sub>
                            <m:sSub>
                              <m:sSubPr>
                                <m:ctrlPr>
                                  <a:rPr lang="en-US" altLang="zh-CN" sz="800" i="1" smtClean="0">
                                    <a:solidFill>
                                      <a:schemeClr val="tx1"/>
                                    </a:solidFill>
                                    <a:latin typeface="Cambria Math" panose="02040503050406030204" pitchFamily="18" charset="0"/>
                                    <a:cs typeface="Times New Roman" panose="02020603050405020304" pitchFamily="18" charset="0"/>
                                  </a:rPr>
                                </m:ctrlPr>
                              </m:sSubPr>
                              <m:e>
                                <m:r>
                                  <a:rPr lang="en-US" altLang="zh-CN" sz="800" b="0" i="1" smtClean="0">
                                    <a:solidFill>
                                      <a:schemeClr val="tx1"/>
                                    </a:solidFill>
                                    <a:latin typeface="Cambria Math" panose="02040503050406030204" pitchFamily="18" charset="0"/>
                                    <a:cs typeface="Times New Roman" panose="02020603050405020304" pitchFamily="18" charset="0"/>
                                  </a:rPr>
                                  <m:t>𝑠</m:t>
                                </m:r>
                              </m:e>
                              <m:sub>
                                <m:r>
                                  <a:rPr lang="en-US" altLang="zh-CN" sz="800" b="0" i="1" smtClean="0">
                                    <a:solidFill>
                                      <a:schemeClr val="tx1"/>
                                    </a:solidFill>
                                    <a:latin typeface="Cambria Math" panose="02040503050406030204" pitchFamily="18" charset="0"/>
                                    <a:cs typeface="Times New Roman" panose="02020603050405020304" pitchFamily="18" charset="0"/>
                                  </a:rPr>
                                  <m:t>3</m:t>
                                </m:r>
                              </m:sub>
                            </m:sSub>
                          </m:sub>
                        </m:sSub>
                      </m:oMath>
                    </m:oMathPara>
                  </a14:m>
                  <a:endParaRPr lang="zh-CN" altLang="en-US" sz="800" dirty="0">
                    <a:solidFill>
                      <a:schemeClr val="tx1"/>
                    </a:solidFill>
                    <a:latin typeface="Times New Roman" panose="02020603050405020304" pitchFamily="18" charset="0"/>
                    <a:cs typeface="Times New Roman" panose="02020603050405020304" pitchFamily="18" charset="0"/>
                  </a:endParaRPr>
                </a:p>
              </p:txBody>
            </p:sp>
          </mc:Choice>
          <mc:Fallback>
            <p:sp>
              <p:nvSpPr>
                <p:cNvPr id="53" name="文本框 8">
                  <a:extLst>
                    <a:ext uri="{FF2B5EF4-FFF2-40B4-BE49-F238E27FC236}">
                      <a16:creationId xmlns:a16="http://schemas.microsoft.com/office/drawing/2014/main" id="{0D6CF365-09F9-98CD-A2B6-1ADD3EB70510}"/>
                    </a:ext>
                  </a:extLst>
                </p:cNvPr>
                <p:cNvSpPr txBox="1">
                  <a:spLocks noRot="1" noChangeAspect="1" noMove="1" noResize="1" noEditPoints="1" noAdjustHandles="1" noChangeArrowheads="1" noChangeShapeType="1" noTextEdit="1"/>
                </p:cNvSpPr>
                <p:nvPr/>
              </p:nvSpPr>
              <p:spPr>
                <a:xfrm>
                  <a:off x="3836026" y="2531815"/>
                  <a:ext cx="274665" cy="231154"/>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4" name="文本框 8">
                  <a:extLst>
                    <a:ext uri="{FF2B5EF4-FFF2-40B4-BE49-F238E27FC236}">
                      <a16:creationId xmlns:a16="http://schemas.microsoft.com/office/drawing/2014/main" id="{30F92826-F834-3206-6C66-A7EDB718754C}"/>
                    </a:ext>
                  </a:extLst>
                </p:cNvPr>
                <p:cNvSpPr txBox="1"/>
                <p:nvPr/>
              </p:nvSpPr>
              <p:spPr>
                <a:xfrm>
                  <a:off x="3836026" y="2689788"/>
                  <a:ext cx="274665" cy="2311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CN" sz="800" i="1" smtClean="0">
                                <a:solidFill>
                                  <a:schemeClr val="tx1"/>
                                </a:solidFill>
                                <a:latin typeface="Cambria Math" panose="02040503050406030204" pitchFamily="18" charset="0"/>
                                <a:cs typeface="Times New Roman" panose="02020603050405020304" pitchFamily="18" charset="0"/>
                              </a:rPr>
                            </m:ctrlPr>
                          </m:sSubPr>
                          <m:e>
                            <m:r>
                              <a:rPr lang="en-US" altLang="zh-CN" sz="800" b="1" i="1" smtClean="0">
                                <a:solidFill>
                                  <a:schemeClr val="tx1"/>
                                </a:solidFill>
                                <a:latin typeface="Cambria Math" panose="02040503050406030204" pitchFamily="18" charset="0"/>
                                <a:cs typeface="Times New Roman" panose="02020603050405020304" pitchFamily="18" charset="0"/>
                              </a:rPr>
                              <m:t>𝒆</m:t>
                            </m:r>
                          </m:e>
                          <m:sub>
                            <m:sSub>
                              <m:sSubPr>
                                <m:ctrlPr>
                                  <a:rPr lang="en-US" altLang="zh-CN" sz="800" i="1" smtClean="0">
                                    <a:solidFill>
                                      <a:schemeClr val="tx1"/>
                                    </a:solidFill>
                                    <a:latin typeface="Cambria Math" panose="02040503050406030204" pitchFamily="18" charset="0"/>
                                    <a:cs typeface="Times New Roman" panose="02020603050405020304" pitchFamily="18" charset="0"/>
                                  </a:rPr>
                                </m:ctrlPr>
                              </m:sSubPr>
                              <m:e>
                                <m:r>
                                  <a:rPr lang="en-US" altLang="zh-CN" sz="800" b="0" i="1" smtClean="0">
                                    <a:solidFill>
                                      <a:schemeClr val="tx1"/>
                                    </a:solidFill>
                                    <a:latin typeface="Cambria Math" panose="02040503050406030204" pitchFamily="18" charset="0"/>
                                    <a:cs typeface="Times New Roman" panose="02020603050405020304" pitchFamily="18" charset="0"/>
                                  </a:rPr>
                                  <m:t>𝑠</m:t>
                                </m:r>
                              </m:e>
                              <m:sub>
                                <m:r>
                                  <a:rPr lang="en-US" altLang="zh-CN" sz="800" b="0" i="1" smtClean="0">
                                    <a:solidFill>
                                      <a:schemeClr val="tx1"/>
                                    </a:solidFill>
                                    <a:latin typeface="Cambria Math" panose="02040503050406030204" pitchFamily="18" charset="0"/>
                                    <a:cs typeface="Times New Roman" panose="02020603050405020304" pitchFamily="18" charset="0"/>
                                  </a:rPr>
                                  <m:t>4</m:t>
                                </m:r>
                              </m:sub>
                            </m:sSub>
                          </m:sub>
                        </m:sSub>
                      </m:oMath>
                    </m:oMathPara>
                  </a14:m>
                  <a:endParaRPr lang="zh-CN" altLang="en-US" sz="800" dirty="0">
                    <a:solidFill>
                      <a:schemeClr val="tx1"/>
                    </a:solidFill>
                    <a:latin typeface="Times New Roman" panose="02020603050405020304" pitchFamily="18" charset="0"/>
                    <a:cs typeface="Times New Roman" panose="02020603050405020304" pitchFamily="18" charset="0"/>
                  </a:endParaRPr>
                </a:p>
              </p:txBody>
            </p:sp>
          </mc:Choice>
          <mc:Fallback>
            <p:sp>
              <p:nvSpPr>
                <p:cNvPr id="54" name="文本框 8">
                  <a:extLst>
                    <a:ext uri="{FF2B5EF4-FFF2-40B4-BE49-F238E27FC236}">
                      <a16:creationId xmlns:a16="http://schemas.microsoft.com/office/drawing/2014/main" id="{30F92826-F834-3206-6C66-A7EDB718754C}"/>
                    </a:ext>
                  </a:extLst>
                </p:cNvPr>
                <p:cNvSpPr txBox="1">
                  <a:spLocks noRot="1" noChangeAspect="1" noMove="1" noResize="1" noEditPoints="1" noAdjustHandles="1" noChangeArrowheads="1" noChangeShapeType="1" noTextEdit="1"/>
                </p:cNvSpPr>
                <p:nvPr/>
              </p:nvSpPr>
              <p:spPr>
                <a:xfrm>
                  <a:off x="3836026" y="2689788"/>
                  <a:ext cx="274665" cy="231154"/>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5" name="文本框 8">
                  <a:extLst>
                    <a:ext uri="{FF2B5EF4-FFF2-40B4-BE49-F238E27FC236}">
                      <a16:creationId xmlns:a16="http://schemas.microsoft.com/office/drawing/2014/main" id="{6E949ECF-E6E8-7D48-0BF7-39CF7C48E856}"/>
                    </a:ext>
                  </a:extLst>
                </p:cNvPr>
                <p:cNvSpPr txBox="1"/>
                <p:nvPr/>
              </p:nvSpPr>
              <p:spPr>
                <a:xfrm>
                  <a:off x="5748002" y="2312762"/>
                  <a:ext cx="506719" cy="2580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CN" sz="1000" i="1" smtClean="0">
                                <a:solidFill>
                                  <a:schemeClr val="tx1"/>
                                </a:solidFill>
                                <a:latin typeface="Cambria Math" panose="02040503050406030204" pitchFamily="18" charset="0"/>
                                <a:cs typeface="Times New Roman" panose="02020603050405020304" pitchFamily="18" charset="0"/>
                              </a:rPr>
                            </m:ctrlPr>
                          </m:sSubPr>
                          <m:e>
                            <m:r>
                              <a:rPr lang="en-US" altLang="zh-CN" sz="1000" b="1" i="1" smtClean="0">
                                <a:solidFill>
                                  <a:schemeClr val="tx1"/>
                                </a:solidFill>
                                <a:latin typeface="Cambria Math" panose="02040503050406030204" pitchFamily="18" charset="0"/>
                                <a:cs typeface="Times New Roman" panose="02020603050405020304" pitchFamily="18" charset="0"/>
                              </a:rPr>
                              <m:t>𝒆</m:t>
                            </m:r>
                          </m:e>
                          <m:sub>
                            <m:r>
                              <a:rPr lang="en-US" altLang="zh-CN" sz="1000" b="0" i="1" smtClean="0">
                                <a:solidFill>
                                  <a:schemeClr val="tx1"/>
                                </a:solidFill>
                                <a:latin typeface="Cambria Math" panose="02040503050406030204" pitchFamily="18" charset="0"/>
                                <a:cs typeface="Times New Roman" panose="02020603050405020304" pitchFamily="18" charset="0"/>
                              </a:rPr>
                              <m:t>𝑐𝑜𝑚𝑝</m:t>
                            </m:r>
                          </m:sub>
                        </m:sSub>
                      </m:oMath>
                    </m:oMathPara>
                  </a14:m>
                  <a:endParaRPr lang="zh-CN" altLang="en-US" sz="1000" dirty="0">
                    <a:solidFill>
                      <a:schemeClr val="tx1"/>
                    </a:solidFill>
                    <a:latin typeface="Times New Roman" panose="02020603050405020304" pitchFamily="18" charset="0"/>
                    <a:cs typeface="Times New Roman" panose="02020603050405020304" pitchFamily="18" charset="0"/>
                  </a:endParaRPr>
                </a:p>
              </p:txBody>
            </p:sp>
          </mc:Choice>
          <mc:Fallback>
            <p:sp>
              <p:nvSpPr>
                <p:cNvPr id="55" name="文本框 8">
                  <a:extLst>
                    <a:ext uri="{FF2B5EF4-FFF2-40B4-BE49-F238E27FC236}">
                      <a16:creationId xmlns:a16="http://schemas.microsoft.com/office/drawing/2014/main" id="{6E949ECF-E6E8-7D48-0BF7-39CF7C48E856}"/>
                    </a:ext>
                  </a:extLst>
                </p:cNvPr>
                <p:cNvSpPr txBox="1">
                  <a:spLocks noRot="1" noChangeAspect="1" noMove="1" noResize="1" noEditPoints="1" noAdjustHandles="1" noChangeArrowheads="1" noChangeShapeType="1" noTextEdit="1"/>
                </p:cNvSpPr>
                <p:nvPr/>
              </p:nvSpPr>
              <p:spPr>
                <a:xfrm>
                  <a:off x="5748002" y="2312762"/>
                  <a:ext cx="506719" cy="258084"/>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6" name="文本框 8">
                  <a:extLst>
                    <a:ext uri="{FF2B5EF4-FFF2-40B4-BE49-F238E27FC236}">
                      <a16:creationId xmlns:a16="http://schemas.microsoft.com/office/drawing/2014/main" id="{5498C862-630F-6F42-F4D4-0ABF8B0FDF4F}"/>
                    </a:ext>
                  </a:extLst>
                </p:cNvPr>
                <p:cNvSpPr txBox="1"/>
                <p:nvPr/>
              </p:nvSpPr>
              <p:spPr>
                <a:xfrm>
                  <a:off x="5721140" y="2943255"/>
                  <a:ext cx="381708" cy="24622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CN" sz="1000" i="1" smtClean="0">
                                <a:solidFill>
                                  <a:schemeClr val="tx1"/>
                                </a:solidFill>
                                <a:latin typeface="Cambria Math" panose="02040503050406030204" pitchFamily="18" charset="0"/>
                                <a:cs typeface="Times New Roman" panose="02020603050405020304" pitchFamily="18" charset="0"/>
                              </a:rPr>
                            </m:ctrlPr>
                          </m:sSubPr>
                          <m:e>
                            <m:r>
                              <a:rPr lang="en-US" altLang="zh-CN" sz="1000" b="1" i="1" smtClean="0">
                                <a:solidFill>
                                  <a:schemeClr val="tx1"/>
                                </a:solidFill>
                                <a:latin typeface="Cambria Math" panose="02040503050406030204" pitchFamily="18" charset="0"/>
                                <a:cs typeface="Times New Roman" panose="02020603050405020304" pitchFamily="18" charset="0"/>
                              </a:rPr>
                              <m:t>𝒆</m:t>
                            </m:r>
                          </m:e>
                          <m:sub>
                            <m:r>
                              <a:rPr lang="en-US" altLang="zh-CN" sz="1000" b="0" i="1" smtClean="0">
                                <a:solidFill>
                                  <a:schemeClr val="tx1"/>
                                </a:solidFill>
                                <a:latin typeface="Cambria Math" panose="02040503050406030204" pitchFamily="18" charset="0"/>
                                <a:cs typeface="Times New Roman" panose="02020603050405020304" pitchFamily="18" charset="0"/>
                              </a:rPr>
                              <m:t>𝑡</m:t>
                            </m:r>
                          </m:sub>
                        </m:sSub>
                      </m:oMath>
                    </m:oMathPara>
                  </a14:m>
                  <a:endParaRPr lang="zh-CN" altLang="en-US" sz="1000" dirty="0">
                    <a:solidFill>
                      <a:schemeClr val="tx1"/>
                    </a:solidFill>
                    <a:latin typeface="Times New Roman" panose="02020603050405020304" pitchFamily="18" charset="0"/>
                    <a:cs typeface="Times New Roman" panose="02020603050405020304" pitchFamily="18" charset="0"/>
                  </a:endParaRPr>
                </a:p>
              </p:txBody>
            </p:sp>
          </mc:Choice>
          <mc:Fallback>
            <p:sp>
              <p:nvSpPr>
                <p:cNvPr id="56" name="文本框 8">
                  <a:extLst>
                    <a:ext uri="{FF2B5EF4-FFF2-40B4-BE49-F238E27FC236}">
                      <a16:creationId xmlns:a16="http://schemas.microsoft.com/office/drawing/2014/main" id="{5498C862-630F-6F42-F4D4-0ABF8B0FDF4F}"/>
                    </a:ext>
                  </a:extLst>
                </p:cNvPr>
                <p:cNvSpPr txBox="1">
                  <a:spLocks noRot="1" noChangeAspect="1" noMove="1" noResize="1" noEditPoints="1" noAdjustHandles="1" noChangeArrowheads="1" noChangeShapeType="1" noTextEdit="1"/>
                </p:cNvSpPr>
                <p:nvPr/>
              </p:nvSpPr>
              <p:spPr>
                <a:xfrm>
                  <a:off x="5721140" y="2943255"/>
                  <a:ext cx="381708" cy="246221"/>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7" name="文本框 8">
                  <a:extLst>
                    <a:ext uri="{FF2B5EF4-FFF2-40B4-BE49-F238E27FC236}">
                      <a16:creationId xmlns:a16="http://schemas.microsoft.com/office/drawing/2014/main" id="{D8416B77-DB24-FB61-B582-978365076061}"/>
                    </a:ext>
                  </a:extLst>
                </p:cNvPr>
                <p:cNvSpPr txBox="1"/>
                <p:nvPr/>
              </p:nvSpPr>
              <p:spPr>
                <a:xfrm>
                  <a:off x="3820264" y="3518255"/>
                  <a:ext cx="274665" cy="21544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CN" sz="800" i="1" smtClean="0">
                                <a:solidFill>
                                  <a:schemeClr val="tx1"/>
                                </a:solidFill>
                                <a:latin typeface="Cambria Math" panose="02040503050406030204" pitchFamily="18" charset="0"/>
                                <a:cs typeface="Times New Roman" panose="02020603050405020304" pitchFamily="18" charset="0"/>
                              </a:rPr>
                            </m:ctrlPr>
                          </m:sSubPr>
                          <m:e>
                            <m:r>
                              <a:rPr lang="en-US" altLang="zh-CN" sz="800" b="1" i="1" smtClean="0">
                                <a:solidFill>
                                  <a:schemeClr val="tx1"/>
                                </a:solidFill>
                                <a:latin typeface="Cambria Math" panose="02040503050406030204" pitchFamily="18" charset="0"/>
                                <a:cs typeface="Times New Roman" panose="02020603050405020304" pitchFamily="18" charset="0"/>
                              </a:rPr>
                              <m:t>𝒆</m:t>
                            </m:r>
                          </m:e>
                          <m:sub>
                            <m:r>
                              <a:rPr lang="en-US" altLang="zh-CN" sz="800" b="0" i="1" smtClean="0">
                                <a:solidFill>
                                  <a:schemeClr val="tx1"/>
                                </a:solidFill>
                                <a:latin typeface="Cambria Math" panose="02040503050406030204" pitchFamily="18" charset="0"/>
                                <a:cs typeface="Times New Roman" panose="02020603050405020304" pitchFamily="18" charset="0"/>
                              </a:rPr>
                              <m:t>𝑠</m:t>
                            </m:r>
                          </m:sub>
                        </m:sSub>
                      </m:oMath>
                    </m:oMathPara>
                  </a14:m>
                  <a:endParaRPr lang="zh-CN" altLang="en-US" sz="800" dirty="0">
                    <a:solidFill>
                      <a:schemeClr val="tx1"/>
                    </a:solidFill>
                    <a:latin typeface="Times New Roman" panose="02020603050405020304" pitchFamily="18" charset="0"/>
                    <a:cs typeface="Times New Roman" panose="02020603050405020304" pitchFamily="18" charset="0"/>
                  </a:endParaRPr>
                </a:p>
              </p:txBody>
            </p:sp>
          </mc:Choice>
          <mc:Fallback>
            <p:sp>
              <p:nvSpPr>
                <p:cNvPr id="57" name="文本框 8">
                  <a:extLst>
                    <a:ext uri="{FF2B5EF4-FFF2-40B4-BE49-F238E27FC236}">
                      <a16:creationId xmlns:a16="http://schemas.microsoft.com/office/drawing/2014/main" id="{D8416B77-DB24-FB61-B582-978365076061}"/>
                    </a:ext>
                  </a:extLst>
                </p:cNvPr>
                <p:cNvSpPr txBox="1">
                  <a:spLocks noRot="1" noChangeAspect="1" noMove="1" noResize="1" noEditPoints="1" noAdjustHandles="1" noChangeArrowheads="1" noChangeShapeType="1" noTextEdit="1"/>
                </p:cNvSpPr>
                <p:nvPr/>
              </p:nvSpPr>
              <p:spPr>
                <a:xfrm>
                  <a:off x="3820264" y="3518255"/>
                  <a:ext cx="274665" cy="215444"/>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8" name="文本框 8">
                  <a:extLst>
                    <a:ext uri="{FF2B5EF4-FFF2-40B4-BE49-F238E27FC236}">
                      <a16:creationId xmlns:a16="http://schemas.microsoft.com/office/drawing/2014/main" id="{AF0100F9-AD38-C3CB-1BD0-3222F71D6DA3}"/>
                    </a:ext>
                  </a:extLst>
                </p:cNvPr>
                <p:cNvSpPr txBox="1"/>
                <p:nvPr/>
              </p:nvSpPr>
              <p:spPr>
                <a:xfrm>
                  <a:off x="5233555" y="3793331"/>
                  <a:ext cx="654962" cy="2512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Sup>
                          <m:sSubSupPr>
                            <m:ctrlPr>
                              <a:rPr lang="en-US" altLang="zh-CN" sz="900" i="1" smtClean="0">
                                <a:solidFill>
                                  <a:schemeClr val="tx1"/>
                                </a:solidFill>
                                <a:latin typeface="Cambria Math" panose="02040503050406030204" pitchFamily="18" charset="0"/>
                                <a:cs typeface="Times New Roman" panose="02020603050405020304" pitchFamily="18" charset="0"/>
                              </a:rPr>
                            </m:ctrlPr>
                          </m:sSubSupPr>
                          <m:e>
                            <m:r>
                              <a:rPr lang="en-US" altLang="zh-CN" sz="900" b="0" i="1" smtClean="0">
                                <a:solidFill>
                                  <a:schemeClr val="tx1"/>
                                </a:solidFill>
                                <a:latin typeface="Cambria Math" panose="02040503050406030204" pitchFamily="18" charset="0"/>
                                <a:cs typeface="Times New Roman" panose="02020603050405020304" pitchFamily="18" charset="0"/>
                              </a:rPr>
                              <m:t>{</m:t>
                            </m:r>
                            <m:sSub>
                              <m:sSubPr>
                                <m:ctrlPr>
                                  <a:rPr lang="en-US" altLang="zh-CN" sz="900" i="1">
                                    <a:latin typeface="Cambria Math" panose="02040503050406030204" pitchFamily="18" charset="0"/>
                                    <a:cs typeface="Times New Roman" panose="02020603050405020304" pitchFamily="18" charset="0"/>
                                  </a:rPr>
                                </m:ctrlPr>
                              </m:sSubPr>
                              <m:e>
                                <m:r>
                                  <a:rPr lang="en-US" altLang="zh-CN" sz="900" b="1" i="1">
                                    <a:latin typeface="Cambria Math" panose="02040503050406030204" pitchFamily="18" charset="0"/>
                                    <a:cs typeface="Times New Roman" panose="02020603050405020304" pitchFamily="18" charset="0"/>
                                  </a:rPr>
                                  <m:t>𝒆</m:t>
                                </m:r>
                              </m:e>
                              <m:sub>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𝑑𝑒𝑐𝑜𝑚𝑝</m:t>
                                    </m:r>
                                  </m:e>
                                  <m:sub>
                                    <m:r>
                                      <a:rPr lang="en-US" altLang="zh-CN" sz="900" i="1">
                                        <a:latin typeface="Cambria Math" panose="02040503050406030204" pitchFamily="18" charset="0"/>
                                        <a:cs typeface="Times New Roman" panose="02020603050405020304" pitchFamily="18" charset="0"/>
                                      </a:rPr>
                                      <m:t>𝑖</m:t>
                                    </m:r>
                                  </m:sub>
                                </m:sSub>
                              </m:sub>
                            </m:sSub>
                            <m:r>
                              <a:rPr lang="en-US" altLang="zh-CN" sz="900" b="0" i="1" smtClean="0">
                                <a:latin typeface="Cambria Math" panose="02040503050406030204" pitchFamily="18" charset="0"/>
                                <a:cs typeface="Times New Roman" panose="02020603050405020304" pitchFamily="18" charset="0"/>
                              </a:rPr>
                              <m:t>}</m:t>
                            </m:r>
                          </m:e>
                          <m:sub>
                            <m:r>
                              <a:rPr lang="en-US" altLang="zh-CN" sz="900" b="0" i="1" smtClean="0">
                                <a:solidFill>
                                  <a:schemeClr val="tx1"/>
                                </a:solidFill>
                                <a:latin typeface="Cambria Math" panose="02040503050406030204" pitchFamily="18" charset="0"/>
                                <a:cs typeface="Times New Roman" panose="02020603050405020304" pitchFamily="18" charset="0"/>
                              </a:rPr>
                              <m:t>𝑖</m:t>
                            </m:r>
                            <m:r>
                              <a:rPr lang="en-US" altLang="zh-CN" sz="900" b="0" i="1" smtClean="0">
                                <a:solidFill>
                                  <a:schemeClr val="tx1"/>
                                </a:solidFill>
                                <a:latin typeface="Cambria Math" panose="02040503050406030204" pitchFamily="18" charset="0"/>
                                <a:cs typeface="Times New Roman" panose="02020603050405020304" pitchFamily="18" charset="0"/>
                              </a:rPr>
                              <m:t>=1</m:t>
                            </m:r>
                          </m:sub>
                          <m:sup>
                            <m:r>
                              <a:rPr lang="en-US" altLang="zh-CN" sz="900" b="0" i="1" smtClean="0">
                                <a:solidFill>
                                  <a:schemeClr val="tx1"/>
                                </a:solidFill>
                                <a:latin typeface="Cambria Math" panose="02040503050406030204" pitchFamily="18" charset="0"/>
                                <a:cs typeface="Times New Roman" panose="02020603050405020304" pitchFamily="18" charset="0"/>
                              </a:rPr>
                              <m:t>4</m:t>
                            </m:r>
                          </m:sup>
                        </m:sSubSup>
                      </m:oMath>
                    </m:oMathPara>
                  </a14:m>
                  <a:endParaRPr lang="zh-CN" altLang="en-US" sz="900" dirty="0">
                    <a:solidFill>
                      <a:schemeClr val="tx1"/>
                    </a:solidFill>
                    <a:latin typeface="Times New Roman" panose="02020603050405020304" pitchFamily="18" charset="0"/>
                    <a:cs typeface="Times New Roman" panose="02020603050405020304" pitchFamily="18" charset="0"/>
                  </a:endParaRPr>
                </a:p>
              </p:txBody>
            </p:sp>
          </mc:Choice>
          <mc:Fallback>
            <p:sp>
              <p:nvSpPr>
                <p:cNvPr id="58" name="文本框 8">
                  <a:extLst>
                    <a:ext uri="{FF2B5EF4-FFF2-40B4-BE49-F238E27FC236}">
                      <a16:creationId xmlns:a16="http://schemas.microsoft.com/office/drawing/2014/main" id="{AF0100F9-AD38-C3CB-1BD0-3222F71D6DA3}"/>
                    </a:ext>
                  </a:extLst>
                </p:cNvPr>
                <p:cNvSpPr txBox="1">
                  <a:spLocks noRot="1" noChangeAspect="1" noMove="1" noResize="1" noEditPoints="1" noAdjustHandles="1" noChangeArrowheads="1" noChangeShapeType="1" noTextEdit="1"/>
                </p:cNvSpPr>
                <p:nvPr/>
              </p:nvSpPr>
              <p:spPr>
                <a:xfrm>
                  <a:off x="5233555" y="3793331"/>
                  <a:ext cx="654962" cy="251223"/>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 name="文本框 8">
                  <a:extLst>
                    <a:ext uri="{FF2B5EF4-FFF2-40B4-BE49-F238E27FC236}">
                      <a16:creationId xmlns:a16="http://schemas.microsoft.com/office/drawing/2014/main" id="{82ED4689-C205-7F9C-F43E-3580A43F1725}"/>
                    </a:ext>
                  </a:extLst>
                </p:cNvPr>
                <p:cNvSpPr txBox="1"/>
                <p:nvPr/>
              </p:nvSpPr>
              <p:spPr>
                <a:xfrm>
                  <a:off x="5265895" y="4452803"/>
                  <a:ext cx="654962" cy="2512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Sup>
                          <m:sSubSupPr>
                            <m:ctrlPr>
                              <a:rPr lang="en-US" altLang="zh-CN" sz="900" i="1" smtClean="0">
                                <a:solidFill>
                                  <a:schemeClr val="tx1"/>
                                </a:solidFill>
                                <a:latin typeface="Cambria Math" panose="02040503050406030204" pitchFamily="18" charset="0"/>
                                <a:cs typeface="Times New Roman" panose="02020603050405020304" pitchFamily="18" charset="0"/>
                              </a:rPr>
                            </m:ctrlPr>
                          </m:sSubSupPr>
                          <m:e>
                            <m:r>
                              <a:rPr lang="en-US" altLang="zh-CN" sz="900" b="0" i="1" smtClean="0">
                                <a:solidFill>
                                  <a:schemeClr val="tx1"/>
                                </a:solidFill>
                                <a:latin typeface="Cambria Math" panose="02040503050406030204" pitchFamily="18" charset="0"/>
                                <a:cs typeface="Times New Roman" panose="02020603050405020304" pitchFamily="18" charset="0"/>
                              </a:rPr>
                              <m:t>{</m:t>
                            </m:r>
                            <m:sSub>
                              <m:sSubPr>
                                <m:ctrlPr>
                                  <a:rPr lang="en-US" altLang="zh-CN" sz="900" i="1">
                                    <a:latin typeface="Cambria Math" panose="02040503050406030204" pitchFamily="18" charset="0"/>
                                    <a:cs typeface="Times New Roman" panose="02020603050405020304" pitchFamily="18" charset="0"/>
                                  </a:rPr>
                                </m:ctrlPr>
                              </m:sSubPr>
                              <m:e>
                                <m:r>
                                  <a:rPr lang="en-US" altLang="zh-CN" sz="900" b="1" i="1">
                                    <a:latin typeface="Cambria Math" panose="02040503050406030204" pitchFamily="18" charset="0"/>
                                    <a:cs typeface="Times New Roman" panose="02020603050405020304" pitchFamily="18" charset="0"/>
                                  </a:rPr>
                                  <m:t>𝒆</m:t>
                                </m:r>
                              </m:e>
                              <m:sub>
                                <m:sSub>
                                  <m:sSubPr>
                                    <m:ctrlPr>
                                      <a:rPr lang="en-US" altLang="zh-CN" sz="900" i="1">
                                        <a:latin typeface="Cambria Math" panose="02040503050406030204" pitchFamily="18" charset="0"/>
                                        <a:cs typeface="Times New Roman" panose="02020603050405020304" pitchFamily="18" charset="0"/>
                                      </a:rPr>
                                    </m:ctrlPr>
                                  </m:sSubPr>
                                  <m:e>
                                    <m:r>
                                      <a:rPr lang="en-US" altLang="zh-CN" sz="900" b="0" i="1" smtClean="0">
                                        <a:latin typeface="Cambria Math" panose="02040503050406030204" pitchFamily="18" charset="0"/>
                                        <a:cs typeface="Times New Roman" panose="02020603050405020304" pitchFamily="18" charset="0"/>
                                      </a:rPr>
                                      <m:t>𝑡</m:t>
                                    </m:r>
                                  </m:e>
                                  <m:sub>
                                    <m:r>
                                      <a:rPr lang="en-US" altLang="zh-CN" sz="900" i="1">
                                        <a:latin typeface="Cambria Math" panose="02040503050406030204" pitchFamily="18" charset="0"/>
                                        <a:cs typeface="Times New Roman" panose="02020603050405020304" pitchFamily="18" charset="0"/>
                                      </a:rPr>
                                      <m:t>𝑖</m:t>
                                    </m:r>
                                  </m:sub>
                                </m:sSub>
                              </m:sub>
                            </m:sSub>
                            <m:r>
                              <a:rPr lang="en-US" altLang="zh-CN" sz="900" b="0" i="1" smtClean="0">
                                <a:latin typeface="Cambria Math" panose="02040503050406030204" pitchFamily="18" charset="0"/>
                                <a:cs typeface="Times New Roman" panose="02020603050405020304" pitchFamily="18" charset="0"/>
                              </a:rPr>
                              <m:t>}</m:t>
                            </m:r>
                          </m:e>
                          <m:sub>
                            <m:r>
                              <a:rPr lang="en-US" altLang="zh-CN" sz="900" b="0" i="1" smtClean="0">
                                <a:solidFill>
                                  <a:schemeClr val="tx1"/>
                                </a:solidFill>
                                <a:latin typeface="Cambria Math" panose="02040503050406030204" pitchFamily="18" charset="0"/>
                                <a:cs typeface="Times New Roman" panose="02020603050405020304" pitchFamily="18" charset="0"/>
                              </a:rPr>
                              <m:t>𝑖</m:t>
                            </m:r>
                            <m:r>
                              <a:rPr lang="en-US" altLang="zh-CN" sz="900" b="0" i="1" smtClean="0">
                                <a:solidFill>
                                  <a:schemeClr val="tx1"/>
                                </a:solidFill>
                                <a:latin typeface="Cambria Math" panose="02040503050406030204" pitchFamily="18" charset="0"/>
                                <a:cs typeface="Times New Roman" panose="02020603050405020304" pitchFamily="18" charset="0"/>
                              </a:rPr>
                              <m:t>=1</m:t>
                            </m:r>
                          </m:sub>
                          <m:sup>
                            <m:r>
                              <a:rPr lang="en-US" altLang="zh-CN" sz="900" b="0" i="1" smtClean="0">
                                <a:solidFill>
                                  <a:schemeClr val="tx1"/>
                                </a:solidFill>
                                <a:latin typeface="Cambria Math" panose="02040503050406030204" pitchFamily="18" charset="0"/>
                                <a:cs typeface="Times New Roman" panose="02020603050405020304" pitchFamily="18" charset="0"/>
                              </a:rPr>
                              <m:t>4</m:t>
                            </m:r>
                          </m:sup>
                        </m:sSubSup>
                      </m:oMath>
                    </m:oMathPara>
                  </a14:m>
                  <a:endParaRPr lang="zh-CN" altLang="en-US" sz="900" dirty="0">
                    <a:solidFill>
                      <a:schemeClr val="tx1"/>
                    </a:solidFill>
                    <a:latin typeface="Times New Roman" panose="02020603050405020304" pitchFamily="18" charset="0"/>
                    <a:cs typeface="Times New Roman" panose="02020603050405020304" pitchFamily="18" charset="0"/>
                  </a:endParaRPr>
                </a:p>
              </p:txBody>
            </p:sp>
          </mc:Choice>
          <mc:Fallback>
            <p:sp>
              <p:nvSpPr>
                <p:cNvPr id="59" name="文本框 8">
                  <a:extLst>
                    <a:ext uri="{FF2B5EF4-FFF2-40B4-BE49-F238E27FC236}">
                      <a16:creationId xmlns:a16="http://schemas.microsoft.com/office/drawing/2014/main" id="{82ED4689-C205-7F9C-F43E-3580A43F1725}"/>
                    </a:ext>
                  </a:extLst>
                </p:cNvPr>
                <p:cNvSpPr txBox="1">
                  <a:spLocks noRot="1" noChangeAspect="1" noMove="1" noResize="1" noEditPoints="1" noAdjustHandles="1" noChangeArrowheads="1" noChangeShapeType="1" noTextEdit="1"/>
                </p:cNvSpPr>
                <p:nvPr/>
              </p:nvSpPr>
              <p:spPr>
                <a:xfrm>
                  <a:off x="5265895" y="4452803"/>
                  <a:ext cx="654962" cy="251223"/>
                </a:xfrm>
                <a:prstGeom prst="rect">
                  <a:avLst/>
                </a:prstGeom>
                <a:blipFill>
                  <a:blip r:embed="rId21"/>
                  <a:stretch>
                    <a:fillRect/>
                  </a:stretch>
                </a:blipFill>
              </p:spPr>
              <p:txBody>
                <a:bodyPr/>
                <a:lstStyle/>
                <a:p>
                  <a:r>
                    <a:rPr lang="zh-CN" altLang="en-US">
                      <a:noFill/>
                    </a:rPr>
                    <a:t> </a:t>
                  </a:r>
                </a:p>
              </p:txBody>
            </p:sp>
          </mc:Fallback>
        </mc:AlternateContent>
        <p:sp>
          <p:nvSpPr>
            <p:cNvPr id="60" name="矩形 59">
              <a:extLst>
                <a:ext uri="{FF2B5EF4-FFF2-40B4-BE49-F238E27FC236}">
                  <a16:creationId xmlns:a16="http://schemas.microsoft.com/office/drawing/2014/main" id="{6C7CBA11-6E16-91AB-3228-F91F9FD518F8}"/>
                </a:ext>
              </a:extLst>
            </p:cNvPr>
            <p:cNvSpPr/>
            <p:nvPr/>
          </p:nvSpPr>
          <p:spPr>
            <a:xfrm>
              <a:off x="4428025" y="3530149"/>
              <a:ext cx="538897" cy="264202"/>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文本框 60">
              <a:extLst>
                <a:ext uri="{FF2B5EF4-FFF2-40B4-BE49-F238E27FC236}">
                  <a16:creationId xmlns:a16="http://schemas.microsoft.com/office/drawing/2014/main" id="{BE057B6B-A697-FBAB-F4A9-84A1B48E108D}"/>
                </a:ext>
              </a:extLst>
            </p:cNvPr>
            <p:cNvSpPr txBox="1"/>
            <p:nvPr/>
          </p:nvSpPr>
          <p:spPr>
            <a:xfrm>
              <a:off x="4379106" y="3525623"/>
              <a:ext cx="704476" cy="261610"/>
            </a:xfrm>
            <a:prstGeom prst="rect">
              <a:avLst/>
            </a:prstGeom>
            <a:noFill/>
          </p:spPr>
          <p:txBody>
            <a:bodyPr wrap="square" rtlCol="0">
              <a:spAutoFit/>
            </a:bodyPr>
            <a:lstStyle/>
            <a:p>
              <a:r>
                <a:rPr kumimoji="1" lang="en-US" altLang="zh-CN" sz="1100" dirty="0">
                  <a:latin typeface="Times New Roman" panose="02020603050405020304" pitchFamily="18" charset="0"/>
                  <a:cs typeface="Times New Roman" panose="02020603050405020304" pitchFamily="18" charset="0"/>
                </a:rPr>
                <a:t>Head #3</a:t>
              </a:r>
              <a:endParaRPr kumimoji="1" lang="zh-CN" altLang="en-US" sz="1100" dirty="0">
                <a:latin typeface="Times New Roman" panose="02020603050405020304" pitchFamily="18" charset="0"/>
                <a:cs typeface="Times New Roman" panose="02020603050405020304" pitchFamily="18" charset="0"/>
              </a:endParaRPr>
            </a:p>
          </p:txBody>
        </p:sp>
        <p:sp>
          <p:nvSpPr>
            <p:cNvPr id="62" name="矩形 61">
              <a:extLst>
                <a:ext uri="{FF2B5EF4-FFF2-40B4-BE49-F238E27FC236}">
                  <a16:creationId xmlns:a16="http://schemas.microsoft.com/office/drawing/2014/main" id="{FF39877F-7C2E-5EB2-8F86-52F112CC61B1}"/>
                </a:ext>
              </a:extLst>
            </p:cNvPr>
            <p:cNvSpPr/>
            <p:nvPr/>
          </p:nvSpPr>
          <p:spPr>
            <a:xfrm>
              <a:off x="4714623" y="2241809"/>
              <a:ext cx="538897" cy="264202"/>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文本框 62">
              <a:extLst>
                <a:ext uri="{FF2B5EF4-FFF2-40B4-BE49-F238E27FC236}">
                  <a16:creationId xmlns:a16="http://schemas.microsoft.com/office/drawing/2014/main" id="{50A4AAD0-1958-64FC-C957-E38652961DE5}"/>
                </a:ext>
              </a:extLst>
            </p:cNvPr>
            <p:cNvSpPr txBox="1"/>
            <p:nvPr/>
          </p:nvSpPr>
          <p:spPr>
            <a:xfrm>
              <a:off x="4675752" y="2237283"/>
              <a:ext cx="704476" cy="261610"/>
            </a:xfrm>
            <a:prstGeom prst="rect">
              <a:avLst/>
            </a:prstGeom>
            <a:noFill/>
          </p:spPr>
          <p:txBody>
            <a:bodyPr wrap="square" rtlCol="0">
              <a:spAutoFit/>
            </a:bodyPr>
            <a:lstStyle/>
            <a:p>
              <a:r>
                <a:rPr kumimoji="1" lang="en-US" altLang="zh-CN" sz="1100" dirty="0">
                  <a:latin typeface="Times New Roman" panose="02020603050405020304" pitchFamily="18" charset="0"/>
                  <a:cs typeface="Times New Roman" panose="02020603050405020304" pitchFamily="18" charset="0"/>
                </a:rPr>
                <a:t>Head #3</a:t>
              </a:r>
              <a:endParaRPr kumimoji="1" lang="zh-CN" altLang="en-US" sz="1100" dirty="0">
                <a:latin typeface="Times New Roman" panose="02020603050405020304" pitchFamily="18" charset="0"/>
                <a:cs typeface="Times New Roman" panose="02020603050405020304" pitchFamily="18" charset="0"/>
              </a:endParaRPr>
            </a:p>
          </p:txBody>
        </p:sp>
        <p:sp>
          <p:nvSpPr>
            <p:cNvPr id="64" name="矩形 63">
              <a:extLst>
                <a:ext uri="{FF2B5EF4-FFF2-40B4-BE49-F238E27FC236}">
                  <a16:creationId xmlns:a16="http://schemas.microsoft.com/office/drawing/2014/main" id="{F8188059-F529-D8B2-A31F-D6EB34BD8994}"/>
                </a:ext>
              </a:extLst>
            </p:cNvPr>
            <p:cNvSpPr/>
            <p:nvPr/>
          </p:nvSpPr>
          <p:spPr>
            <a:xfrm>
              <a:off x="3145839" y="3059519"/>
              <a:ext cx="536735" cy="536735"/>
            </a:xfrm>
            <a:prstGeom prst="rect">
              <a:avLst/>
            </a:prstGeom>
            <a:solidFill>
              <a:schemeClr val="bg1">
                <a:lumMod val="6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mc:Choice xmlns:a14="http://schemas.microsoft.com/office/drawing/2010/main" Requires="a14">
            <p:sp>
              <p:nvSpPr>
                <p:cNvPr id="65" name="文本框 64">
                  <a:extLst>
                    <a:ext uri="{FF2B5EF4-FFF2-40B4-BE49-F238E27FC236}">
                      <a16:creationId xmlns:a16="http://schemas.microsoft.com/office/drawing/2014/main" id="{4BF39971-8591-48FF-76E4-CD2E48BB8193}"/>
                    </a:ext>
                  </a:extLst>
                </p:cNvPr>
                <p:cNvSpPr txBox="1"/>
                <p:nvPr/>
              </p:nvSpPr>
              <p:spPr>
                <a:xfrm>
                  <a:off x="3258332" y="3141700"/>
                  <a:ext cx="34852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solidFill>
                              <a:srgbClr val="FFFF00"/>
                            </a:solidFill>
                            <a:latin typeface="Cambria Math" panose="02040503050406030204" pitchFamily="18" charset="0"/>
                          </a:rPr>
                          <m:t>𝑃</m:t>
                        </m:r>
                      </m:oMath>
                    </m:oMathPara>
                  </a14:m>
                  <a:endParaRPr kumimoji="1" lang="zh-CN" altLang="en-US" dirty="0">
                    <a:solidFill>
                      <a:srgbClr val="FFFF00"/>
                    </a:solidFill>
                  </a:endParaRPr>
                </a:p>
              </p:txBody>
            </p:sp>
          </mc:Choice>
          <mc:Fallback>
            <p:sp>
              <p:nvSpPr>
                <p:cNvPr id="65" name="文本框 64">
                  <a:extLst>
                    <a:ext uri="{FF2B5EF4-FFF2-40B4-BE49-F238E27FC236}">
                      <a16:creationId xmlns:a16="http://schemas.microsoft.com/office/drawing/2014/main" id="{4BF39971-8591-48FF-76E4-CD2E48BB8193}"/>
                    </a:ext>
                  </a:extLst>
                </p:cNvPr>
                <p:cNvSpPr txBox="1">
                  <a:spLocks noRot="1" noChangeAspect="1" noMove="1" noResize="1" noEditPoints="1" noAdjustHandles="1" noChangeArrowheads="1" noChangeShapeType="1" noTextEdit="1"/>
                </p:cNvSpPr>
                <p:nvPr/>
              </p:nvSpPr>
              <p:spPr>
                <a:xfrm>
                  <a:off x="3258332" y="3141700"/>
                  <a:ext cx="348522" cy="369332"/>
                </a:xfrm>
                <a:prstGeom prst="rect">
                  <a:avLst/>
                </a:prstGeom>
                <a:blipFill>
                  <a:blip r:embed="rId22"/>
                  <a:stretch>
                    <a:fillRect/>
                  </a:stretch>
                </a:blipFill>
              </p:spPr>
              <p:txBody>
                <a:bodyPr/>
                <a:lstStyle/>
                <a:p>
                  <a:r>
                    <a:rPr lang="zh-CN" altLang="en-US">
                      <a:noFill/>
                    </a:rPr>
                    <a:t> </a:t>
                  </a:r>
                </a:p>
              </p:txBody>
            </p:sp>
          </mc:Fallback>
        </mc:AlternateContent>
        <p:sp>
          <p:nvSpPr>
            <p:cNvPr id="66" name="矩形 65">
              <a:extLst>
                <a:ext uri="{FF2B5EF4-FFF2-40B4-BE49-F238E27FC236}">
                  <a16:creationId xmlns:a16="http://schemas.microsoft.com/office/drawing/2014/main" id="{AD751C2B-A2E8-E048-F6EF-55A165EA4C4B}"/>
                </a:ext>
              </a:extLst>
            </p:cNvPr>
            <p:cNvSpPr/>
            <p:nvPr/>
          </p:nvSpPr>
          <p:spPr>
            <a:xfrm>
              <a:off x="2645460" y="2544618"/>
              <a:ext cx="374554" cy="360040"/>
            </a:xfrm>
            <a:prstGeom prst="rect">
              <a:avLst/>
            </a:prstGeom>
            <a:solidFill>
              <a:schemeClr val="bg1">
                <a:lumMod val="6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7" name="矩形 66">
              <a:extLst>
                <a:ext uri="{FF2B5EF4-FFF2-40B4-BE49-F238E27FC236}">
                  <a16:creationId xmlns:a16="http://schemas.microsoft.com/office/drawing/2014/main" id="{7FB14673-89DC-F98D-9974-98A2064C1A7B}"/>
                </a:ext>
              </a:extLst>
            </p:cNvPr>
            <p:cNvSpPr/>
            <p:nvPr/>
          </p:nvSpPr>
          <p:spPr>
            <a:xfrm>
              <a:off x="2634719" y="2952318"/>
              <a:ext cx="374554" cy="360040"/>
            </a:xfrm>
            <a:prstGeom prst="rect">
              <a:avLst/>
            </a:prstGeom>
            <a:solidFill>
              <a:schemeClr val="bg1">
                <a:lumMod val="6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8" name="矩形 67">
              <a:extLst>
                <a:ext uri="{FF2B5EF4-FFF2-40B4-BE49-F238E27FC236}">
                  <a16:creationId xmlns:a16="http://schemas.microsoft.com/office/drawing/2014/main" id="{13961EA4-E610-9B0D-7960-348F4CF1371E}"/>
                </a:ext>
              </a:extLst>
            </p:cNvPr>
            <p:cNvSpPr/>
            <p:nvPr/>
          </p:nvSpPr>
          <p:spPr>
            <a:xfrm>
              <a:off x="2633225" y="3353368"/>
              <a:ext cx="374554" cy="360040"/>
            </a:xfrm>
            <a:prstGeom prst="rect">
              <a:avLst/>
            </a:prstGeom>
            <a:solidFill>
              <a:schemeClr val="bg1">
                <a:lumMod val="6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 name="矩形 68">
              <a:extLst>
                <a:ext uri="{FF2B5EF4-FFF2-40B4-BE49-F238E27FC236}">
                  <a16:creationId xmlns:a16="http://schemas.microsoft.com/office/drawing/2014/main" id="{79B780D1-D57C-B952-2A67-5D956111C20D}"/>
                </a:ext>
              </a:extLst>
            </p:cNvPr>
            <p:cNvSpPr/>
            <p:nvPr/>
          </p:nvSpPr>
          <p:spPr>
            <a:xfrm>
              <a:off x="2633225" y="3757051"/>
              <a:ext cx="374554" cy="360040"/>
            </a:xfrm>
            <a:prstGeom prst="rect">
              <a:avLst/>
            </a:prstGeom>
            <a:solidFill>
              <a:schemeClr val="bg1">
                <a:lumMod val="6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mc:Choice xmlns:a14="http://schemas.microsoft.com/office/drawing/2010/main" Requires="a14">
            <p:sp>
              <p:nvSpPr>
                <p:cNvPr id="70" name="文本框 69">
                  <a:extLst>
                    <a:ext uri="{FF2B5EF4-FFF2-40B4-BE49-F238E27FC236}">
                      <a16:creationId xmlns:a16="http://schemas.microsoft.com/office/drawing/2014/main" id="{7AFE6E54-7405-F3A2-4B40-D21ABD53DD67}"/>
                    </a:ext>
                  </a:extLst>
                </p:cNvPr>
                <p:cNvSpPr txBox="1"/>
                <p:nvPr/>
              </p:nvSpPr>
              <p:spPr>
                <a:xfrm>
                  <a:off x="2647971" y="2538964"/>
                  <a:ext cx="348522"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600" i="1" smtClean="0">
                                <a:solidFill>
                                  <a:srgbClr val="FFFF00"/>
                                </a:solidFill>
                                <a:latin typeface="Cambria Math" panose="02040503050406030204" pitchFamily="18" charset="0"/>
                              </a:rPr>
                            </m:ctrlPr>
                          </m:sSubPr>
                          <m:e>
                            <m:r>
                              <a:rPr kumimoji="1" lang="en-US" altLang="zh-CN" sz="1600" b="0" i="1" smtClean="0">
                                <a:solidFill>
                                  <a:srgbClr val="FFFF00"/>
                                </a:solidFill>
                                <a:latin typeface="Cambria Math" panose="02040503050406030204" pitchFamily="18" charset="0"/>
                              </a:rPr>
                              <m:t>𝑃</m:t>
                            </m:r>
                          </m:e>
                          <m:sub>
                            <m:r>
                              <a:rPr kumimoji="1" lang="en-US" altLang="zh-CN" sz="1600" b="0" i="1" smtClean="0">
                                <a:solidFill>
                                  <a:srgbClr val="FFFF00"/>
                                </a:solidFill>
                                <a:latin typeface="Cambria Math" panose="02040503050406030204" pitchFamily="18" charset="0"/>
                              </a:rPr>
                              <m:t>1</m:t>
                            </m:r>
                          </m:sub>
                        </m:sSub>
                      </m:oMath>
                    </m:oMathPara>
                  </a14:m>
                  <a:endParaRPr kumimoji="1" lang="zh-CN" altLang="en-US" sz="1600" dirty="0">
                    <a:solidFill>
                      <a:srgbClr val="FFFF00"/>
                    </a:solidFill>
                  </a:endParaRPr>
                </a:p>
              </p:txBody>
            </p:sp>
          </mc:Choice>
          <mc:Fallback>
            <p:sp>
              <p:nvSpPr>
                <p:cNvPr id="70" name="文本框 69">
                  <a:extLst>
                    <a:ext uri="{FF2B5EF4-FFF2-40B4-BE49-F238E27FC236}">
                      <a16:creationId xmlns:a16="http://schemas.microsoft.com/office/drawing/2014/main" id="{7AFE6E54-7405-F3A2-4B40-D21ABD53DD67}"/>
                    </a:ext>
                  </a:extLst>
                </p:cNvPr>
                <p:cNvSpPr txBox="1">
                  <a:spLocks noRot="1" noChangeAspect="1" noMove="1" noResize="1" noEditPoints="1" noAdjustHandles="1" noChangeArrowheads="1" noChangeShapeType="1" noTextEdit="1"/>
                </p:cNvSpPr>
                <p:nvPr/>
              </p:nvSpPr>
              <p:spPr>
                <a:xfrm>
                  <a:off x="2647971" y="2538964"/>
                  <a:ext cx="348522" cy="338554"/>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1" name="文本框 70">
                  <a:extLst>
                    <a:ext uri="{FF2B5EF4-FFF2-40B4-BE49-F238E27FC236}">
                      <a16:creationId xmlns:a16="http://schemas.microsoft.com/office/drawing/2014/main" id="{9B770633-A59F-D046-376C-A3FB582ED079}"/>
                    </a:ext>
                  </a:extLst>
                </p:cNvPr>
                <p:cNvSpPr txBox="1"/>
                <p:nvPr/>
              </p:nvSpPr>
              <p:spPr>
                <a:xfrm>
                  <a:off x="2655330" y="2956750"/>
                  <a:ext cx="348522"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600" i="1" smtClean="0">
                                <a:solidFill>
                                  <a:srgbClr val="FFFF00"/>
                                </a:solidFill>
                                <a:latin typeface="Cambria Math" panose="02040503050406030204" pitchFamily="18" charset="0"/>
                              </a:rPr>
                            </m:ctrlPr>
                          </m:sSubPr>
                          <m:e>
                            <m:r>
                              <a:rPr kumimoji="1" lang="en-US" altLang="zh-CN" sz="1600" b="0" i="1" smtClean="0">
                                <a:solidFill>
                                  <a:srgbClr val="FFFF00"/>
                                </a:solidFill>
                                <a:latin typeface="Cambria Math" panose="02040503050406030204" pitchFamily="18" charset="0"/>
                              </a:rPr>
                              <m:t>𝑃</m:t>
                            </m:r>
                          </m:e>
                          <m:sub>
                            <m:r>
                              <a:rPr kumimoji="1" lang="en-US" altLang="zh-CN" sz="1600" b="0" i="1" smtClean="0">
                                <a:solidFill>
                                  <a:srgbClr val="FFFF00"/>
                                </a:solidFill>
                                <a:latin typeface="Cambria Math" panose="02040503050406030204" pitchFamily="18" charset="0"/>
                              </a:rPr>
                              <m:t>2</m:t>
                            </m:r>
                          </m:sub>
                        </m:sSub>
                      </m:oMath>
                    </m:oMathPara>
                  </a14:m>
                  <a:endParaRPr kumimoji="1" lang="zh-CN" altLang="en-US" sz="1600" dirty="0">
                    <a:solidFill>
                      <a:srgbClr val="FFFF00"/>
                    </a:solidFill>
                  </a:endParaRPr>
                </a:p>
              </p:txBody>
            </p:sp>
          </mc:Choice>
          <mc:Fallback>
            <p:sp>
              <p:nvSpPr>
                <p:cNvPr id="71" name="文本框 70">
                  <a:extLst>
                    <a:ext uri="{FF2B5EF4-FFF2-40B4-BE49-F238E27FC236}">
                      <a16:creationId xmlns:a16="http://schemas.microsoft.com/office/drawing/2014/main" id="{9B770633-A59F-D046-376C-A3FB582ED079}"/>
                    </a:ext>
                  </a:extLst>
                </p:cNvPr>
                <p:cNvSpPr txBox="1">
                  <a:spLocks noRot="1" noChangeAspect="1" noMove="1" noResize="1" noEditPoints="1" noAdjustHandles="1" noChangeArrowheads="1" noChangeShapeType="1" noTextEdit="1"/>
                </p:cNvSpPr>
                <p:nvPr/>
              </p:nvSpPr>
              <p:spPr>
                <a:xfrm>
                  <a:off x="2655330" y="2956750"/>
                  <a:ext cx="348522" cy="338554"/>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2" name="文本框 71">
                  <a:extLst>
                    <a:ext uri="{FF2B5EF4-FFF2-40B4-BE49-F238E27FC236}">
                      <a16:creationId xmlns:a16="http://schemas.microsoft.com/office/drawing/2014/main" id="{D4AE120D-AE29-F4D5-DBF7-19ACDA22370A}"/>
                    </a:ext>
                  </a:extLst>
                </p:cNvPr>
                <p:cNvSpPr txBox="1"/>
                <p:nvPr/>
              </p:nvSpPr>
              <p:spPr>
                <a:xfrm>
                  <a:off x="2656077" y="3351654"/>
                  <a:ext cx="348522"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600" i="1" smtClean="0">
                                <a:solidFill>
                                  <a:srgbClr val="FFFF00"/>
                                </a:solidFill>
                                <a:latin typeface="Cambria Math" panose="02040503050406030204" pitchFamily="18" charset="0"/>
                              </a:rPr>
                            </m:ctrlPr>
                          </m:sSubPr>
                          <m:e>
                            <m:r>
                              <a:rPr kumimoji="1" lang="en-US" altLang="zh-CN" sz="1600" b="0" i="1" smtClean="0">
                                <a:solidFill>
                                  <a:srgbClr val="FFFF00"/>
                                </a:solidFill>
                                <a:latin typeface="Cambria Math" panose="02040503050406030204" pitchFamily="18" charset="0"/>
                              </a:rPr>
                              <m:t>𝑃</m:t>
                            </m:r>
                          </m:e>
                          <m:sub>
                            <m:r>
                              <a:rPr kumimoji="1" lang="en-US" altLang="zh-CN" sz="1600" b="0" i="1" smtClean="0">
                                <a:solidFill>
                                  <a:srgbClr val="FFFF00"/>
                                </a:solidFill>
                                <a:latin typeface="Cambria Math" panose="02040503050406030204" pitchFamily="18" charset="0"/>
                              </a:rPr>
                              <m:t>3</m:t>
                            </m:r>
                          </m:sub>
                        </m:sSub>
                      </m:oMath>
                    </m:oMathPara>
                  </a14:m>
                  <a:endParaRPr kumimoji="1" lang="zh-CN" altLang="en-US" sz="1600" dirty="0">
                    <a:solidFill>
                      <a:srgbClr val="FFFF00"/>
                    </a:solidFill>
                  </a:endParaRPr>
                </a:p>
              </p:txBody>
            </p:sp>
          </mc:Choice>
          <mc:Fallback>
            <p:sp>
              <p:nvSpPr>
                <p:cNvPr id="72" name="文本框 71">
                  <a:extLst>
                    <a:ext uri="{FF2B5EF4-FFF2-40B4-BE49-F238E27FC236}">
                      <a16:creationId xmlns:a16="http://schemas.microsoft.com/office/drawing/2014/main" id="{D4AE120D-AE29-F4D5-DBF7-19ACDA22370A}"/>
                    </a:ext>
                  </a:extLst>
                </p:cNvPr>
                <p:cNvSpPr txBox="1">
                  <a:spLocks noRot="1" noChangeAspect="1" noMove="1" noResize="1" noEditPoints="1" noAdjustHandles="1" noChangeArrowheads="1" noChangeShapeType="1" noTextEdit="1"/>
                </p:cNvSpPr>
                <p:nvPr/>
              </p:nvSpPr>
              <p:spPr>
                <a:xfrm>
                  <a:off x="2656077" y="3351654"/>
                  <a:ext cx="348522" cy="338554"/>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3" name="文本框 72">
                  <a:extLst>
                    <a:ext uri="{FF2B5EF4-FFF2-40B4-BE49-F238E27FC236}">
                      <a16:creationId xmlns:a16="http://schemas.microsoft.com/office/drawing/2014/main" id="{51FA3DD9-9E31-1F21-1308-8FDD9648A027}"/>
                    </a:ext>
                  </a:extLst>
                </p:cNvPr>
                <p:cNvSpPr txBox="1"/>
                <p:nvPr/>
              </p:nvSpPr>
              <p:spPr>
                <a:xfrm>
                  <a:off x="2656077" y="3740382"/>
                  <a:ext cx="348522"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600" i="1" smtClean="0">
                                <a:solidFill>
                                  <a:srgbClr val="FFFF00"/>
                                </a:solidFill>
                                <a:latin typeface="Cambria Math" panose="02040503050406030204" pitchFamily="18" charset="0"/>
                              </a:rPr>
                            </m:ctrlPr>
                          </m:sSubPr>
                          <m:e>
                            <m:r>
                              <a:rPr kumimoji="1" lang="en-US" altLang="zh-CN" sz="1600" b="0" i="1" smtClean="0">
                                <a:solidFill>
                                  <a:srgbClr val="FFFF00"/>
                                </a:solidFill>
                                <a:latin typeface="Cambria Math" panose="02040503050406030204" pitchFamily="18" charset="0"/>
                              </a:rPr>
                              <m:t>𝑃</m:t>
                            </m:r>
                          </m:e>
                          <m:sub>
                            <m:r>
                              <a:rPr kumimoji="1" lang="en-US" altLang="zh-CN" sz="1600" b="0" i="1" smtClean="0">
                                <a:solidFill>
                                  <a:srgbClr val="FFFF00"/>
                                </a:solidFill>
                                <a:latin typeface="Cambria Math" panose="02040503050406030204" pitchFamily="18" charset="0"/>
                              </a:rPr>
                              <m:t>4</m:t>
                            </m:r>
                          </m:sub>
                        </m:sSub>
                      </m:oMath>
                    </m:oMathPara>
                  </a14:m>
                  <a:endParaRPr kumimoji="1" lang="zh-CN" altLang="en-US" sz="1600" dirty="0">
                    <a:solidFill>
                      <a:srgbClr val="FFFF00"/>
                    </a:solidFill>
                  </a:endParaRPr>
                </a:p>
              </p:txBody>
            </p:sp>
          </mc:Choice>
          <mc:Fallback>
            <p:sp>
              <p:nvSpPr>
                <p:cNvPr id="73" name="文本框 72">
                  <a:extLst>
                    <a:ext uri="{FF2B5EF4-FFF2-40B4-BE49-F238E27FC236}">
                      <a16:creationId xmlns:a16="http://schemas.microsoft.com/office/drawing/2014/main" id="{51FA3DD9-9E31-1F21-1308-8FDD9648A027}"/>
                    </a:ext>
                  </a:extLst>
                </p:cNvPr>
                <p:cNvSpPr txBox="1">
                  <a:spLocks noRot="1" noChangeAspect="1" noMove="1" noResize="1" noEditPoints="1" noAdjustHandles="1" noChangeArrowheads="1" noChangeShapeType="1" noTextEdit="1"/>
                </p:cNvSpPr>
                <p:nvPr/>
              </p:nvSpPr>
              <p:spPr>
                <a:xfrm>
                  <a:off x="2656077" y="3740382"/>
                  <a:ext cx="348522" cy="338554"/>
                </a:xfrm>
                <a:prstGeom prst="rect">
                  <a:avLst/>
                </a:prstGeom>
                <a:blipFill>
                  <a:blip r:embed="rId26"/>
                  <a:stretch>
                    <a:fillRect/>
                  </a:stretch>
                </a:blipFill>
              </p:spPr>
              <p:txBody>
                <a:bodyPr/>
                <a:lstStyle/>
                <a:p>
                  <a:r>
                    <a:rPr lang="zh-CN" altLang="en-US">
                      <a:noFill/>
                    </a:rPr>
                    <a:t> </a:t>
                  </a:r>
                </a:p>
              </p:txBody>
            </p:sp>
          </mc:Fallback>
        </mc:AlternateContent>
        <p:sp>
          <p:nvSpPr>
            <p:cNvPr id="74" name="矩形 73">
              <a:extLst>
                <a:ext uri="{FF2B5EF4-FFF2-40B4-BE49-F238E27FC236}">
                  <a16:creationId xmlns:a16="http://schemas.microsoft.com/office/drawing/2014/main" id="{288CDA47-F7AD-0926-B9E2-83F9FF6BBD42}"/>
                </a:ext>
              </a:extLst>
            </p:cNvPr>
            <p:cNvSpPr/>
            <p:nvPr/>
          </p:nvSpPr>
          <p:spPr>
            <a:xfrm>
              <a:off x="1477755" y="2049519"/>
              <a:ext cx="827999" cy="82799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5" name="矩形 74">
              <a:extLst>
                <a:ext uri="{FF2B5EF4-FFF2-40B4-BE49-F238E27FC236}">
                  <a16:creationId xmlns:a16="http://schemas.microsoft.com/office/drawing/2014/main" id="{48C40F3D-0A16-CD09-F42B-8D39A3730434}"/>
                </a:ext>
              </a:extLst>
            </p:cNvPr>
            <p:cNvSpPr/>
            <p:nvPr/>
          </p:nvSpPr>
          <p:spPr>
            <a:xfrm>
              <a:off x="1833985" y="2260284"/>
              <a:ext cx="442800" cy="444362"/>
            </a:xfrm>
            <a:prstGeom prst="rect">
              <a:avLst/>
            </a:prstGeom>
            <a:solidFill>
              <a:schemeClr val="bg1">
                <a:lumMod val="6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mc:Choice xmlns:a14="http://schemas.microsoft.com/office/drawing/2010/main" Requires="a14">
            <p:sp>
              <p:nvSpPr>
                <p:cNvPr id="76" name="文本框 75">
                  <a:extLst>
                    <a:ext uri="{FF2B5EF4-FFF2-40B4-BE49-F238E27FC236}">
                      <a16:creationId xmlns:a16="http://schemas.microsoft.com/office/drawing/2014/main" id="{C828619A-0A28-3263-F260-36BACB48B035}"/>
                    </a:ext>
                  </a:extLst>
                </p:cNvPr>
                <p:cNvSpPr txBox="1"/>
                <p:nvPr/>
              </p:nvSpPr>
              <p:spPr>
                <a:xfrm>
                  <a:off x="1901421" y="2323588"/>
                  <a:ext cx="34852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solidFill>
                              <a:srgbClr val="FFFF00"/>
                            </a:solidFill>
                            <a:latin typeface="Cambria Math" panose="02040503050406030204" pitchFamily="18" charset="0"/>
                          </a:rPr>
                          <m:t>𝑃</m:t>
                        </m:r>
                      </m:oMath>
                    </m:oMathPara>
                  </a14:m>
                  <a:endParaRPr kumimoji="1" lang="zh-CN" altLang="en-US" dirty="0">
                    <a:solidFill>
                      <a:srgbClr val="FFFF00"/>
                    </a:solidFill>
                  </a:endParaRPr>
                </a:p>
              </p:txBody>
            </p:sp>
          </mc:Choice>
          <mc:Fallback>
            <p:sp>
              <p:nvSpPr>
                <p:cNvPr id="76" name="文本框 75">
                  <a:extLst>
                    <a:ext uri="{FF2B5EF4-FFF2-40B4-BE49-F238E27FC236}">
                      <a16:creationId xmlns:a16="http://schemas.microsoft.com/office/drawing/2014/main" id="{C828619A-0A28-3263-F260-36BACB48B035}"/>
                    </a:ext>
                  </a:extLst>
                </p:cNvPr>
                <p:cNvSpPr txBox="1">
                  <a:spLocks noRot="1" noChangeAspect="1" noMove="1" noResize="1" noEditPoints="1" noAdjustHandles="1" noChangeArrowheads="1" noChangeShapeType="1" noTextEdit="1"/>
                </p:cNvSpPr>
                <p:nvPr/>
              </p:nvSpPr>
              <p:spPr>
                <a:xfrm>
                  <a:off x="1901421" y="2323588"/>
                  <a:ext cx="348522" cy="369332"/>
                </a:xfrm>
                <a:prstGeom prst="rect">
                  <a:avLst/>
                </a:prstGeom>
                <a:blipFill>
                  <a:blip r:embed="rId27"/>
                  <a:stretch>
                    <a:fillRect/>
                  </a:stretch>
                </a:blipFill>
              </p:spPr>
              <p:txBody>
                <a:bodyPr/>
                <a:lstStyle/>
                <a:p>
                  <a:r>
                    <a:rPr lang="zh-CN" altLang="en-US">
                      <a:noFill/>
                    </a:rPr>
                    <a:t> </a:t>
                  </a:r>
                </a:p>
              </p:txBody>
            </p:sp>
          </mc:Fallback>
        </mc:AlternateContent>
        <p:sp>
          <p:nvSpPr>
            <p:cNvPr id="77" name="文本框 76">
              <a:extLst>
                <a:ext uri="{FF2B5EF4-FFF2-40B4-BE49-F238E27FC236}">
                  <a16:creationId xmlns:a16="http://schemas.microsoft.com/office/drawing/2014/main" id="{00D955CF-D74F-3EBC-8344-6AEECD6EEA32}"/>
                </a:ext>
              </a:extLst>
            </p:cNvPr>
            <p:cNvSpPr txBox="1"/>
            <p:nvPr/>
          </p:nvSpPr>
          <p:spPr>
            <a:xfrm>
              <a:off x="1456234" y="1982660"/>
              <a:ext cx="274434" cy="369332"/>
            </a:xfrm>
            <a:prstGeom prst="rect">
              <a:avLst/>
            </a:prstGeom>
            <a:noFill/>
          </p:spPr>
          <p:txBody>
            <a:bodyPr wrap="none" rtlCol="0">
              <a:spAutoFit/>
            </a:bodyPr>
            <a:lstStyle/>
            <a:p>
              <a:r>
                <a:rPr kumimoji="1" lang="en-US" altLang="zh-CN" b="1" i="1" dirty="0">
                  <a:latin typeface="Times New Roman" panose="02020603050405020304" pitchFamily="18" charset="0"/>
                  <a:cs typeface="Times New Roman" panose="02020603050405020304" pitchFamily="18" charset="0"/>
                </a:rPr>
                <a:t>I</a:t>
              </a:r>
              <a:endParaRPr kumimoji="1" lang="zh-CN" altLang="en-US" b="1" i="1" dirty="0">
                <a:latin typeface="Times New Roman" panose="02020603050405020304" pitchFamily="18" charset="0"/>
                <a:cs typeface="Times New Roman" panose="02020603050405020304" pitchFamily="18" charset="0"/>
              </a:endParaRPr>
            </a:p>
          </p:txBody>
        </p:sp>
        <p:sp>
          <p:nvSpPr>
            <p:cNvPr id="78" name="左大括号 77">
              <a:extLst>
                <a:ext uri="{FF2B5EF4-FFF2-40B4-BE49-F238E27FC236}">
                  <a16:creationId xmlns:a16="http://schemas.microsoft.com/office/drawing/2014/main" id="{5867AB3A-02F7-4DA3-6FB5-4E2A60BA3C64}"/>
                </a:ext>
              </a:extLst>
            </p:cNvPr>
            <p:cNvSpPr/>
            <p:nvPr/>
          </p:nvSpPr>
          <p:spPr>
            <a:xfrm>
              <a:off x="1686815" y="2265214"/>
              <a:ext cx="118656" cy="444361"/>
            </a:xfrm>
            <a:prstGeom prst="leftBrace">
              <a:avLst>
                <a:gd name="adj1" fmla="val 70607"/>
                <a:gd name="adj2" fmla="val 50000"/>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kumimoji="1" lang="zh-CN" altLang="en-US"/>
            </a:p>
          </p:txBody>
        </p:sp>
        <mc:AlternateContent xmlns:mc="http://schemas.openxmlformats.org/markup-compatibility/2006">
          <mc:Choice xmlns:a14="http://schemas.microsoft.com/office/drawing/2010/main" Requires="a14">
            <p:sp>
              <p:nvSpPr>
                <p:cNvPr id="79" name="文本框 78">
                  <a:extLst>
                    <a:ext uri="{FF2B5EF4-FFF2-40B4-BE49-F238E27FC236}">
                      <a16:creationId xmlns:a16="http://schemas.microsoft.com/office/drawing/2014/main" id="{A8FF2B82-81A8-49FA-1308-161C2063DDDC}"/>
                    </a:ext>
                  </a:extLst>
                </p:cNvPr>
                <p:cNvSpPr txBox="1"/>
                <p:nvPr/>
              </p:nvSpPr>
              <p:spPr>
                <a:xfrm>
                  <a:off x="1465062" y="2321828"/>
                  <a:ext cx="31367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400" b="0" i="1" smtClean="0">
                            <a:latin typeface="Cambria Math" panose="02040503050406030204" pitchFamily="18" charset="0"/>
                          </a:rPr>
                          <m:t>𝑟</m:t>
                        </m:r>
                      </m:oMath>
                    </m:oMathPara>
                  </a14:m>
                  <a:endParaRPr kumimoji="1" lang="zh-CN" altLang="en-US" sz="1400" dirty="0"/>
                </a:p>
              </p:txBody>
            </p:sp>
          </mc:Choice>
          <mc:Fallback>
            <p:sp>
              <p:nvSpPr>
                <p:cNvPr id="79" name="文本框 78">
                  <a:extLst>
                    <a:ext uri="{FF2B5EF4-FFF2-40B4-BE49-F238E27FC236}">
                      <a16:creationId xmlns:a16="http://schemas.microsoft.com/office/drawing/2014/main" id="{A8FF2B82-81A8-49FA-1308-161C2063DDDC}"/>
                    </a:ext>
                  </a:extLst>
                </p:cNvPr>
                <p:cNvSpPr txBox="1">
                  <a:spLocks noRot="1" noChangeAspect="1" noMove="1" noResize="1" noEditPoints="1" noAdjustHandles="1" noChangeArrowheads="1" noChangeShapeType="1" noTextEdit="1"/>
                </p:cNvSpPr>
                <p:nvPr/>
              </p:nvSpPr>
              <p:spPr>
                <a:xfrm>
                  <a:off x="1465062" y="2321828"/>
                  <a:ext cx="313676" cy="307777"/>
                </a:xfrm>
                <a:prstGeom prst="rect">
                  <a:avLst/>
                </a:prstGeom>
                <a:blipFill>
                  <a:blip r:embed="rId28"/>
                  <a:stretch>
                    <a:fillRect/>
                  </a:stretch>
                </a:blipFill>
              </p:spPr>
              <p:txBody>
                <a:bodyPr/>
                <a:lstStyle/>
                <a:p>
                  <a:r>
                    <a:rPr lang="zh-CN" altLang="en-US">
                      <a:noFill/>
                    </a:rPr>
                    <a:t> </a:t>
                  </a:r>
                </a:p>
              </p:txBody>
            </p:sp>
          </mc:Fallback>
        </mc:AlternateContent>
        <p:pic>
          <p:nvPicPr>
            <p:cNvPr id="80" name="图片 79">
              <a:extLst>
                <a:ext uri="{FF2B5EF4-FFF2-40B4-BE49-F238E27FC236}">
                  <a16:creationId xmlns:a16="http://schemas.microsoft.com/office/drawing/2014/main" id="{AEC62B57-7005-9013-9893-B765BDF1FFD2}"/>
                </a:ext>
              </a:extLst>
            </p:cNvPr>
            <p:cNvPicPr>
              <a:picLocks noChangeAspect="1"/>
            </p:cNvPicPr>
            <p:nvPr/>
          </p:nvPicPr>
          <p:blipFill rotWithShape="1">
            <a:blip r:embed="rId29"/>
            <a:srcRect l="11317" t="11077" r="7953" b="9138"/>
            <a:stretch/>
          </p:blipFill>
          <p:spPr>
            <a:xfrm>
              <a:off x="1488768" y="3028563"/>
              <a:ext cx="893193" cy="662051"/>
            </a:xfrm>
            <a:prstGeom prst="rect">
              <a:avLst/>
            </a:prstGeom>
          </p:spPr>
        </p:pic>
        <p:sp>
          <p:nvSpPr>
            <p:cNvPr id="81" name="文本框 80">
              <a:extLst>
                <a:ext uri="{FF2B5EF4-FFF2-40B4-BE49-F238E27FC236}">
                  <a16:creationId xmlns:a16="http://schemas.microsoft.com/office/drawing/2014/main" id="{7169DAA5-4EF6-EA29-FB40-5B348D384E3B}"/>
                </a:ext>
              </a:extLst>
            </p:cNvPr>
            <p:cNvSpPr txBox="1"/>
            <p:nvPr/>
          </p:nvSpPr>
          <p:spPr>
            <a:xfrm>
              <a:off x="1485041" y="3645109"/>
              <a:ext cx="893193" cy="230832"/>
            </a:xfrm>
            <a:prstGeom prst="rect">
              <a:avLst/>
            </a:prstGeom>
            <a:noFill/>
          </p:spPr>
          <p:txBody>
            <a:bodyPr wrap="none" rtlCol="0">
              <a:spAutoFit/>
            </a:bodyPr>
            <a:lstStyle/>
            <a:p>
              <a:r>
                <a:rPr kumimoji="1" lang="en-US" altLang="zh-CN" sz="900" i="1" dirty="0">
                  <a:latin typeface="Times New Roman" panose="02020603050405020304" pitchFamily="18" charset="0"/>
                  <a:cs typeface="Times New Roman" panose="02020603050405020304" pitchFamily="18" charset="0"/>
                </a:rPr>
                <a:t>Training epoch</a:t>
              </a:r>
              <a:endParaRPr kumimoji="1" lang="zh-CN" altLang="en-US" sz="900" i="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2" name="文本框 81">
                  <a:extLst>
                    <a:ext uri="{FF2B5EF4-FFF2-40B4-BE49-F238E27FC236}">
                      <a16:creationId xmlns:a16="http://schemas.microsoft.com/office/drawing/2014/main" id="{61F874CB-B330-5C8E-FD84-671DC983F368}"/>
                    </a:ext>
                  </a:extLst>
                </p:cNvPr>
                <p:cNvSpPr txBox="1"/>
                <p:nvPr/>
              </p:nvSpPr>
              <p:spPr>
                <a:xfrm rot="16200000">
                  <a:off x="1029505" y="3300074"/>
                  <a:ext cx="761106" cy="230832"/>
                </a:xfrm>
                <a:prstGeom prst="rect">
                  <a:avLst/>
                </a:prstGeom>
                <a:noFill/>
              </p:spPr>
              <p:txBody>
                <a:bodyPr wrap="none" rtlCol="0">
                  <a:spAutoFit/>
                </a:bodyPr>
                <a:lstStyle/>
                <a:p>
                  <a:r>
                    <a:rPr kumimoji="1" lang="en-US" altLang="zh-CN" sz="900" i="1" dirty="0">
                      <a:latin typeface="Times New Roman" panose="02020603050405020304" pitchFamily="18" charset="0"/>
                      <a:cs typeface="Times New Roman" panose="02020603050405020304" pitchFamily="18" charset="0"/>
                    </a:rPr>
                    <a:t>Crop ratio </a:t>
                  </a:r>
                  <a14:m>
                    <m:oMath xmlns:m="http://schemas.openxmlformats.org/officeDocument/2006/math">
                      <m:r>
                        <a:rPr kumimoji="1" lang="en-US" altLang="zh-CN" sz="900" b="0" i="1" smtClean="0">
                          <a:latin typeface="Cambria Math" panose="02040503050406030204" pitchFamily="18" charset="0"/>
                        </a:rPr>
                        <m:t>𝑟</m:t>
                      </m:r>
                    </m:oMath>
                  </a14:m>
                  <a:endParaRPr kumimoji="1" lang="zh-CN" altLang="en-US" sz="900" i="1" dirty="0">
                    <a:latin typeface="Times New Roman" panose="02020603050405020304" pitchFamily="18" charset="0"/>
                    <a:cs typeface="Times New Roman" panose="02020603050405020304" pitchFamily="18" charset="0"/>
                  </a:endParaRPr>
                </a:p>
              </p:txBody>
            </p:sp>
          </mc:Choice>
          <mc:Fallback>
            <p:sp>
              <p:nvSpPr>
                <p:cNvPr id="82" name="文本框 81">
                  <a:extLst>
                    <a:ext uri="{FF2B5EF4-FFF2-40B4-BE49-F238E27FC236}">
                      <a16:creationId xmlns:a16="http://schemas.microsoft.com/office/drawing/2014/main" id="{61F874CB-B330-5C8E-FD84-671DC983F368}"/>
                    </a:ext>
                  </a:extLst>
                </p:cNvPr>
                <p:cNvSpPr txBox="1">
                  <a:spLocks noRot="1" noChangeAspect="1" noMove="1" noResize="1" noEditPoints="1" noAdjustHandles="1" noChangeArrowheads="1" noChangeShapeType="1" noTextEdit="1"/>
                </p:cNvSpPr>
                <p:nvPr/>
              </p:nvSpPr>
              <p:spPr>
                <a:xfrm rot="16200000">
                  <a:off x="1029505" y="3300074"/>
                  <a:ext cx="761106" cy="230832"/>
                </a:xfrm>
                <a:prstGeom prst="rect">
                  <a:avLst/>
                </a:prstGeom>
                <a:blipFill>
                  <a:blip r:embed="rId30"/>
                  <a:stretch>
                    <a:fillRect/>
                  </a:stretch>
                </a:blipFill>
              </p:spPr>
              <p:txBody>
                <a:bodyPr/>
                <a:lstStyle/>
                <a:p>
                  <a:r>
                    <a:rPr lang="zh-CN" altLang="en-US">
                      <a:noFill/>
                    </a:rPr>
                    <a:t> </a:t>
                  </a:r>
                </a:p>
              </p:txBody>
            </p:sp>
          </mc:Fallback>
        </mc:AlternateContent>
        <p:sp>
          <p:nvSpPr>
            <p:cNvPr id="83" name="矩形 82">
              <a:extLst>
                <a:ext uri="{FF2B5EF4-FFF2-40B4-BE49-F238E27FC236}">
                  <a16:creationId xmlns:a16="http://schemas.microsoft.com/office/drawing/2014/main" id="{0BEB56D1-2E90-71DA-E327-D04B8798AD3E}"/>
                </a:ext>
              </a:extLst>
            </p:cNvPr>
            <p:cNvSpPr/>
            <p:nvPr/>
          </p:nvSpPr>
          <p:spPr>
            <a:xfrm>
              <a:off x="1621612" y="3911119"/>
              <a:ext cx="559154" cy="558000"/>
            </a:xfrm>
            <a:prstGeom prst="rect">
              <a:avLst/>
            </a:prstGeom>
            <a:solidFill>
              <a:schemeClr val="bg1">
                <a:lumMod val="6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84" name="直线连接符 83">
              <a:extLst>
                <a:ext uri="{FF2B5EF4-FFF2-40B4-BE49-F238E27FC236}">
                  <a16:creationId xmlns:a16="http://schemas.microsoft.com/office/drawing/2014/main" id="{4FD3FF37-603A-C2F2-4930-9A4C8F4D21FA}"/>
                </a:ext>
              </a:extLst>
            </p:cNvPr>
            <p:cNvCxnSpPr>
              <a:stCxn id="83" idx="1"/>
              <a:endCxn id="83" idx="3"/>
            </p:cNvCxnSpPr>
            <p:nvPr/>
          </p:nvCxnSpPr>
          <p:spPr>
            <a:xfrm>
              <a:off x="1621612" y="4190119"/>
              <a:ext cx="55915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直线连接符 84">
              <a:extLst>
                <a:ext uri="{FF2B5EF4-FFF2-40B4-BE49-F238E27FC236}">
                  <a16:creationId xmlns:a16="http://schemas.microsoft.com/office/drawing/2014/main" id="{A8CC546B-1DC6-6C62-AB71-547C8A7ACA20}"/>
                </a:ext>
              </a:extLst>
            </p:cNvPr>
            <p:cNvCxnSpPr>
              <a:stCxn id="83" idx="0"/>
              <a:endCxn id="83" idx="2"/>
            </p:cNvCxnSpPr>
            <p:nvPr/>
          </p:nvCxnSpPr>
          <p:spPr>
            <a:xfrm>
              <a:off x="1901189" y="3911119"/>
              <a:ext cx="0" cy="5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6" name="文本框 85">
                  <a:extLst>
                    <a:ext uri="{FF2B5EF4-FFF2-40B4-BE49-F238E27FC236}">
                      <a16:creationId xmlns:a16="http://schemas.microsoft.com/office/drawing/2014/main" id="{554E914F-19E8-EB39-70E4-DD8CD5B010CF}"/>
                    </a:ext>
                  </a:extLst>
                </p:cNvPr>
                <p:cNvSpPr txBox="1"/>
                <p:nvPr/>
              </p:nvSpPr>
              <p:spPr>
                <a:xfrm>
                  <a:off x="1596428" y="3865920"/>
                  <a:ext cx="34852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400" i="1" smtClean="0">
                                <a:solidFill>
                                  <a:srgbClr val="FFFF00"/>
                                </a:solidFill>
                                <a:latin typeface="Cambria Math" panose="02040503050406030204" pitchFamily="18" charset="0"/>
                              </a:rPr>
                            </m:ctrlPr>
                          </m:sSubPr>
                          <m:e>
                            <m:r>
                              <a:rPr kumimoji="1" lang="en-US" altLang="zh-CN" sz="1400" b="0" i="1" smtClean="0">
                                <a:solidFill>
                                  <a:srgbClr val="FFFF00"/>
                                </a:solidFill>
                                <a:latin typeface="Cambria Math" panose="02040503050406030204" pitchFamily="18" charset="0"/>
                              </a:rPr>
                              <m:t>𝑃</m:t>
                            </m:r>
                          </m:e>
                          <m:sub>
                            <m:r>
                              <a:rPr kumimoji="1" lang="en-US" altLang="zh-CN" sz="1400" b="0" i="1" smtClean="0">
                                <a:solidFill>
                                  <a:srgbClr val="FFFF00"/>
                                </a:solidFill>
                                <a:latin typeface="Cambria Math" panose="02040503050406030204" pitchFamily="18" charset="0"/>
                              </a:rPr>
                              <m:t>1</m:t>
                            </m:r>
                          </m:sub>
                        </m:sSub>
                      </m:oMath>
                    </m:oMathPara>
                  </a14:m>
                  <a:endParaRPr kumimoji="1" lang="zh-CN" altLang="en-US" sz="1400" dirty="0">
                    <a:solidFill>
                      <a:srgbClr val="FFFF00"/>
                    </a:solidFill>
                  </a:endParaRPr>
                </a:p>
              </p:txBody>
            </p:sp>
          </mc:Choice>
          <mc:Fallback>
            <p:sp>
              <p:nvSpPr>
                <p:cNvPr id="86" name="文本框 85">
                  <a:extLst>
                    <a:ext uri="{FF2B5EF4-FFF2-40B4-BE49-F238E27FC236}">
                      <a16:creationId xmlns:a16="http://schemas.microsoft.com/office/drawing/2014/main" id="{554E914F-19E8-EB39-70E4-DD8CD5B010CF}"/>
                    </a:ext>
                  </a:extLst>
                </p:cNvPr>
                <p:cNvSpPr txBox="1">
                  <a:spLocks noRot="1" noChangeAspect="1" noMove="1" noResize="1" noEditPoints="1" noAdjustHandles="1" noChangeArrowheads="1" noChangeShapeType="1" noTextEdit="1"/>
                </p:cNvSpPr>
                <p:nvPr/>
              </p:nvSpPr>
              <p:spPr>
                <a:xfrm>
                  <a:off x="1596428" y="3865920"/>
                  <a:ext cx="348522" cy="307777"/>
                </a:xfrm>
                <a:prstGeom prst="rect">
                  <a:avLst/>
                </a:prstGeom>
                <a:blipFill>
                  <a:blip r:embed="rId3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7" name="文本框 86">
                  <a:extLst>
                    <a:ext uri="{FF2B5EF4-FFF2-40B4-BE49-F238E27FC236}">
                      <a16:creationId xmlns:a16="http://schemas.microsoft.com/office/drawing/2014/main" id="{6C0D7CCF-7548-BC08-BA03-054BB0E9DD89}"/>
                    </a:ext>
                  </a:extLst>
                </p:cNvPr>
                <p:cNvSpPr txBox="1"/>
                <p:nvPr/>
              </p:nvSpPr>
              <p:spPr>
                <a:xfrm>
                  <a:off x="1878363" y="3872155"/>
                  <a:ext cx="34852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400" i="1" smtClean="0">
                                <a:solidFill>
                                  <a:srgbClr val="FFFF00"/>
                                </a:solidFill>
                                <a:latin typeface="Cambria Math" panose="02040503050406030204" pitchFamily="18" charset="0"/>
                              </a:rPr>
                            </m:ctrlPr>
                          </m:sSubPr>
                          <m:e>
                            <m:r>
                              <a:rPr kumimoji="1" lang="en-US" altLang="zh-CN" sz="1400" b="0" i="1" smtClean="0">
                                <a:solidFill>
                                  <a:srgbClr val="FFFF00"/>
                                </a:solidFill>
                                <a:latin typeface="Cambria Math" panose="02040503050406030204" pitchFamily="18" charset="0"/>
                              </a:rPr>
                              <m:t>𝑃</m:t>
                            </m:r>
                          </m:e>
                          <m:sub>
                            <m:r>
                              <a:rPr kumimoji="1" lang="en-US" altLang="zh-CN" sz="1400" b="0" i="1" smtClean="0">
                                <a:solidFill>
                                  <a:srgbClr val="FFFF00"/>
                                </a:solidFill>
                                <a:latin typeface="Cambria Math" panose="02040503050406030204" pitchFamily="18" charset="0"/>
                              </a:rPr>
                              <m:t>2</m:t>
                            </m:r>
                          </m:sub>
                        </m:sSub>
                      </m:oMath>
                    </m:oMathPara>
                  </a14:m>
                  <a:endParaRPr kumimoji="1" lang="zh-CN" altLang="en-US" sz="1400" dirty="0">
                    <a:solidFill>
                      <a:srgbClr val="FFFF00"/>
                    </a:solidFill>
                  </a:endParaRPr>
                </a:p>
              </p:txBody>
            </p:sp>
          </mc:Choice>
          <mc:Fallback>
            <p:sp>
              <p:nvSpPr>
                <p:cNvPr id="87" name="文本框 86">
                  <a:extLst>
                    <a:ext uri="{FF2B5EF4-FFF2-40B4-BE49-F238E27FC236}">
                      <a16:creationId xmlns:a16="http://schemas.microsoft.com/office/drawing/2014/main" id="{6C0D7CCF-7548-BC08-BA03-054BB0E9DD89}"/>
                    </a:ext>
                  </a:extLst>
                </p:cNvPr>
                <p:cNvSpPr txBox="1">
                  <a:spLocks noRot="1" noChangeAspect="1" noMove="1" noResize="1" noEditPoints="1" noAdjustHandles="1" noChangeArrowheads="1" noChangeShapeType="1" noTextEdit="1"/>
                </p:cNvSpPr>
                <p:nvPr/>
              </p:nvSpPr>
              <p:spPr>
                <a:xfrm>
                  <a:off x="1878363" y="3872155"/>
                  <a:ext cx="348522" cy="307777"/>
                </a:xfrm>
                <a:prstGeom prst="rect">
                  <a:avLst/>
                </a:prstGeom>
                <a:blipFill>
                  <a:blip r:embed="rId3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8" name="文本框 87">
                  <a:extLst>
                    <a:ext uri="{FF2B5EF4-FFF2-40B4-BE49-F238E27FC236}">
                      <a16:creationId xmlns:a16="http://schemas.microsoft.com/office/drawing/2014/main" id="{4C88099E-4883-DA22-62FF-A66B64E604C2}"/>
                    </a:ext>
                  </a:extLst>
                </p:cNvPr>
                <p:cNvSpPr txBox="1"/>
                <p:nvPr/>
              </p:nvSpPr>
              <p:spPr>
                <a:xfrm>
                  <a:off x="1588173" y="4147103"/>
                  <a:ext cx="34852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400" i="1" smtClean="0">
                                <a:solidFill>
                                  <a:srgbClr val="FFFF00"/>
                                </a:solidFill>
                                <a:latin typeface="Cambria Math" panose="02040503050406030204" pitchFamily="18" charset="0"/>
                              </a:rPr>
                            </m:ctrlPr>
                          </m:sSubPr>
                          <m:e>
                            <m:r>
                              <a:rPr kumimoji="1" lang="en-US" altLang="zh-CN" sz="1400" b="0" i="1" smtClean="0">
                                <a:solidFill>
                                  <a:srgbClr val="FFFF00"/>
                                </a:solidFill>
                                <a:latin typeface="Cambria Math" panose="02040503050406030204" pitchFamily="18" charset="0"/>
                              </a:rPr>
                              <m:t>𝑃</m:t>
                            </m:r>
                          </m:e>
                          <m:sub>
                            <m:r>
                              <a:rPr kumimoji="1" lang="en-US" altLang="zh-CN" sz="1400" b="0" i="1" smtClean="0">
                                <a:solidFill>
                                  <a:srgbClr val="FFFF00"/>
                                </a:solidFill>
                                <a:latin typeface="Cambria Math" panose="02040503050406030204" pitchFamily="18" charset="0"/>
                              </a:rPr>
                              <m:t>3</m:t>
                            </m:r>
                          </m:sub>
                        </m:sSub>
                      </m:oMath>
                    </m:oMathPara>
                  </a14:m>
                  <a:endParaRPr kumimoji="1" lang="zh-CN" altLang="en-US" sz="1400" dirty="0">
                    <a:solidFill>
                      <a:srgbClr val="FFFF00"/>
                    </a:solidFill>
                  </a:endParaRPr>
                </a:p>
              </p:txBody>
            </p:sp>
          </mc:Choice>
          <mc:Fallback>
            <p:sp>
              <p:nvSpPr>
                <p:cNvPr id="88" name="文本框 87">
                  <a:extLst>
                    <a:ext uri="{FF2B5EF4-FFF2-40B4-BE49-F238E27FC236}">
                      <a16:creationId xmlns:a16="http://schemas.microsoft.com/office/drawing/2014/main" id="{4C88099E-4883-DA22-62FF-A66B64E604C2}"/>
                    </a:ext>
                  </a:extLst>
                </p:cNvPr>
                <p:cNvSpPr txBox="1">
                  <a:spLocks noRot="1" noChangeAspect="1" noMove="1" noResize="1" noEditPoints="1" noAdjustHandles="1" noChangeArrowheads="1" noChangeShapeType="1" noTextEdit="1"/>
                </p:cNvSpPr>
                <p:nvPr/>
              </p:nvSpPr>
              <p:spPr>
                <a:xfrm>
                  <a:off x="1588173" y="4147103"/>
                  <a:ext cx="348522" cy="307777"/>
                </a:xfrm>
                <a:prstGeom prst="rect">
                  <a:avLst/>
                </a:prstGeom>
                <a:blipFill>
                  <a:blip r:embed="rId3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9" name="文本框 88">
                  <a:extLst>
                    <a:ext uri="{FF2B5EF4-FFF2-40B4-BE49-F238E27FC236}">
                      <a16:creationId xmlns:a16="http://schemas.microsoft.com/office/drawing/2014/main" id="{00879795-D818-0417-0622-030089095AE4}"/>
                    </a:ext>
                  </a:extLst>
                </p:cNvPr>
                <p:cNvSpPr txBox="1"/>
                <p:nvPr/>
              </p:nvSpPr>
              <p:spPr>
                <a:xfrm>
                  <a:off x="1863164" y="4155078"/>
                  <a:ext cx="34852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400" i="1" smtClean="0">
                                <a:solidFill>
                                  <a:srgbClr val="FFFF00"/>
                                </a:solidFill>
                                <a:latin typeface="Cambria Math" panose="02040503050406030204" pitchFamily="18" charset="0"/>
                              </a:rPr>
                            </m:ctrlPr>
                          </m:sSubPr>
                          <m:e>
                            <m:r>
                              <a:rPr kumimoji="1" lang="en-US" altLang="zh-CN" sz="1400" b="0" i="1" smtClean="0">
                                <a:solidFill>
                                  <a:srgbClr val="FFFF00"/>
                                </a:solidFill>
                                <a:latin typeface="Cambria Math" panose="02040503050406030204" pitchFamily="18" charset="0"/>
                              </a:rPr>
                              <m:t>𝑃</m:t>
                            </m:r>
                          </m:e>
                          <m:sub>
                            <m:r>
                              <a:rPr kumimoji="1" lang="en-US" altLang="zh-CN" sz="1400" b="0" i="1" smtClean="0">
                                <a:solidFill>
                                  <a:srgbClr val="FFFF00"/>
                                </a:solidFill>
                                <a:latin typeface="Cambria Math" panose="02040503050406030204" pitchFamily="18" charset="0"/>
                              </a:rPr>
                              <m:t>4</m:t>
                            </m:r>
                          </m:sub>
                        </m:sSub>
                      </m:oMath>
                    </m:oMathPara>
                  </a14:m>
                  <a:endParaRPr kumimoji="1" lang="zh-CN" altLang="en-US" sz="1400" dirty="0">
                    <a:solidFill>
                      <a:srgbClr val="FFFF00"/>
                    </a:solidFill>
                  </a:endParaRPr>
                </a:p>
              </p:txBody>
            </p:sp>
          </mc:Choice>
          <mc:Fallback>
            <p:sp>
              <p:nvSpPr>
                <p:cNvPr id="89" name="文本框 88">
                  <a:extLst>
                    <a:ext uri="{FF2B5EF4-FFF2-40B4-BE49-F238E27FC236}">
                      <a16:creationId xmlns:a16="http://schemas.microsoft.com/office/drawing/2014/main" id="{00879795-D818-0417-0622-030089095AE4}"/>
                    </a:ext>
                  </a:extLst>
                </p:cNvPr>
                <p:cNvSpPr txBox="1">
                  <a:spLocks noRot="1" noChangeAspect="1" noMove="1" noResize="1" noEditPoints="1" noAdjustHandles="1" noChangeArrowheads="1" noChangeShapeType="1" noTextEdit="1"/>
                </p:cNvSpPr>
                <p:nvPr/>
              </p:nvSpPr>
              <p:spPr>
                <a:xfrm>
                  <a:off x="1863164" y="4155078"/>
                  <a:ext cx="348522" cy="307777"/>
                </a:xfrm>
                <a:prstGeom prst="rect">
                  <a:avLst/>
                </a:prstGeom>
                <a:blipFill>
                  <a:blip r:embed="rId3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0" name="文本框 89">
                  <a:extLst>
                    <a:ext uri="{FF2B5EF4-FFF2-40B4-BE49-F238E27FC236}">
                      <a16:creationId xmlns:a16="http://schemas.microsoft.com/office/drawing/2014/main" id="{F1A73912-243A-3FF5-A7DF-9A13B6EC73BF}"/>
                    </a:ext>
                  </a:extLst>
                </p:cNvPr>
                <p:cNvSpPr txBox="1"/>
                <p:nvPr/>
              </p:nvSpPr>
              <p:spPr>
                <a:xfrm>
                  <a:off x="1314011" y="4514413"/>
                  <a:ext cx="1200970"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000" b="0" i="1" smtClean="0">
                            <a:latin typeface="Cambria Math" panose="02040503050406030204" pitchFamily="18" charset="0"/>
                          </a:rPr>
                          <m:t>𝑃</m:t>
                        </m:r>
                        <m:r>
                          <a:rPr kumimoji="1" lang="en-US" altLang="zh-CN" sz="1000" b="0" i="1" smtClean="0">
                            <a:latin typeface="Cambria Math" panose="02040503050406030204" pitchFamily="18" charset="0"/>
                          </a:rPr>
                          <m:t>={</m:t>
                        </m:r>
                        <m:sSub>
                          <m:sSubPr>
                            <m:ctrlPr>
                              <a:rPr kumimoji="1" lang="en-US" altLang="zh-CN" sz="1000" b="0" i="1" smtClean="0">
                                <a:latin typeface="Cambria Math" panose="02040503050406030204" pitchFamily="18" charset="0"/>
                              </a:rPr>
                            </m:ctrlPr>
                          </m:sSubPr>
                          <m:e>
                            <m:r>
                              <a:rPr kumimoji="1" lang="en-US" altLang="zh-CN" sz="1000" b="0" i="1" smtClean="0">
                                <a:latin typeface="Cambria Math" panose="02040503050406030204" pitchFamily="18" charset="0"/>
                              </a:rPr>
                              <m:t>𝑃</m:t>
                            </m:r>
                          </m:e>
                          <m:sub>
                            <m:r>
                              <a:rPr kumimoji="1" lang="en-US" altLang="zh-CN" sz="1000" b="0" i="1" smtClean="0">
                                <a:latin typeface="Cambria Math" panose="02040503050406030204" pitchFamily="18" charset="0"/>
                              </a:rPr>
                              <m:t>1</m:t>
                            </m:r>
                          </m:sub>
                        </m:sSub>
                        <m:r>
                          <a:rPr kumimoji="1" lang="en-US" altLang="zh-CN" sz="1000" b="0" i="1" smtClean="0">
                            <a:latin typeface="Cambria Math" panose="02040503050406030204" pitchFamily="18" charset="0"/>
                          </a:rPr>
                          <m:t>, </m:t>
                        </m:r>
                        <m:sSub>
                          <m:sSubPr>
                            <m:ctrlPr>
                              <a:rPr kumimoji="1" lang="en-US" altLang="zh-CN" sz="1000" b="0" i="1" smtClean="0">
                                <a:latin typeface="Cambria Math" panose="02040503050406030204" pitchFamily="18" charset="0"/>
                              </a:rPr>
                            </m:ctrlPr>
                          </m:sSubPr>
                          <m:e>
                            <m:r>
                              <a:rPr kumimoji="1" lang="en-US" altLang="zh-CN" sz="1000" b="0" i="1" smtClean="0">
                                <a:latin typeface="Cambria Math" panose="02040503050406030204" pitchFamily="18" charset="0"/>
                              </a:rPr>
                              <m:t>𝑃</m:t>
                            </m:r>
                          </m:e>
                          <m:sub>
                            <m:r>
                              <a:rPr kumimoji="1" lang="en-US" altLang="zh-CN" sz="1000" b="0" i="1" smtClean="0">
                                <a:latin typeface="Cambria Math" panose="02040503050406030204" pitchFamily="18" charset="0"/>
                              </a:rPr>
                              <m:t>2</m:t>
                            </m:r>
                          </m:sub>
                        </m:sSub>
                        <m:r>
                          <a:rPr kumimoji="1" lang="en-US" altLang="zh-CN" sz="1000" b="0" i="1" smtClean="0">
                            <a:latin typeface="Cambria Math" panose="02040503050406030204" pitchFamily="18" charset="0"/>
                          </a:rPr>
                          <m:t>, </m:t>
                        </m:r>
                        <m:sSub>
                          <m:sSubPr>
                            <m:ctrlPr>
                              <a:rPr kumimoji="1" lang="en-US" altLang="zh-CN" sz="1000" b="0" i="1" smtClean="0">
                                <a:latin typeface="Cambria Math" panose="02040503050406030204" pitchFamily="18" charset="0"/>
                              </a:rPr>
                            </m:ctrlPr>
                          </m:sSubPr>
                          <m:e>
                            <m:r>
                              <a:rPr kumimoji="1" lang="en-US" altLang="zh-CN" sz="1000" b="0" i="1" smtClean="0">
                                <a:latin typeface="Cambria Math" panose="02040503050406030204" pitchFamily="18" charset="0"/>
                              </a:rPr>
                              <m:t>𝑃</m:t>
                            </m:r>
                          </m:e>
                          <m:sub>
                            <m:r>
                              <a:rPr kumimoji="1" lang="en-US" altLang="zh-CN" sz="1000" b="0" i="1" smtClean="0">
                                <a:latin typeface="Cambria Math" panose="02040503050406030204" pitchFamily="18" charset="0"/>
                              </a:rPr>
                              <m:t>3</m:t>
                            </m:r>
                          </m:sub>
                        </m:sSub>
                        <m:r>
                          <a:rPr kumimoji="1" lang="en-US" altLang="zh-CN" sz="1000" b="0" i="1" smtClean="0">
                            <a:latin typeface="Cambria Math" panose="02040503050406030204" pitchFamily="18" charset="0"/>
                          </a:rPr>
                          <m:t>, </m:t>
                        </m:r>
                        <m:sSub>
                          <m:sSubPr>
                            <m:ctrlPr>
                              <a:rPr kumimoji="1" lang="en-US" altLang="zh-CN" sz="1000" b="0" i="1" smtClean="0">
                                <a:latin typeface="Cambria Math" panose="02040503050406030204" pitchFamily="18" charset="0"/>
                              </a:rPr>
                            </m:ctrlPr>
                          </m:sSubPr>
                          <m:e>
                            <m:r>
                              <a:rPr kumimoji="1" lang="en-US" altLang="zh-CN" sz="1000" b="0" i="1" smtClean="0">
                                <a:latin typeface="Cambria Math" panose="02040503050406030204" pitchFamily="18" charset="0"/>
                              </a:rPr>
                              <m:t>𝑃</m:t>
                            </m:r>
                          </m:e>
                          <m:sub>
                            <m:r>
                              <a:rPr kumimoji="1" lang="en-US" altLang="zh-CN" sz="1000" b="0" i="1" smtClean="0">
                                <a:latin typeface="Cambria Math" panose="02040503050406030204" pitchFamily="18" charset="0"/>
                              </a:rPr>
                              <m:t>4</m:t>
                            </m:r>
                          </m:sub>
                        </m:sSub>
                        <m:r>
                          <a:rPr kumimoji="1" lang="en-US" altLang="zh-CN" sz="1000" b="0" i="1" smtClean="0">
                            <a:latin typeface="Cambria Math" panose="02040503050406030204" pitchFamily="18" charset="0"/>
                          </a:rPr>
                          <m:t>}</m:t>
                        </m:r>
                      </m:oMath>
                    </m:oMathPara>
                  </a14:m>
                  <a:endParaRPr kumimoji="1" lang="zh-CN" altLang="en-US" sz="1000" dirty="0"/>
                </a:p>
              </p:txBody>
            </p:sp>
          </mc:Choice>
          <mc:Fallback>
            <p:sp>
              <p:nvSpPr>
                <p:cNvPr id="90" name="文本框 89">
                  <a:extLst>
                    <a:ext uri="{FF2B5EF4-FFF2-40B4-BE49-F238E27FC236}">
                      <a16:creationId xmlns:a16="http://schemas.microsoft.com/office/drawing/2014/main" id="{F1A73912-243A-3FF5-A7DF-9A13B6EC73BF}"/>
                    </a:ext>
                  </a:extLst>
                </p:cNvPr>
                <p:cNvSpPr txBox="1">
                  <a:spLocks noRot="1" noChangeAspect="1" noMove="1" noResize="1" noEditPoints="1" noAdjustHandles="1" noChangeArrowheads="1" noChangeShapeType="1" noTextEdit="1"/>
                </p:cNvSpPr>
                <p:nvPr/>
              </p:nvSpPr>
              <p:spPr>
                <a:xfrm>
                  <a:off x="1314011" y="4514413"/>
                  <a:ext cx="1200970" cy="246221"/>
                </a:xfrm>
                <a:prstGeom prst="rect">
                  <a:avLst/>
                </a:prstGeom>
                <a:blipFill>
                  <a:blip r:embed="rId35"/>
                  <a:stretch>
                    <a:fillRect/>
                  </a:stretch>
                </a:blipFill>
              </p:spPr>
              <p:txBody>
                <a:bodyPr/>
                <a:lstStyle/>
                <a:p>
                  <a:r>
                    <a:rPr lang="zh-CN" altLang="en-US">
                      <a:noFill/>
                    </a:rPr>
                    <a:t> </a:t>
                  </a:r>
                </a:p>
              </p:txBody>
            </p:sp>
          </mc:Fallback>
        </mc:AlternateContent>
      </p:grpSp>
      <p:pic>
        <p:nvPicPr>
          <p:cNvPr id="182" name="音频 181">
            <a:extLst>
              <a:ext uri="{FF2B5EF4-FFF2-40B4-BE49-F238E27FC236}">
                <a16:creationId xmlns:a16="http://schemas.microsoft.com/office/drawing/2014/main" id="{8B336825-46AB-4FA3-35C3-374F3B7E1D86}"/>
              </a:ext>
            </a:extLst>
          </p:cNvPr>
          <p:cNvPicPr>
            <a:picLocks noChangeAspect="1"/>
          </p:cNvPicPr>
          <p:nvPr>
            <a:audioFile r:link="rId3"/>
            <p:extLst>
              <p:ext uri="{DAA4B4D4-6D71-4841-9C94-3DE7FCFB9230}">
                <p14:media xmlns:p14="http://schemas.microsoft.com/office/powerpoint/2010/main" r:embed="rId2"/>
              </p:ext>
            </p:extLst>
          </p:nvPr>
        </p:nvPicPr>
        <p:blipFill>
          <a:blip r:embed="rId36"/>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1225417615"/>
      </p:ext>
    </p:extLst>
  </p:cSld>
  <p:clrMapOvr>
    <a:masterClrMapping/>
  </p:clrMapOvr>
  <mc:AlternateContent xmlns:mc="http://schemas.openxmlformats.org/markup-compatibility/2006">
    <mc:Choice xmlns:p14="http://schemas.microsoft.com/office/powerpoint/2010/main" Requires="p14">
      <p:transition spd="slow" p14:dur="2000" advTm="60348"/>
    </mc:Choice>
    <mc:Fallback>
      <p:transition spd="slow" advTm="603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5F71C7A-28AF-06C5-F2CF-D30E447B3017}"/>
              </a:ext>
            </a:extLst>
          </p:cNvPr>
          <p:cNvSpPr txBox="1"/>
          <p:nvPr/>
        </p:nvSpPr>
        <p:spPr>
          <a:xfrm>
            <a:off x="271484" y="94892"/>
            <a:ext cx="3945937" cy="584775"/>
          </a:xfrm>
          <a:prstGeom prst="rect">
            <a:avLst/>
          </a:prstGeom>
          <a:noFill/>
        </p:spPr>
        <p:txBody>
          <a:bodyPr wrap="square" rtlCol="0">
            <a:spAutoFit/>
          </a:bodyPr>
          <a:lstStyle/>
          <a:p>
            <a:r>
              <a:rPr lang="en-US" altLang="zh-CN" sz="3200" b="1" dirty="0"/>
              <a:t>Method</a:t>
            </a:r>
            <a:endParaRPr lang="zh-CN" altLang="en-US" sz="3200" b="1" dirty="0"/>
          </a:p>
        </p:txBody>
      </p:sp>
      <p:cxnSp>
        <p:nvCxnSpPr>
          <p:cNvPr id="4" name="Straight Connector 2">
            <a:extLst>
              <a:ext uri="{FF2B5EF4-FFF2-40B4-BE49-F238E27FC236}">
                <a16:creationId xmlns:a16="http://schemas.microsoft.com/office/drawing/2014/main" id="{CF3CABD3-CC70-6BCF-99AA-01E7DD1079B8}"/>
              </a:ext>
            </a:extLst>
          </p:cNvPr>
          <p:cNvCxnSpPr/>
          <p:nvPr/>
        </p:nvCxnSpPr>
        <p:spPr>
          <a:xfrm flipH="1">
            <a:off x="0" y="679667"/>
            <a:ext cx="121920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BFD85F2C-9695-E2F7-CC42-3623AD94E6D6}"/>
              </a:ext>
            </a:extLst>
          </p:cNvPr>
          <p:cNvGrpSpPr/>
          <p:nvPr/>
        </p:nvGrpSpPr>
        <p:grpSpPr>
          <a:xfrm>
            <a:off x="7725132" y="2100563"/>
            <a:ext cx="2304340" cy="1803542"/>
            <a:chOff x="7245883" y="5853269"/>
            <a:chExt cx="2304340" cy="1803542"/>
          </a:xfrm>
        </p:grpSpPr>
        <p:sp>
          <p:nvSpPr>
            <p:cNvPr id="8" name="文本框 7">
              <a:extLst>
                <a:ext uri="{FF2B5EF4-FFF2-40B4-BE49-F238E27FC236}">
                  <a16:creationId xmlns:a16="http://schemas.microsoft.com/office/drawing/2014/main" id="{0AEF1BE2-E599-CFDE-5AB6-777E35DBF4BE}"/>
                </a:ext>
              </a:extLst>
            </p:cNvPr>
            <p:cNvSpPr txBox="1"/>
            <p:nvPr/>
          </p:nvSpPr>
          <p:spPr>
            <a:xfrm>
              <a:off x="7769302" y="6342775"/>
              <a:ext cx="1218603" cy="523220"/>
            </a:xfrm>
            <a:prstGeom prst="rect">
              <a:avLst/>
            </a:prstGeom>
            <a:noFill/>
          </p:spPr>
          <p:txBody>
            <a:bodyPr wrap="none" rtlCol="0">
              <a:spAutoFit/>
            </a:bodyPr>
            <a:lstStyle/>
            <a:p>
              <a:pPr algn="ctr"/>
              <a:r>
                <a:rPr kumimoji="1" lang="en-US" altLang="zh-CN" sz="1400" dirty="0">
                  <a:solidFill>
                    <a:schemeClr val="accent4">
                      <a:lumMod val="75000"/>
                    </a:schemeClr>
                  </a:solidFill>
                  <a:latin typeface="Segoe Print" panose="02000800000000000000" pitchFamily="2" charset="0"/>
                  <a:cs typeface="Times New Roman" panose="02020603050405020304" pitchFamily="18" charset="0"/>
                </a:rPr>
                <a:t>Cyclic </a:t>
              </a:r>
            </a:p>
            <a:p>
              <a:pPr algn="ctr"/>
              <a:r>
                <a:rPr kumimoji="1" lang="en-US" altLang="zh-CN" sz="1400" dirty="0">
                  <a:solidFill>
                    <a:schemeClr val="accent4">
                      <a:lumMod val="75000"/>
                    </a:schemeClr>
                  </a:solidFill>
                  <a:latin typeface="Segoe Print" panose="02000800000000000000" pitchFamily="2" charset="0"/>
                  <a:cs typeface="Times New Roman" panose="02020603050405020304" pitchFamily="18" charset="0"/>
                </a:rPr>
                <a:t>Pretraining</a:t>
              </a:r>
              <a:endParaRPr kumimoji="1" lang="zh-CN" altLang="en-US" sz="1400" dirty="0">
                <a:solidFill>
                  <a:schemeClr val="accent4">
                    <a:lumMod val="75000"/>
                  </a:schemeClr>
                </a:solidFill>
                <a:latin typeface="Segoe Print" panose="02000800000000000000" pitchFamily="2" charset="0"/>
                <a:cs typeface="Times New Roman" panose="02020603050405020304" pitchFamily="18" charset="0"/>
              </a:endParaRPr>
            </a:p>
          </p:txBody>
        </p:sp>
        <p:sp>
          <p:nvSpPr>
            <p:cNvPr id="9" name="文本框 8">
              <a:extLst>
                <a:ext uri="{FF2B5EF4-FFF2-40B4-BE49-F238E27FC236}">
                  <a16:creationId xmlns:a16="http://schemas.microsoft.com/office/drawing/2014/main" id="{4589145A-5561-FB1B-BA0A-DD13C48FC033}"/>
                </a:ext>
              </a:extLst>
            </p:cNvPr>
            <p:cNvSpPr txBox="1"/>
            <p:nvPr/>
          </p:nvSpPr>
          <p:spPr>
            <a:xfrm>
              <a:off x="7774254" y="5853269"/>
              <a:ext cx="1242289" cy="400110"/>
            </a:xfrm>
            <a:prstGeom prst="rect">
              <a:avLst/>
            </a:prstGeom>
            <a:noFill/>
          </p:spPr>
          <p:txBody>
            <a:bodyPr wrap="square" rtlCol="0">
              <a:spAutoFit/>
            </a:bodyPr>
            <a:lstStyle/>
            <a:p>
              <a:pPr algn="ctr"/>
              <a:r>
                <a:rPr kumimoji="1" lang="en-US" altLang="zh-CN" sz="1000" dirty="0">
                  <a:latin typeface="Times New Roman" panose="02020603050405020304" pitchFamily="18" charset="0"/>
                  <a:cs typeface="Times New Roman" panose="02020603050405020304" pitchFamily="18" charset="0"/>
                </a:rPr>
                <a:t>Perspective #1</a:t>
              </a:r>
            </a:p>
            <a:p>
              <a:pPr algn="ctr"/>
              <a:r>
                <a:rPr kumimoji="1" lang="en-US" altLang="zh-CN" sz="1000" dirty="0">
                  <a:latin typeface="Times New Roman" panose="02020603050405020304" pitchFamily="18" charset="0"/>
                  <a:cs typeface="Times New Roman" panose="02020603050405020304" pitchFamily="18" charset="0"/>
                </a:rPr>
                <a:t>Cycle = 0/3/6…</a:t>
              </a:r>
              <a:endParaRPr kumimoji="1" lang="zh-CN" altLang="en-US" sz="1000"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E3E841C6-DF49-0623-4C5D-4F95EFFF572B}"/>
                </a:ext>
              </a:extLst>
            </p:cNvPr>
            <p:cNvSpPr txBox="1"/>
            <p:nvPr/>
          </p:nvSpPr>
          <p:spPr>
            <a:xfrm>
              <a:off x="7245883" y="6891709"/>
              <a:ext cx="1340892" cy="400110"/>
            </a:xfrm>
            <a:prstGeom prst="rect">
              <a:avLst/>
            </a:prstGeom>
            <a:noFill/>
          </p:spPr>
          <p:txBody>
            <a:bodyPr wrap="square" rtlCol="0">
              <a:spAutoFit/>
            </a:bodyPr>
            <a:lstStyle/>
            <a:p>
              <a:pPr algn="ctr"/>
              <a:r>
                <a:rPr kumimoji="1" lang="en-US" altLang="zh-CN" sz="1000" dirty="0">
                  <a:latin typeface="Times New Roman" panose="02020603050405020304" pitchFamily="18" charset="0"/>
                  <a:cs typeface="Times New Roman" panose="02020603050405020304" pitchFamily="18" charset="0"/>
                </a:rPr>
                <a:t>Perspective #3</a:t>
              </a:r>
            </a:p>
            <a:p>
              <a:pPr algn="ctr"/>
              <a:r>
                <a:rPr kumimoji="1" lang="en-US" altLang="zh-CN" sz="1000" dirty="0">
                  <a:latin typeface="Times New Roman" panose="02020603050405020304" pitchFamily="18" charset="0"/>
                  <a:cs typeface="Times New Roman" panose="02020603050405020304" pitchFamily="18" charset="0"/>
                </a:rPr>
                <a:t>Cycle = 2/5/8…</a:t>
              </a:r>
              <a:endParaRPr kumimoji="1" lang="zh-CN" altLang="en-US" sz="1000"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798993EC-90D7-4AA8-3F76-D2ADA2FDE5BC}"/>
                </a:ext>
              </a:extLst>
            </p:cNvPr>
            <p:cNvSpPr txBox="1"/>
            <p:nvPr/>
          </p:nvSpPr>
          <p:spPr>
            <a:xfrm>
              <a:off x="8209331" y="6892742"/>
              <a:ext cx="1340892" cy="400110"/>
            </a:xfrm>
            <a:prstGeom prst="rect">
              <a:avLst/>
            </a:prstGeom>
            <a:noFill/>
          </p:spPr>
          <p:txBody>
            <a:bodyPr wrap="square" rtlCol="0">
              <a:spAutoFit/>
            </a:bodyPr>
            <a:lstStyle/>
            <a:p>
              <a:pPr algn="ctr"/>
              <a:r>
                <a:rPr kumimoji="1" lang="en-US" altLang="zh-CN" sz="1000" dirty="0">
                  <a:latin typeface="Times New Roman" panose="02020603050405020304" pitchFamily="18" charset="0"/>
                  <a:cs typeface="Times New Roman" panose="02020603050405020304" pitchFamily="18" charset="0"/>
                </a:rPr>
                <a:t>Perspective #2</a:t>
              </a:r>
            </a:p>
            <a:p>
              <a:pPr algn="ctr"/>
              <a:r>
                <a:rPr kumimoji="1" lang="en-US" altLang="zh-CN" sz="1000" dirty="0">
                  <a:latin typeface="Times New Roman" panose="02020603050405020304" pitchFamily="18" charset="0"/>
                  <a:cs typeface="Times New Roman" panose="02020603050405020304" pitchFamily="18" charset="0"/>
                </a:rPr>
                <a:t>Cycle = 1/4/7…</a:t>
              </a:r>
              <a:endParaRPr kumimoji="1" lang="zh-CN" altLang="en-US" sz="1000" dirty="0">
                <a:latin typeface="Times New Roman" panose="02020603050405020304" pitchFamily="18" charset="0"/>
                <a:cs typeface="Times New Roman" panose="02020603050405020304" pitchFamily="18" charset="0"/>
              </a:endParaRPr>
            </a:p>
          </p:txBody>
        </p:sp>
        <p:pic>
          <p:nvPicPr>
            <p:cNvPr id="13" name="图片 12">
              <a:extLst>
                <a:ext uri="{FF2B5EF4-FFF2-40B4-BE49-F238E27FC236}">
                  <a16:creationId xmlns:a16="http://schemas.microsoft.com/office/drawing/2014/main" id="{D7600D5D-DCDF-3AC7-6FE6-7DF80E0567D3}"/>
                </a:ext>
              </a:extLst>
            </p:cNvPr>
            <p:cNvPicPr>
              <a:picLocks noChangeAspect="1"/>
            </p:cNvPicPr>
            <p:nvPr/>
          </p:nvPicPr>
          <p:blipFill rotWithShape="1">
            <a:blip r:embed="rId6"/>
            <a:srcRect l="15245" t="13429" r="49435" b="54851"/>
            <a:stretch/>
          </p:blipFill>
          <p:spPr>
            <a:xfrm rot="19901592">
              <a:off x="7469439" y="6281352"/>
              <a:ext cx="489850" cy="439912"/>
            </a:xfrm>
            <a:prstGeom prst="rect">
              <a:avLst/>
            </a:prstGeom>
          </p:spPr>
        </p:pic>
        <p:pic>
          <p:nvPicPr>
            <p:cNvPr id="14" name="图片 13">
              <a:extLst>
                <a:ext uri="{FF2B5EF4-FFF2-40B4-BE49-F238E27FC236}">
                  <a16:creationId xmlns:a16="http://schemas.microsoft.com/office/drawing/2014/main" id="{6104FB06-5952-B203-5DFF-141E09EBF651}"/>
                </a:ext>
              </a:extLst>
            </p:cNvPr>
            <p:cNvPicPr>
              <a:picLocks noChangeAspect="1"/>
            </p:cNvPicPr>
            <p:nvPr/>
          </p:nvPicPr>
          <p:blipFill rotWithShape="1">
            <a:blip r:embed="rId6"/>
            <a:srcRect l="15245" t="13429" r="49435" b="54851"/>
            <a:stretch/>
          </p:blipFill>
          <p:spPr>
            <a:xfrm rot="6677305">
              <a:off x="8824218" y="6345635"/>
              <a:ext cx="508245" cy="456431"/>
            </a:xfrm>
            <a:prstGeom prst="rect">
              <a:avLst/>
            </a:prstGeom>
          </p:spPr>
        </p:pic>
        <p:pic>
          <p:nvPicPr>
            <p:cNvPr id="15" name="图片 14">
              <a:extLst>
                <a:ext uri="{FF2B5EF4-FFF2-40B4-BE49-F238E27FC236}">
                  <a16:creationId xmlns:a16="http://schemas.microsoft.com/office/drawing/2014/main" id="{164CD012-C763-BC70-894E-08C0FA3429DF}"/>
                </a:ext>
              </a:extLst>
            </p:cNvPr>
            <p:cNvPicPr>
              <a:picLocks noChangeAspect="1"/>
            </p:cNvPicPr>
            <p:nvPr/>
          </p:nvPicPr>
          <p:blipFill rotWithShape="1">
            <a:blip r:embed="rId6"/>
            <a:srcRect l="15245" t="13429" r="49435" b="54851"/>
            <a:stretch/>
          </p:blipFill>
          <p:spPr>
            <a:xfrm rot="13153010">
              <a:off x="8095860" y="7100352"/>
              <a:ext cx="546316" cy="556459"/>
            </a:xfrm>
            <a:prstGeom prst="rect">
              <a:avLst/>
            </a:prstGeom>
          </p:spPr>
        </p:pic>
      </p:grpSp>
      <p:grpSp>
        <p:nvGrpSpPr>
          <p:cNvPr id="16" name="组合 15">
            <a:extLst>
              <a:ext uri="{FF2B5EF4-FFF2-40B4-BE49-F238E27FC236}">
                <a16:creationId xmlns:a16="http://schemas.microsoft.com/office/drawing/2014/main" id="{6653467E-7080-D396-BE33-F32B2567AFA6}"/>
              </a:ext>
            </a:extLst>
          </p:cNvPr>
          <p:cNvGrpSpPr/>
          <p:nvPr/>
        </p:nvGrpSpPr>
        <p:grpSpPr>
          <a:xfrm>
            <a:off x="9971403" y="1979920"/>
            <a:ext cx="1920265" cy="2140083"/>
            <a:chOff x="9264891" y="5755122"/>
            <a:chExt cx="1920265" cy="2140083"/>
          </a:xfrm>
        </p:grpSpPr>
        <p:sp>
          <p:nvSpPr>
            <p:cNvPr id="18" name="圆角矩形 17">
              <a:extLst>
                <a:ext uri="{FF2B5EF4-FFF2-40B4-BE49-F238E27FC236}">
                  <a16:creationId xmlns:a16="http://schemas.microsoft.com/office/drawing/2014/main" id="{149D4B7B-2210-ACAF-9911-8198AF5C16CA}"/>
                </a:ext>
              </a:extLst>
            </p:cNvPr>
            <p:cNvSpPr/>
            <p:nvPr/>
          </p:nvSpPr>
          <p:spPr>
            <a:xfrm>
              <a:off x="9264891" y="5755122"/>
              <a:ext cx="1811358" cy="2140083"/>
            </a:xfrm>
            <a:prstGeom prst="roundRect">
              <a:avLst/>
            </a:prstGeom>
            <a:solidFill>
              <a:srgbClr val="FBE5D6">
                <a:alpha val="21176"/>
              </a:srgbClr>
            </a:solidFill>
            <a:ln w="285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6CDA4834-D68C-B6D3-A49E-4F0FA15F732B}"/>
                </a:ext>
              </a:extLst>
            </p:cNvPr>
            <p:cNvSpPr txBox="1"/>
            <p:nvPr/>
          </p:nvSpPr>
          <p:spPr>
            <a:xfrm>
              <a:off x="9264891" y="5818777"/>
              <a:ext cx="1751864" cy="276999"/>
            </a:xfrm>
            <a:prstGeom prst="rect">
              <a:avLst/>
            </a:prstGeom>
            <a:noFill/>
          </p:spPr>
          <p:txBody>
            <a:bodyPr wrap="square" rtlCol="0">
              <a:spAutoFit/>
            </a:bodyPr>
            <a:lstStyle/>
            <a:p>
              <a:pPr algn="ctr"/>
              <a:r>
                <a:rPr kumimoji="1" lang="en-US" altLang="zh-CN" sz="1200" b="1" dirty="0">
                  <a:latin typeface="Times New Roman" panose="02020603050405020304" pitchFamily="18" charset="0"/>
                  <a:cs typeface="Times New Roman" panose="02020603050405020304" pitchFamily="18" charset="0"/>
                </a:rPr>
                <a:t>Methodology Novelty</a:t>
              </a:r>
              <a:endParaRPr kumimoji="1" lang="zh-CN" altLang="en-US" sz="1200" b="1"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B9CC8DDA-810E-A1DA-81D1-93046C838921}"/>
                </a:ext>
              </a:extLst>
            </p:cNvPr>
            <p:cNvSpPr txBox="1"/>
            <p:nvPr/>
          </p:nvSpPr>
          <p:spPr>
            <a:xfrm>
              <a:off x="9266160" y="6115026"/>
              <a:ext cx="1918996" cy="1700466"/>
            </a:xfrm>
            <a:prstGeom prst="rect">
              <a:avLst/>
            </a:prstGeom>
            <a:noFill/>
          </p:spPr>
          <p:txBody>
            <a:bodyPr wrap="square" rtlCol="0">
              <a:spAutoFit/>
            </a:bodyPr>
            <a:lstStyle/>
            <a:p>
              <a:r>
                <a:rPr kumimoji="1" lang="en-US" altLang="zh-CN" sz="1000" dirty="0">
                  <a:latin typeface="Times New Roman" panose="02020603050405020304" pitchFamily="18" charset="0"/>
                  <a:cs typeface="Times New Roman" panose="02020603050405020304" pitchFamily="18" charset="0"/>
                </a:rPr>
                <a:t>Lamps collaboratively</a:t>
              </a:r>
            </a:p>
            <a:p>
              <a:r>
                <a:rPr kumimoji="1" lang="en-US" altLang="zh-CN" sz="1000" dirty="0">
                  <a:latin typeface="Times New Roman" panose="02020603050405020304" pitchFamily="18" charset="0"/>
                  <a:cs typeface="Times New Roman" panose="02020603050405020304" pitchFamily="18" charset="0"/>
                </a:rPr>
                <a:t>• </a:t>
              </a:r>
              <a:r>
                <a:rPr kumimoji="1" lang="en-US" altLang="zh-CN" sz="950" dirty="0">
                  <a:latin typeface="Times New Roman" panose="02020603050405020304" pitchFamily="18" charset="0"/>
                  <a:cs typeface="Times New Roman" panose="02020603050405020304" pitchFamily="18" charset="0"/>
                </a:rPr>
                <a:t>Learns </a:t>
              </a:r>
              <a:r>
                <a:rPr kumimoji="1" lang="en-US" altLang="zh-CN" sz="950" b="1" dirty="0">
                  <a:latin typeface="Times New Roman" panose="02020603050405020304" pitchFamily="18" charset="0"/>
                  <a:cs typeface="Times New Roman" panose="02020603050405020304" pitchFamily="18" charset="0"/>
                </a:rPr>
                <a:t>anatomy continuity</a:t>
              </a:r>
              <a:r>
                <a:rPr kumimoji="1" lang="en-US" altLang="zh-CN" sz="950" dirty="0">
                  <a:latin typeface="Times New Roman" panose="02020603050405020304" pitchFamily="18" charset="0"/>
                  <a:cs typeface="Times New Roman" panose="02020603050405020304" pitchFamily="18" charset="0"/>
                </a:rPr>
                <a:t> from extrapolation,</a:t>
              </a:r>
            </a:p>
            <a:p>
              <a:endParaRPr kumimoji="1" lang="en-US" altLang="zh-CN" sz="200" dirty="0">
                <a:latin typeface="Times New Roman" panose="02020603050405020304" pitchFamily="18" charset="0"/>
                <a:cs typeface="Times New Roman" panose="02020603050405020304" pitchFamily="18" charset="0"/>
              </a:endParaRPr>
            </a:p>
            <a:p>
              <a:r>
                <a:rPr kumimoji="1" lang="en-US" altLang="zh-CN" sz="950" dirty="0">
                  <a:latin typeface="Times New Roman" panose="02020603050405020304" pitchFamily="18" charset="0"/>
                  <a:cs typeface="Times New Roman" panose="02020603050405020304" pitchFamily="18" charset="0"/>
                </a:rPr>
                <a:t>• Learns </a:t>
              </a:r>
              <a:r>
                <a:rPr kumimoji="1" lang="en-US" altLang="zh-CN" sz="950" b="1" dirty="0">
                  <a:latin typeface="Times New Roman" panose="02020603050405020304" pitchFamily="18" charset="0"/>
                  <a:cs typeface="Times New Roman" panose="02020603050405020304" pitchFamily="18" charset="0"/>
                </a:rPr>
                <a:t>anatomy layout </a:t>
              </a:r>
              <a:r>
                <a:rPr kumimoji="1" lang="en-US" altLang="zh-CN" sz="950" dirty="0">
                  <a:latin typeface="Times New Roman" panose="02020603050405020304" pitchFamily="18" charset="0"/>
                  <a:cs typeface="Times New Roman" panose="02020603050405020304" pitchFamily="18" charset="0"/>
                </a:rPr>
                <a:t>from order correction,</a:t>
              </a:r>
            </a:p>
            <a:p>
              <a:endParaRPr kumimoji="1" lang="en-US" altLang="zh-CN" sz="200" dirty="0">
                <a:latin typeface="Times New Roman" panose="02020603050405020304" pitchFamily="18" charset="0"/>
                <a:cs typeface="Times New Roman" panose="02020603050405020304" pitchFamily="18" charset="0"/>
              </a:endParaRPr>
            </a:p>
            <a:p>
              <a:r>
                <a:rPr kumimoji="1" lang="en-US" altLang="zh-CN" sz="1000" dirty="0">
                  <a:latin typeface="Times New Roman" panose="02020603050405020304" pitchFamily="18" charset="0"/>
                  <a:cs typeface="Times New Roman" panose="02020603050405020304" pitchFamily="18" charset="0"/>
                </a:rPr>
                <a:t>• Learns </a:t>
              </a:r>
              <a:r>
                <a:rPr kumimoji="1" lang="en-US" altLang="zh-CN" sz="1000" b="1" dirty="0">
                  <a:latin typeface="Times New Roman" panose="02020603050405020304" pitchFamily="18" charset="0"/>
                  <a:cs typeface="Times New Roman" panose="02020603050405020304" pitchFamily="18" charset="0"/>
                </a:rPr>
                <a:t>hierarchies</a:t>
              </a:r>
              <a:r>
                <a:rPr kumimoji="1" lang="en-US" altLang="zh-CN" sz="1000" dirty="0">
                  <a:latin typeface="Times New Roman" panose="02020603050405020304" pitchFamily="18" charset="0"/>
                  <a:cs typeface="Times New Roman" panose="02020603050405020304" pitchFamily="18" charset="0"/>
                </a:rPr>
                <a:t> from composition/decomposition</a:t>
              </a:r>
            </a:p>
            <a:p>
              <a:endParaRPr kumimoji="1" lang="en-US" altLang="zh-CN" sz="200" dirty="0">
                <a:latin typeface="Times New Roman" panose="02020603050405020304" pitchFamily="18" charset="0"/>
                <a:cs typeface="Times New Roman" panose="02020603050405020304" pitchFamily="18" charset="0"/>
              </a:endParaRPr>
            </a:p>
            <a:p>
              <a:r>
                <a:rPr kumimoji="1" lang="en-US" altLang="zh-CN" sz="1000" dirty="0">
                  <a:latin typeface="Times New Roman" panose="02020603050405020304" pitchFamily="18" charset="0"/>
                  <a:cs typeface="Times New Roman" panose="02020603050405020304" pitchFamily="18" charset="0"/>
                </a:rPr>
                <a:t>by accruing knowledge from multiple perspectives via </a:t>
              </a:r>
              <a:r>
                <a:rPr kumimoji="1" lang="en-US" altLang="zh-CN" sz="1000" b="1" dirty="0">
                  <a:latin typeface="Times New Roman" panose="02020603050405020304" pitchFamily="18" charset="0"/>
                  <a:cs typeface="Times New Roman" panose="02020603050405020304" pitchFamily="18" charset="0"/>
                </a:rPr>
                <a:t>cyclic pretraining.</a:t>
              </a:r>
              <a:endParaRPr kumimoji="1" lang="zh-CN" altLang="en-US" sz="1000" b="1" dirty="0">
                <a:latin typeface="Times New Roman" panose="02020603050405020304" pitchFamily="18" charset="0"/>
                <a:cs typeface="Times New Roman" panose="02020603050405020304" pitchFamily="18" charset="0"/>
              </a:endParaRPr>
            </a:p>
          </p:txBody>
        </p:sp>
      </p:grpSp>
      <p:grpSp>
        <p:nvGrpSpPr>
          <p:cNvPr id="21" name="组合 20">
            <a:extLst>
              <a:ext uri="{FF2B5EF4-FFF2-40B4-BE49-F238E27FC236}">
                <a16:creationId xmlns:a16="http://schemas.microsoft.com/office/drawing/2014/main" id="{CCB3CDB2-0691-30CE-FC56-ED3C95A198F1}"/>
              </a:ext>
            </a:extLst>
          </p:cNvPr>
          <p:cNvGrpSpPr/>
          <p:nvPr/>
        </p:nvGrpSpPr>
        <p:grpSpPr>
          <a:xfrm>
            <a:off x="271484" y="1503958"/>
            <a:ext cx="7597953" cy="3099207"/>
            <a:chOff x="225291" y="5225551"/>
            <a:chExt cx="7597953" cy="3099207"/>
          </a:xfrm>
        </p:grpSpPr>
        <p:sp>
          <p:nvSpPr>
            <p:cNvPr id="22" name="圆角矩形 21">
              <a:extLst>
                <a:ext uri="{FF2B5EF4-FFF2-40B4-BE49-F238E27FC236}">
                  <a16:creationId xmlns:a16="http://schemas.microsoft.com/office/drawing/2014/main" id="{BC5E85AE-1D97-0C0E-375D-BC0311DDFB2F}"/>
                </a:ext>
              </a:extLst>
            </p:cNvPr>
            <p:cNvSpPr/>
            <p:nvPr/>
          </p:nvSpPr>
          <p:spPr>
            <a:xfrm>
              <a:off x="225291" y="6348065"/>
              <a:ext cx="429768" cy="411480"/>
            </a:xfrm>
            <a:prstGeom prst="roundRect">
              <a:avLst/>
            </a:prstGeom>
            <a:solidFill>
              <a:schemeClr val="bg1">
                <a:lumMod val="85000"/>
              </a:schemeClr>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F0475380-30E4-86C8-8F4B-4C7670DDD9F9}"/>
                    </a:ext>
                  </a:extLst>
                </p:cNvPr>
                <p:cNvSpPr txBox="1"/>
                <p:nvPr/>
              </p:nvSpPr>
              <p:spPr>
                <a:xfrm>
                  <a:off x="365808" y="6396935"/>
                  <a:ext cx="1929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𝑥</m:t>
                        </m:r>
                      </m:oMath>
                    </m:oMathPara>
                  </a14:m>
                  <a:endParaRPr kumimoji="1" lang="zh-CN" altLang="en-US" dirty="0"/>
                </a:p>
              </p:txBody>
            </p:sp>
          </mc:Choice>
          <mc:Fallback xmlns="">
            <p:sp>
              <p:nvSpPr>
                <p:cNvPr id="24" name="文本框 23">
                  <a:extLst>
                    <a:ext uri="{FF2B5EF4-FFF2-40B4-BE49-F238E27FC236}">
                      <a16:creationId xmlns:a16="http://schemas.microsoft.com/office/drawing/2014/main" id="{4BAFE9C9-DBB8-3A75-5692-49B264281CE0}"/>
                    </a:ext>
                  </a:extLst>
                </p:cNvPr>
                <p:cNvSpPr txBox="1">
                  <a:spLocks noRot="1" noChangeAspect="1" noMove="1" noResize="1" noEditPoints="1" noAdjustHandles="1" noChangeArrowheads="1" noChangeShapeType="1" noTextEdit="1"/>
                </p:cNvSpPr>
                <p:nvPr/>
              </p:nvSpPr>
              <p:spPr>
                <a:xfrm>
                  <a:off x="365808" y="6396935"/>
                  <a:ext cx="192938" cy="276999"/>
                </a:xfrm>
                <a:prstGeom prst="rect">
                  <a:avLst/>
                </a:prstGeom>
                <a:blipFill>
                  <a:blip r:embed="rId8"/>
                  <a:stretch>
                    <a:fillRect l="-20000" r="-13333"/>
                  </a:stretch>
                </a:blipFill>
              </p:spPr>
              <p:txBody>
                <a:bodyPr/>
                <a:lstStyle/>
                <a:p>
                  <a:r>
                    <a:rPr lang="zh-CN" altLang="en-US">
                      <a:noFill/>
                    </a:rPr>
                    <a:t> </a:t>
                  </a:r>
                </a:p>
              </p:txBody>
            </p:sp>
          </mc:Fallback>
        </mc:AlternateContent>
        <p:sp>
          <p:nvSpPr>
            <p:cNvPr id="24" name="圆角矩形 23">
              <a:extLst>
                <a:ext uri="{FF2B5EF4-FFF2-40B4-BE49-F238E27FC236}">
                  <a16:creationId xmlns:a16="http://schemas.microsoft.com/office/drawing/2014/main" id="{11DEF24D-6BB3-7304-77AF-BEB0571E499B}"/>
                </a:ext>
              </a:extLst>
            </p:cNvPr>
            <p:cNvSpPr/>
            <p:nvPr/>
          </p:nvSpPr>
          <p:spPr>
            <a:xfrm>
              <a:off x="969309" y="5477917"/>
              <a:ext cx="429768" cy="411480"/>
            </a:xfrm>
            <a:prstGeom prst="roundRect">
              <a:avLst/>
            </a:prstGeom>
            <a:solidFill>
              <a:schemeClr val="bg1">
                <a:lumMod val="85000"/>
              </a:schemeClr>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865D6690-0D06-3344-AD90-45C93DDB2B9F}"/>
                    </a:ext>
                  </a:extLst>
                </p:cNvPr>
                <p:cNvSpPr txBox="1"/>
                <p:nvPr/>
              </p:nvSpPr>
              <p:spPr>
                <a:xfrm>
                  <a:off x="1087724" y="5545157"/>
                  <a:ext cx="26744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zh-CN" i="1" smtClean="0">
                                <a:latin typeface="Cambria Math" panose="02040503050406030204" pitchFamily="18" charset="0"/>
                              </a:rPr>
                            </m:ctrlPr>
                          </m:sSupPr>
                          <m:e>
                            <m:r>
                              <a:rPr kumimoji="1" lang="en-US" altLang="zh-CN" b="0" i="1" smtClean="0">
                                <a:latin typeface="Cambria Math" panose="02040503050406030204" pitchFamily="18" charset="0"/>
                              </a:rPr>
                              <m:t>𝑥</m:t>
                            </m:r>
                          </m:e>
                          <m:sup>
                            <m:r>
                              <a:rPr kumimoji="1" lang="en-US" altLang="zh-CN" b="0" i="1" smtClean="0">
                                <a:latin typeface="Cambria Math" panose="02040503050406030204" pitchFamily="18" charset="0"/>
                              </a:rPr>
                              <m:t>′</m:t>
                            </m:r>
                          </m:sup>
                        </m:sSup>
                      </m:oMath>
                    </m:oMathPara>
                  </a14:m>
                  <a:endParaRPr kumimoji="1" lang="zh-CN" altLang="en-US" dirty="0"/>
                </a:p>
              </p:txBody>
            </p:sp>
          </mc:Choice>
          <mc:Fallback xmlns="">
            <p:sp>
              <p:nvSpPr>
                <p:cNvPr id="26" name="文本框 25">
                  <a:extLst>
                    <a:ext uri="{FF2B5EF4-FFF2-40B4-BE49-F238E27FC236}">
                      <a16:creationId xmlns:a16="http://schemas.microsoft.com/office/drawing/2014/main" id="{F2597728-8E78-C6B9-8F23-5DE5D6BF29DF}"/>
                    </a:ext>
                  </a:extLst>
                </p:cNvPr>
                <p:cNvSpPr txBox="1">
                  <a:spLocks noRot="1" noChangeAspect="1" noMove="1" noResize="1" noEditPoints="1" noAdjustHandles="1" noChangeArrowheads="1" noChangeShapeType="1" noTextEdit="1"/>
                </p:cNvSpPr>
                <p:nvPr/>
              </p:nvSpPr>
              <p:spPr>
                <a:xfrm>
                  <a:off x="1087724" y="5545157"/>
                  <a:ext cx="267446" cy="276999"/>
                </a:xfrm>
                <a:prstGeom prst="rect">
                  <a:avLst/>
                </a:prstGeom>
                <a:blipFill>
                  <a:blip r:embed="rId9"/>
                  <a:stretch>
                    <a:fillRect l="-9091" r="-4545"/>
                  </a:stretch>
                </a:blipFill>
              </p:spPr>
              <p:txBody>
                <a:bodyPr/>
                <a:lstStyle/>
                <a:p>
                  <a:r>
                    <a:rPr lang="zh-CN" altLang="en-US">
                      <a:noFill/>
                    </a:rPr>
                    <a:t> </a:t>
                  </a:r>
                </a:p>
              </p:txBody>
            </p:sp>
          </mc:Fallback>
        </mc:AlternateContent>
        <p:sp>
          <p:nvSpPr>
            <p:cNvPr id="26" name="圆角矩形 25">
              <a:extLst>
                <a:ext uri="{FF2B5EF4-FFF2-40B4-BE49-F238E27FC236}">
                  <a16:creationId xmlns:a16="http://schemas.microsoft.com/office/drawing/2014/main" id="{A74BCA87-4D3A-57B8-C4A3-CA17307BA39B}"/>
                </a:ext>
              </a:extLst>
            </p:cNvPr>
            <p:cNvSpPr/>
            <p:nvPr/>
          </p:nvSpPr>
          <p:spPr>
            <a:xfrm>
              <a:off x="962546" y="7331688"/>
              <a:ext cx="429768" cy="411480"/>
            </a:xfrm>
            <a:prstGeom prst="roundRect">
              <a:avLst/>
            </a:prstGeom>
            <a:solidFill>
              <a:schemeClr val="bg1">
                <a:lumMod val="85000"/>
              </a:schemeClr>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A55C17F6-28DC-2B84-2BD2-18A3D4D827B6}"/>
                    </a:ext>
                  </a:extLst>
                </p:cNvPr>
                <p:cNvSpPr txBox="1"/>
                <p:nvPr/>
              </p:nvSpPr>
              <p:spPr>
                <a:xfrm>
                  <a:off x="1081418" y="7398928"/>
                  <a:ext cx="32675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zh-CN" i="1" smtClean="0">
                                <a:latin typeface="Cambria Math" panose="02040503050406030204" pitchFamily="18" charset="0"/>
                              </a:rPr>
                            </m:ctrlPr>
                          </m:sSupPr>
                          <m:e>
                            <m:r>
                              <a:rPr kumimoji="1" lang="en-US" altLang="zh-CN" b="0" i="1" smtClean="0">
                                <a:latin typeface="Cambria Math" panose="02040503050406030204" pitchFamily="18" charset="0"/>
                              </a:rPr>
                              <m:t>𝑥</m:t>
                            </m:r>
                          </m:e>
                          <m:sup>
                            <m:r>
                              <a:rPr kumimoji="1" lang="en-US" altLang="zh-CN" b="0" i="1" smtClean="0">
                                <a:latin typeface="Cambria Math" panose="02040503050406030204" pitchFamily="18" charset="0"/>
                              </a:rPr>
                              <m:t>′′</m:t>
                            </m:r>
                          </m:sup>
                        </m:sSup>
                      </m:oMath>
                    </m:oMathPara>
                  </a14:m>
                  <a:endParaRPr kumimoji="1" lang="zh-CN" altLang="en-US" dirty="0"/>
                </a:p>
              </p:txBody>
            </p:sp>
          </mc:Choice>
          <mc:Fallback xmlns="">
            <p:sp>
              <p:nvSpPr>
                <p:cNvPr id="28" name="文本框 27">
                  <a:extLst>
                    <a:ext uri="{FF2B5EF4-FFF2-40B4-BE49-F238E27FC236}">
                      <a16:creationId xmlns:a16="http://schemas.microsoft.com/office/drawing/2014/main" id="{D7E56687-6DCA-D687-2C8D-CFBFC1F92EE1}"/>
                    </a:ext>
                  </a:extLst>
                </p:cNvPr>
                <p:cNvSpPr txBox="1">
                  <a:spLocks noRot="1" noChangeAspect="1" noMove="1" noResize="1" noEditPoints="1" noAdjustHandles="1" noChangeArrowheads="1" noChangeShapeType="1" noTextEdit="1"/>
                </p:cNvSpPr>
                <p:nvPr/>
              </p:nvSpPr>
              <p:spPr>
                <a:xfrm>
                  <a:off x="1081418" y="7398928"/>
                  <a:ext cx="326756" cy="276999"/>
                </a:xfrm>
                <a:prstGeom prst="rect">
                  <a:avLst/>
                </a:prstGeom>
                <a:blipFill>
                  <a:blip r:embed="rId10"/>
                  <a:stretch>
                    <a:fillRect l="-11111"/>
                  </a:stretch>
                </a:blipFill>
              </p:spPr>
              <p:txBody>
                <a:bodyPr/>
                <a:lstStyle/>
                <a:p>
                  <a:r>
                    <a:rPr lang="zh-CN" altLang="en-US">
                      <a:noFill/>
                    </a:rPr>
                    <a:t> </a:t>
                  </a:r>
                </a:p>
              </p:txBody>
            </p:sp>
          </mc:Fallback>
        </mc:AlternateContent>
        <p:sp>
          <p:nvSpPr>
            <p:cNvPr id="29" name="梯形 28">
              <a:extLst>
                <a:ext uri="{FF2B5EF4-FFF2-40B4-BE49-F238E27FC236}">
                  <a16:creationId xmlns:a16="http://schemas.microsoft.com/office/drawing/2014/main" id="{8D0D0DCD-CDC4-AD46-3365-4CA9B99DFA88}"/>
                </a:ext>
              </a:extLst>
            </p:cNvPr>
            <p:cNvSpPr/>
            <p:nvPr/>
          </p:nvSpPr>
          <p:spPr>
            <a:xfrm rot="5400000">
              <a:off x="1630633" y="5318880"/>
              <a:ext cx="764866" cy="729335"/>
            </a:xfrm>
            <a:prstGeom prst="trapezoid">
              <a:avLst/>
            </a:prstGeom>
            <a:solidFill>
              <a:schemeClr val="accent4">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0" name="文本框 29">
              <a:extLst>
                <a:ext uri="{FF2B5EF4-FFF2-40B4-BE49-F238E27FC236}">
                  <a16:creationId xmlns:a16="http://schemas.microsoft.com/office/drawing/2014/main" id="{C76F9516-BD9E-5AB5-B6E3-BD9946FBF4D9}"/>
                </a:ext>
              </a:extLst>
            </p:cNvPr>
            <p:cNvSpPr txBox="1"/>
            <p:nvPr/>
          </p:nvSpPr>
          <p:spPr>
            <a:xfrm>
              <a:off x="1689402" y="5550866"/>
              <a:ext cx="679188"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Student</a:t>
              </a:r>
              <a:endParaRPr kumimoji="1" lang="zh-CN" altLang="en-US" sz="1200" dirty="0">
                <a:latin typeface="Times New Roman" panose="02020603050405020304" pitchFamily="18" charset="0"/>
                <a:cs typeface="Times New Roman" panose="02020603050405020304" pitchFamily="18" charset="0"/>
              </a:endParaRPr>
            </a:p>
          </p:txBody>
        </p:sp>
        <p:sp>
          <p:nvSpPr>
            <p:cNvPr id="33" name="梯形 32">
              <a:extLst>
                <a:ext uri="{FF2B5EF4-FFF2-40B4-BE49-F238E27FC236}">
                  <a16:creationId xmlns:a16="http://schemas.microsoft.com/office/drawing/2014/main" id="{BF33851C-194B-E04A-11DB-F14EF894036F}"/>
                </a:ext>
              </a:extLst>
            </p:cNvPr>
            <p:cNvSpPr/>
            <p:nvPr/>
          </p:nvSpPr>
          <p:spPr>
            <a:xfrm rot="5400000">
              <a:off x="1636025" y="7164438"/>
              <a:ext cx="764868" cy="739303"/>
            </a:xfrm>
            <a:prstGeom prst="trapezoid">
              <a:avLst/>
            </a:prstGeom>
            <a:solidFill>
              <a:schemeClr val="accent6">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4" name="文本框 33">
              <a:extLst>
                <a:ext uri="{FF2B5EF4-FFF2-40B4-BE49-F238E27FC236}">
                  <a16:creationId xmlns:a16="http://schemas.microsoft.com/office/drawing/2014/main" id="{7BECC34A-0181-B6FE-DA0E-AD765D37100E}"/>
                </a:ext>
              </a:extLst>
            </p:cNvPr>
            <p:cNvSpPr txBox="1"/>
            <p:nvPr/>
          </p:nvSpPr>
          <p:spPr>
            <a:xfrm>
              <a:off x="1642915" y="7400622"/>
              <a:ext cx="739304"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Teacher</a:t>
              </a:r>
              <a:endParaRPr kumimoji="1" lang="zh-CN" altLang="en-US" sz="1200" dirty="0">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3F7AADE5-8B2B-3370-ABDC-FB2E86D8B34D}"/>
                </a:ext>
              </a:extLst>
            </p:cNvPr>
            <p:cNvSpPr/>
            <p:nvPr/>
          </p:nvSpPr>
          <p:spPr>
            <a:xfrm>
              <a:off x="2729372" y="5239175"/>
              <a:ext cx="651986" cy="270654"/>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9546B945-76C1-C268-C208-E45B205C99F4}"/>
                </a:ext>
              </a:extLst>
            </p:cNvPr>
            <p:cNvSpPr txBox="1"/>
            <p:nvPr/>
          </p:nvSpPr>
          <p:spPr>
            <a:xfrm>
              <a:off x="2711421" y="5225551"/>
              <a:ext cx="661967" cy="261610"/>
            </a:xfrm>
            <a:prstGeom prst="rect">
              <a:avLst/>
            </a:prstGeom>
            <a:noFill/>
          </p:spPr>
          <p:txBody>
            <a:bodyPr wrap="square" rtlCol="0">
              <a:spAutoFit/>
            </a:bodyPr>
            <a:lstStyle/>
            <a:p>
              <a:r>
                <a:rPr kumimoji="1" lang="en-US" altLang="zh-CN" sz="1100" dirty="0">
                  <a:latin typeface="Times New Roman" panose="02020603050405020304" pitchFamily="18" charset="0"/>
                  <a:cs typeface="Times New Roman" panose="02020603050405020304" pitchFamily="18" charset="0"/>
                </a:rPr>
                <a:t>Head #1</a:t>
              </a:r>
              <a:endParaRPr kumimoji="1" lang="zh-CN" altLang="en-US" sz="1100" dirty="0">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78EB005E-F72B-632F-9648-9126967CAA47}"/>
                </a:ext>
              </a:extLst>
            </p:cNvPr>
            <p:cNvSpPr/>
            <p:nvPr/>
          </p:nvSpPr>
          <p:spPr>
            <a:xfrm>
              <a:off x="2729372" y="5568361"/>
              <a:ext cx="651986" cy="270654"/>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文本框 37">
              <a:extLst>
                <a:ext uri="{FF2B5EF4-FFF2-40B4-BE49-F238E27FC236}">
                  <a16:creationId xmlns:a16="http://schemas.microsoft.com/office/drawing/2014/main" id="{2659690C-49D2-B8C2-07F3-3FE0EC6453EC}"/>
                </a:ext>
              </a:extLst>
            </p:cNvPr>
            <p:cNvSpPr txBox="1"/>
            <p:nvPr/>
          </p:nvSpPr>
          <p:spPr>
            <a:xfrm>
              <a:off x="2711421" y="5554737"/>
              <a:ext cx="693172" cy="261610"/>
            </a:xfrm>
            <a:prstGeom prst="rect">
              <a:avLst/>
            </a:prstGeom>
            <a:noFill/>
          </p:spPr>
          <p:txBody>
            <a:bodyPr wrap="square" rtlCol="0">
              <a:spAutoFit/>
            </a:bodyPr>
            <a:lstStyle/>
            <a:p>
              <a:r>
                <a:rPr kumimoji="1" lang="en-US" altLang="zh-CN" sz="1100" dirty="0">
                  <a:latin typeface="Times New Roman" panose="02020603050405020304" pitchFamily="18" charset="0"/>
                  <a:cs typeface="Times New Roman" panose="02020603050405020304" pitchFamily="18" charset="0"/>
                </a:rPr>
                <a:t>Head #2</a:t>
              </a:r>
              <a:endParaRPr kumimoji="1" lang="zh-CN" altLang="en-US" sz="1100" dirty="0">
                <a:latin typeface="Times New Roman" panose="02020603050405020304" pitchFamily="18" charset="0"/>
                <a:cs typeface="Times New Roman" panose="02020603050405020304" pitchFamily="18" charset="0"/>
              </a:endParaRPr>
            </a:p>
          </p:txBody>
        </p:sp>
        <p:sp>
          <p:nvSpPr>
            <p:cNvPr id="39" name="矩形 38">
              <a:extLst>
                <a:ext uri="{FF2B5EF4-FFF2-40B4-BE49-F238E27FC236}">
                  <a16:creationId xmlns:a16="http://schemas.microsoft.com/office/drawing/2014/main" id="{2F3D4AC0-C4EC-E1F7-4CE3-497F21F63808}"/>
                </a:ext>
              </a:extLst>
            </p:cNvPr>
            <p:cNvSpPr/>
            <p:nvPr/>
          </p:nvSpPr>
          <p:spPr>
            <a:xfrm>
              <a:off x="2729372" y="5911170"/>
              <a:ext cx="651986" cy="270654"/>
            </a:xfrm>
            <a:prstGeom prst="rect">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文本框 39">
              <a:extLst>
                <a:ext uri="{FF2B5EF4-FFF2-40B4-BE49-F238E27FC236}">
                  <a16:creationId xmlns:a16="http://schemas.microsoft.com/office/drawing/2014/main" id="{57E89488-C948-A0C5-94E5-DC1079A056F1}"/>
                </a:ext>
              </a:extLst>
            </p:cNvPr>
            <p:cNvSpPr txBox="1"/>
            <p:nvPr/>
          </p:nvSpPr>
          <p:spPr>
            <a:xfrm>
              <a:off x="2711421" y="5897546"/>
              <a:ext cx="693172" cy="261610"/>
            </a:xfrm>
            <a:prstGeom prst="rect">
              <a:avLst/>
            </a:prstGeom>
            <a:noFill/>
          </p:spPr>
          <p:txBody>
            <a:bodyPr wrap="square" rtlCol="0">
              <a:spAutoFit/>
            </a:bodyPr>
            <a:lstStyle/>
            <a:p>
              <a:r>
                <a:rPr kumimoji="1" lang="en-US" altLang="zh-CN" sz="1100" dirty="0">
                  <a:latin typeface="Times New Roman" panose="02020603050405020304" pitchFamily="18" charset="0"/>
                  <a:cs typeface="Times New Roman" panose="02020603050405020304" pitchFamily="18" charset="0"/>
                </a:rPr>
                <a:t>Head #3</a:t>
              </a:r>
              <a:endParaRPr kumimoji="1" lang="zh-CN" altLang="en-US" sz="1100" dirty="0">
                <a:latin typeface="Times New Roman" panose="02020603050405020304" pitchFamily="18" charset="0"/>
                <a:cs typeface="Times New Roman" panose="02020603050405020304" pitchFamily="18" charset="0"/>
              </a:endParaRPr>
            </a:p>
          </p:txBody>
        </p:sp>
        <p:cxnSp>
          <p:nvCxnSpPr>
            <p:cNvPr id="41" name="肘形连接符 40">
              <a:extLst>
                <a:ext uri="{FF2B5EF4-FFF2-40B4-BE49-F238E27FC236}">
                  <a16:creationId xmlns:a16="http://schemas.microsoft.com/office/drawing/2014/main" id="{E0574ED9-3FA5-7CBD-5643-E64D84045855}"/>
                </a:ext>
              </a:extLst>
            </p:cNvPr>
            <p:cNvCxnSpPr>
              <a:cxnSpLocks/>
              <a:stCxn id="30" idx="3"/>
              <a:endCxn id="35" idx="1"/>
            </p:cNvCxnSpPr>
            <p:nvPr/>
          </p:nvCxnSpPr>
          <p:spPr>
            <a:xfrm flipV="1">
              <a:off x="2368590" y="5374502"/>
              <a:ext cx="360782" cy="314864"/>
            </a:xfrm>
            <a:prstGeom prst="bent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肘形连接符 41">
              <a:extLst>
                <a:ext uri="{FF2B5EF4-FFF2-40B4-BE49-F238E27FC236}">
                  <a16:creationId xmlns:a16="http://schemas.microsoft.com/office/drawing/2014/main" id="{C6F009C7-6B9A-6813-BB99-1D3454C865DC}"/>
                </a:ext>
              </a:extLst>
            </p:cNvPr>
            <p:cNvCxnSpPr>
              <a:cxnSpLocks/>
              <a:stCxn id="29" idx="0"/>
              <a:endCxn id="37" idx="1"/>
            </p:cNvCxnSpPr>
            <p:nvPr/>
          </p:nvCxnSpPr>
          <p:spPr>
            <a:xfrm>
              <a:off x="2377734" y="5683548"/>
              <a:ext cx="351638" cy="20140"/>
            </a:xfrm>
            <a:prstGeom prst="bent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肘形连接符 42">
              <a:extLst>
                <a:ext uri="{FF2B5EF4-FFF2-40B4-BE49-F238E27FC236}">
                  <a16:creationId xmlns:a16="http://schemas.microsoft.com/office/drawing/2014/main" id="{75C31850-823B-2C7D-86EE-67AF8A3FA916}"/>
                </a:ext>
              </a:extLst>
            </p:cNvPr>
            <p:cNvCxnSpPr>
              <a:cxnSpLocks/>
              <a:stCxn id="30" idx="3"/>
              <a:endCxn id="39" idx="1"/>
            </p:cNvCxnSpPr>
            <p:nvPr/>
          </p:nvCxnSpPr>
          <p:spPr>
            <a:xfrm>
              <a:off x="2368590" y="5689366"/>
              <a:ext cx="360782" cy="357131"/>
            </a:xfrm>
            <a:prstGeom prst="bent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线连接符 44">
              <a:extLst>
                <a:ext uri="{FF2B5EF4-FFF2-40B4-BE49-F238E27FC236}">
                  <a16:creationId xmlns:a16="http://schemas.microsoft.com/office/drawing/2014/main" id="{4A540AE5-4B49-21C0-6383-F8D63D474FFC}"/>
                </a:ext>
              </a:extLst>
            </p:cNvPr>
            <p:cNvCxnSpPr>
              <a:cxnSpLocks/>
              <a:stCxn id="35" idx="3"/>
            </p:cNvCxnSpPr>
            <p:nvPr/>
          </p:nvCxnSpPr>
          <p:spPr>
            <a:xfrm>
              <a:off x="3381358" y="5374502"/>
              <a:ext cx="595788" cy="0"/>
            </a:xfrm>
            <a:prstGeom prst="line">
              <a:avLst/>
            </a:prstGeom>
            <a:ln w="19050">
              <a:solidFill>
                <a:schemeClr val="tx1">
                  <a:lumMod val="65000"/>
                  <a:lumOff val="3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6" name="直线箭头连接符 45">
              <a:extLst>
                <a:ext uri="{FF2B5EF4-FFF2-40B4-BE49-F238E27FC236}">
                  <a16:creationId xmlns:a16="http://schemas.microsoft.com/office/drawing/2014/main" id="{D02DDDCB-F034-F555-1C5E-3AF2EBD3E2AA}"/>
                </a:ext>
              </a:extLst>
            </p:cNvPr>
            <p:cNvCxnSpPr>
              <a:cxnSpLocks/>
            </p:cNvCxnSpPr>
            <p:nvPr/>
          </p:nvCxnSpPr>
          <p:spPr>
            <a:xfrm>
              <a:off x="1392314" y="7546595"/>
              <a:ext cx="268722"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肘形连接符 46">
              <a:extLst>
                <a:ext uri="{FF2B5EF4-FFF2-40B4-BE49-F238E27FC236}">
                  <a16:creationId xmlns:a16="http://schemas.microsoft.com/office/drawing/2014/main" id="{534A032D-589D-47E4-83BC-B62A45937E22}"/>
                </a:ext>
              </a:extLst>
            </p:cNvPr>
            <p:cNvCxnSpPr>
              <a:stCxn id="22" idx="3"/>
              <a:endCxn id="24" idx="1"/>
            </p:cNvCxnSpPr>
            <p:nvPr/>
          </p:nvCxnSpPr>
          <p:spPr>
            <a:xfrm flipV="1">
              <a:off x="655059" y="5683657"/>
              <a:ext cx="314250" cy="870148"/>
            </a:xfrm>
            <a:prstGeom prst="bent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肘形连接符 47">
              <a:extLst>
                <a:ext uri="{FF2B5EF4-FFF2-40B4-BE49-F238E27FC236}">
                  <a16:creationId xmlns:a16="http://schemas.microsoft.com/office/drawing/2014/main" id="{9148B7BF-EB56-5BDC-2602-0DF2C924CDBB}"/>
                </a:ext>
              </a:extLst>
            </p:cNvPr>
            <p:cNvCxnSpPr>
              <a:stCxn id="22" idx="3"/>
              <a:endCxn id="26" idx="1"/>
            </p:cNvCxnSpPr>
            <p:nvPr/>
          </p:nvCxnSpPr>
          <p:spPr>
            <a:xfrm>
              <a:off x="655059" y="6553805"/>
              <a:ext cx="307487" cy="983623"/>
            </a:xfrm>
            <a:prstGeom prst="bentConnector3">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808F5535-6DBB-6994-2FD2-E97A7564CCD9}"/>
                </a:ext>
              </a:extLst>
            </p:cNvPr>
            <p:cNvSpPr txBox="1"/>
            <p:nvPr/>
          </p:nvSpPr>
          <p:spPr>
            <a:xfrm>
              <a:off x="4013981" y="5259211"/>
              <a:ext cx="1160770" cy="261610"/>
            </a:xfrm>
            <a:prstGeom prst="rect">
              <a:avLst/>
            </a:prstGeom>
            <a:noFill/>
          </p:spPr>
          <p:txBody>
            <a:bodyPr wrap="square" rtlCol="0">
              <a:spAutoFit/>
            </a:bodyPr>
            <a:lstStyle/>
            <a:p>
              <a:r>
                <a:rPr kumimoji="1" lang="en-US" altLang="zh-CN" sz="1100" dirty="0">
                  <a:latin typeface="Times New Roman" panose="02020603050405020304" pitchFamily="18" charset="0"/>
                  <a:cs typeface="Times New Roman" panose="02020603050405020304" pitchFamily="18" charset="0"/>
                </a:rPr>
                <a:t>Perspective #1</a:t>
              </a:r>
              <a:endParaRPr kumimoji="1" lang="zh-CN" altLang="en-US" sz="11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A8743F74-36B6-DB1E-ACCB-787A919F4161}"/>
                    </a:ext>
                  </a:extLst>
                </p:cNvPr>
                <p:cNvSpPr txBox="1"/>
                <p:nvPr/>
              </p:nvSpPr>
              <p:spPr>
                <a:xfrm>
                  <a:off x="1919706" y="6663834"/>
                  <a:ext cx="1673352"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i="1" smtClean="0">
                                <a:latin typeface="Cambria Math" panose="02040503050406030204" pitchFamily="18" charset="0"/>
                              </a:rPr>
                            </m:ctrlPr>
                          </m:sSubPr>
                          <m:e>
                            <m:r>
                              <a:rPr kumimoji="1" lang="en-US" altLang="zh-CN" i="1" smtClean="0">
                                <a:latin typeface="Cambria Math" panose="02040503050406030204" pitchFamily="18" charset="0"/>
                                <a:ea typeface="Cambria Math" panose="02040503050406030204" pitchFamily="18" charset="0"/>
                              </a:rPr>
                              <m:t>ℒ</m:t>
                            </m:r>
                          </m:e>
                          <m:sub>
                            <m:r>
                              <a:rPr kumimoji="1" lang="en-US" altLang="zh-CN" b="0" i="1" smtClean="0">
                                <a:latin typeface="Cambria Math" panose="02040503050406030204" pitchFamily="18" charset="0"/>
                              </a:rPr>
                              <m:t>𝑝𝑒𝑟𝑝𝑒𝑐𝑡𝑖𝑣𝑒</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𝑖</m:t>
                            </m:r>
                          </m:sub>
                        </m:sSub>
                      </m:oMath>
                    </m:oMathPara>
                  </a14:m>
                  <a:endParaRPr kumimoji="1" lang="zh-CN" altLang="en-US" dirty="0"/>
                </a:p>
              </p:txBody>
            </p:sp>
          </mc:Choice>
          <mc:Fallback xmlns="">
            <p:sp>
              <p:nvSpPr>
                <p:cNvPr id="48" name="文本框 47">
                  <a:extLst>
                    <a:ext uri="{FF2B5EF4-FFF2-40B4-BE49-F238E27FC236}">
                      <a16:creationId xmlns:a16="http://schemas.microsoft.com/office/drawing/2014/main" id="{D044DBDE-9591-FB18-85FA-1222A3713679}"/>
                    </a:ext>
                  </a:extLst>
                </p:cNvPr>
                <p:cNvSpPr txBox="1">
                  <a:spLocks noRot="1" noChangeAspect="1" noMove="1" noResize="1" noEditPoints="1" noAdjustHandles="1" noChangeArrowheads="1" noChangeShapeType="1" noTextEdit="1"/>
                </p:cNvSpPr>
                <p:nvPr/>
              </p:nvSpPr>
              <p:spPr>
                <a:xfrm>
                  <a:off x="1919706" y="6663834"/>
                  <a:ext cx="1673352" cy="390748"/>
                </a:xfrm>
                <a:prstGeom prst="rect">
                  <a:avLst/>
                </a:prstGeom>
                <a:blipFill>
                  <a:blip r:embed="rId11"/>
                  <a:stretch>
                    <a:fillRect b="-9375"/>
                  </a:stretch>
                </a:blipFill>
              </p:spPr>
              <p:txBody>
                <a:bodyPr/>
                <a:lstStyle/>
                <a:p>
                  <a:r>
                    <a:rPr lang="zh-CN" altLang="en-US">
                      <a:noFill/>
                    </a:rPr>
                    <a:t> </a:t>
                  </a:r>
                </a:p>
              </p:txBody>
            </p:sp>
          </mc:Fallback>
        </mc:AlternateContent>
        <p:cxnSp>
          <p:nvCxnSpPr>
            <p:cNvPr id="51" name="直线连接符 50">
              <a:extLst>
                <a:ext uri="{FF2B5EF4-FFF2-40B4-BE49-F238E27FC236}">
                  <a16:creationId xmlns:a16="http://schemas.microsoft.com/office/drawing/2014/main" id="{539988FF-FA85-E891-203D-A69EE9C740DE}"/>
                </a:ext>
              </a:extLst>
            </p:cNvPr>
            <p:cNvCxnSpPr>
              <a:cxnSpLocks/>
              <a:stCxn id="37" idx="3"/>
            </p:cNvCxnSpPr>
            <p:nvPr/>
          </p:nvCxnSpPr>
          <p:spPr>
            <a:xfrm flipV="1">
              <a:off x="3381358" y="5701945"/>
              <a:ext cx="595788" cy="1743"/>
            </a:xfrm>
            <a:prstGeom prst="line">
              <a:avLst/>
            </a:prstGeom>
            <a:ln w="19050">
              <a:solidFill>
                <a:schemeClr val="tx1">
                  <a:lumMod val="65000"/>
                  <a:lumOff val="3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52" name="直线连接符 51">
              <a:extLst>
                <a:ext uri="{FF2B5EF4-FFF2-40B4-BE49-F238E27FC236}">
                  <a16:creationId xmlns:a16="http://schemas.microsoft.com/office/drawing/2014/main" id="{0DAB1BF9-389A-93D1-44A0-33FEC09240CA}"/>
                </a:ext>
              </a:extLst>
            </p:cNvPr>
            <p:cNvCxnSpPr>
              <a:cxnSpLocks/>
              <a:stCxn id="39" idx="3"/>
            </p:cNvCxnSpPr>
            <p:nvPr/>
          </p:nvCxnSpPr>
          <p:spPr>
            <a:xfrm flipV="1">
              <a:off x="3381358" y="6042999"/>
              <a:ext cx="595788" cy="3498"/>
            </a:xfrm>
            <a:prstGeom prst="line">
              <a:avLst/>
            </a:prstGeom>
            <a:ln w="19050">
              <a:solidFill>
                <a:schemeClr val="tx1">
                  <a:lumMod val="65000"/>
                  <a:lumOff val="3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9E71E8B5-7C5A-7999-5152-DE8E08A8DDE8}"/>
                </a:ext>
              </a:extLst>
            </p:cNvPr>
            <p:cNvSpPr txBox="1"/>
            <p:nvPr/>
          </p:nvSpPr>
          <p:spPr>
            <a:xfrm>
              <a:off x="4024611" y="5572454"/>
              <a:ext cx="1160770" cy="261610"/>
            </a:xfrm>
            <a:prstGeom prst="rect">
              <a:avLst/>
            </a:prstGeom>
            <a:noFill/>
          </p:spPr>
          <p:txBody>
            <a:bodyPr wrap="square" rtlCol="0">
              <a:spAutoFit/>
            </a:bodyPr>
            <a:lstStyle/>
            <a:p>
              <a:r>
                <a:rPr kumimoji="1" lang="en-US" altLang="zh-CN" sz="1100" dirty="0">
                  <a:latin typeface="Times New Roman" panose="02020603050405020304" pitchFamily="18" charset="0"/>
                  <a:cs typeface="Times New Roman" panose="02020603050405020304" pitchFamily="18" charset="0"/>
                </a:rPr>
                <a:t>Perspective #2</a:t>
              </a:r>
              <a:endParaRPr kumimoji="1" lang="zh-CN" altLang="en-US" sz="1100" dirty="0">
                <a:latin typeface="Times New Roman" panose="02020603050405020304" pitchFamily="18" charset="0"/>
                <a:cs typeface="Times New Roman" panose="02020603050405020304" pitchFamily="18" charset="0"/>
              </a:endParaRPr>
            </a:p>
          </p:txBody>
        </p:sp>
        <p:sp>
          <p:nvSpPr>
            <p:cNvPr id="54" name="文本框 53">
              <a:extLst>
                <a:ext uri="{FF2B5EF4-FFF2-40B4-BE49-F238E27FC236}">
                  <a16:creationId xmlns:a16="http://schemas.microsoft.com/office/drawing/2014/main" id="{992E33D6-97CF-7E16-3ABA-47F5C8A1DE30}"/>
                </a:ext>
              </a:extLst>
            </p:cNvPr>
            <p:cNvSpPr txBox="1"/>
            <p:nvPr/>
          </p:nvSpPr>
          <p:spPr>
            <a:xfrm>
              <a:off x="4022989" y="5911170"/>
              <a:ext cx="1160770" cy="261610"/>
            </a:xfrm>
            <a:prstGeom prst="rect">
              <a:avLst/>
            </a:prstGeom>
            <a:noFill/>
          </p:spPr>
          <p:txBody>
            <a:bodyPr wrap="square" rtlCol="0">
              <a:spAutoFit/>
            </a:bodyPr>
            <a:lstStyle/>
            <a:p>
              <a:r>
                <a:rPr kumimoji="1" lang="en-US" altLang="zh-CN" sz="1100" dirty="0">
                  <a:latin typeface="Times New Roman" panose="02020603050405020304" pitchFamily="18" charset="0"/>
                  <a:cs typeface="Times New Roman" panose="02020603050405020304" pitchFamily="18" charset="0"/>
                </a:rPr>
                <a:t>Perspective #3</a:t>
              </a:r>
              <a:endParaRPr kumimoji="1" lang="zh-CN" altLang="en-US" sz="1100" dirty="0">
                <a:latin typeface="Times New Roman" panose="02020603050405020304" pitchFamily="18" charset="0"/>
                <a:cs typeface="Times New Roman" panose="02020603050405020304" pitchFamily="18" charset="0"/>
              </a:endParaRPr>
            </a:p>
          </p:txBody>
        </p:sp>
        <p:cxnSp>
          <p:nvCxnSpPr>
            <p:cNvPr id="55" name="直线连接符 54">
              <a:extLst>
                <a:ext uri="{FF2B5EF4-FFF2-40B4-BE49-F238E27FC236}">
                  <a16:creationId xmlns:a16="http://schemas.microsoft.com/office/drawing/2014/main" id="{ABF1E2AE-3C6A-76DE-6784-4553E7BC8D2E}"/>
                </a:ext>
              </a:extLst>
            </p:cNvPr>
            <p:cNvCxnSpPr>
              <a:cxnSpLocks/>
            </p:cNvCxnSpPr>
            <p:nvPr/>
          </p:nvCxnSpPr>
          <p:spPr>
            <a:xfrm>
              <a:off x="3850116" y="5371110"/>
              <a:ext cx="2176" cy="1380614"/>
            </a:xfrm>
            <a:prstGeom prst="line">
              <a:avLst/>
            </a:prstGeom>
            <a:ln w="19050">
              <a:solidFill>
                <a:schemeClr val="tx1">
                  <a:lumMod val="65000"/>
                  <a:lumOff val="35000"/>
                </a:schemeClr>
              </a:solidFill>
              <a:headEnd type="oval"/>
            </a:ln>
          </p:spPr>
          <p:style>
            <a:lnRef idx="1">
              <a:schemeClr val="accent1"/>
            </a:lnRef>
            <a:fillRef idx="0">
              <a:schemeClr val="accent1"/>
            </a:fillRef>
            <a:effectRef idx="0">
              <a:schemeClr val="accent1"/>
            </a:effectRef>
            <a:fontRef idx="minor">
              <a:schemeClr val="tx1"/>
            </a:fontRef>
          </p:style>
        </p:cxnSp>
        <p:sp>
          <p:nvSpPr>
            <p:cNvPr id="56" name="椭圆 55">
              <a:extLst>
                <a:ext uri="{FF2B5EF4-FFF2-40B4-BE49-F238E27FC236}">
                  <a16:creationId xmlns:a16="http://schemas.microsoft.com/office/drawing/2014/main" id="{9E2E22BB-E3E5-D8CC-96AD-C2D47906FF55}"/>
                </a:ext>
              </a:extLst>
            </p:cNvPr>
            <p:cNvSpPr/>
            <p:nvPr/>
          </p:nvSpPr>
          <p:spPr>
            <a:xfrm>
              <a:off x="3839856" y="6743476"/>
              <a:ext cx="45719" cy="459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椭圆 56">
              <a:extLst>
                <a:ext uri="{FF2B5EF4-FFF2-40B4-BE49-F238E27FC236}">
                  <a16:creationId xmlns:a16="http://schemas.microsoft.com/office/drawing/2014/main" id="{38F6C84A-4CDC-5DC5-3533-E1B5A8A5606F}"/>
                </a:ext>
              </a:extLst>
            </p:cNvPr>
            <p:cNvSpPr/>
            <p:nvPr/>
          </p:nvSpPr>
          <p:spPr>
            <a:xfrm>
              <a:off x="3381358" y="6876290"/>
              <a:ext cx="45719" cy="459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8" name="直线连接符 57">
              <a:extLst>
                <a:ext uri="{FF2B5EF4-FFF2-40B4-BE49-F238E27FC236}">
                  <a16:creationId xmlns:a16="http://schemas.microsoft.com/office/drawing/2014/main" id="{83C1846B-481F-77D3-413D-D04B887C3115}"/>
                </a:ext>
              </a:extLst>
            </p:cNvPr>
            <p:cNvCxnSpPr>
              <a:cxnSpLocks/>
              <a:stCxn id="57" idx="7"/>
            </p:cNvCxnSpPr>
            <p:nvPr/>
          </p:nvCxnSpPr>
          <p:spPr>
            <a:xfrm flipV="1">
              <a:off x="3420382" y="6758446"/>
              <a:ext cx="415745" cy="124566"/>
            </a:xfrm>
            <a:prstGeom prst="line">
              <a:avLst/>
            </a:prstGeom>
            <a:ln w="19050"/>
          </p:spPr>
          <p:style>
            <a:lnRef idx="1">
              <a:schemeClr val="dk1"/>
            </a:lnRef>
            <a:fillRef idx="0">
              <a:schemeClr val="dk1"/>
            </a:fillRef>
            <a:effectRef idx="0">
              <a:schemeClr val="dk1"/>
            </a:effectRef>
            <a:fontRef idx="minor">
              <a:schemeClr val="tx1"/>
            </a:fontRef>
          </p:style>
        </p:cxnSp>
        <p:cxnSp>
          <p:nvCxnSpPr>
            <p:cNvPr id="59" name="直线连接符 58">
              <a:extLst>
                <a:ext uri="{FF2B5EF4-FFF2-40B4-BE49-F238E27FC236}">
                  <a16:creationId xmlns:a16="http://schemas.microsoft.com/office/drawing/2014/main" id="{CF9BB65A-D5FD-F14E-ECBA-E08FB62F21EC}"/>
                </a:ext>
              </a:extLst>
            </p:cNvPr>
            <p:cNvCxnSpPr>
              <a:cxnSpLocks/>
            </p:cNvCxnSpPr>
            <p:nvPr/>
          </p:nvCxnSpPr>
          <p:spPr>
            <a:xfrm flipH="1">
              <a:off x="3752444" y="5712114"/>
              <a:ext cx="223" cy="934085"/>
            </a:xfrm>
            <a:prstGeom prst="line">
              <a:avLst/>
            </a:prstGeom>
            <a:ln w="19050">
              <a:solidFill>
                <a:schemeClr val="tx1">
                  <a:lumMod val="65000"/>
                  <a:lumOff val="35000"/>
                </a:schemeClr>
              </a:solidFill>
              <a:headEnd type="oval"/>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E11C3A73-99EF-E677-8266-543A6D34161B}"/>
                </a:ext>
              </a:extLst>
            </p:cNvPr>
            <p:cNvSpPr/>
            <p:nvPr/>
          </p:nvSpPr>
          <p:spPr>
            <a:xfrm>
              <a:off x="3740008" y="6637951"/>
              <a:ext cx="45719" cy="459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1" name="直线连接符 60">
              <a:extLst>
                <a:ext uri="{FF2B5EF4-FFF2-40B4-BE49-F238E27FC236}">
                  <a16:creationId xmlns:a16="http://schemas.microsoft.com/office/drawing/2014/main" id="{A1DD03DC-EFE3-5CDA-0F36-F3E16D5744A7}"/>
                </a:ext>
              </a:extLst>
            </p:cNvPr>
            <p:cNvCxnSpPr>
              <a:cxnSpLocks/>
            </p:cNvCxnSpPr>
            <p:nvPr/>
          </p:nvCxnSpPr>
          <p:spPr>
            <a:xfrm flipV="1">
              <a:off x="3420120" y="6652921"/>
              <a:ext cx="316159" cy="233735"/>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62" name="直线连接符 61">
              <a:extLst>
                <a:ext uri="{FF2B5EF4-FFF2-40B4-BE49-F238E27FC236}">
                  <a16:creationId xmlns:a16="http://schemas.microsoft.com/office/drawing/2014/main" id="{0C4DCA9A-C4EA-D8A0-DED4-D2E7EA973BA0}"/>
                </a:ext>
              </a:extLst>
            </p:cNvPr>
            <p:cNvCxnSpPr>
              <a:cxnSpLocks/>
            </p:cNvCxnSpPr>
            <p:nvPr/>
          </p:nvCxnSpPr>
          <p:spPr>
            <a:xfrm flipH="1">
              <a:off x="3652467" y="6042999"/>
              <a:ext cx="8998" cy="551782"/>
            </a:xfrm>
            <a:prstGeom prst="line">
              <a:avLst/>
            </a:prstGeom>
            <a:ln w="19050">
              <a:solidFill>
                <a:schemeClr val="tx1">
                  <a:lumMod val="65000"/>
                  <a:lumOff val="35000"/>
                </a:schemeClr>
              </a:solidFill>
              <a:headEnd type="oval"/>
            </a:ln>
          </p:spPr>
          <p:style>
            <a:lnRef idx="1">
              <a:schemeClr val="accent1"/>
            </a:lnRef>
            <a:fillRef idx="0">
              <a:schemeClr val="accent1"/>
            </a:fillRef>
            <a:effectRef idx="0">
              <a:schemeClr val="accent1"/>
            </a:effectRef>
            <a:fontRef idx="minor">
              <a:schemeClr val="tx1"/>
            </a:fontRef>
          </p:style>
        </p:cxnSp>
        <p:sp>
          <p:nvSpPr>
            <p:cNvPr id="63" name="椭圆 62">
              <a:extLst>
                <a:ext uri="{FF2B5EF4-FFF2-40B4-BE49-F238E27FC236}">
                  <a16:creationId xmlns:a16="http://schemas.microsoft.com/office/drawing/2014/main" id="{13D19A7D-3188-D564-AA0A-65F0AA98C69C}"/>
                </a:ext>
              </a:extLst>
            </p:cNvPr>
            <p:cNvSpPr/>
            <p:nvPr/>
          </p:nvSpPr>
          <p:spPr>
            <a:xfrm>
              <a:off x="3640031" y="6586533"/>
              <a:ext cx="45719" cy="459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4" name="直线连接符 63">
              <a:extLst>
                <a:ext uri="{FF2B5EF4-FFF2-40B4-BE49-F238E27FC236}">
                  <a16:creationId xmlns:a16="http://schemas.microsoft.com/office/drawing/2014/main" id="{B894ECCF-72CE-C04C-89B3-10796DE2861B}"/>
                </a:ext>
              </a:extLst>
            </p:cNvPr>
            <p:cNvCxnSpPr>
              <a:cxnSpLocks/>
            </p:cNvCxnSpPr>
            <p:nvPr/>
          </p:nvCxnSpPr>
          <p:spPr>
            <a:xfrm flipV="1">
              <a:off x="3436284" y="6617731"/>
              <a:ext cx="193323" cy="275647"/>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65" name="肘形连接符 64">
              <a:extLst>
                <a:ext uri="{FF2B5EF4-FFF2-40B4-BE49-F238E27FC236}">
                  <a16:creationId xmlns:a16="http://schemas.microsoft.com/office/drawing/2014/main" id="{90DA9BA9-4B2C-32D6-640D-B42ACB91F0E3}"/>
                </a:ext>
              </a:extLst>
            </p:cNvPr>
            <p:cNvCxnSpPr>
              <a:cxnSpLocks/>
              <a:stCxn id="34" idx="3"/>
              <a:endCxn id="50" idx="2"/>
            </p:cNvCxnSpPr>
            <p:nvPr/>
          </p:nvCxnSpPr>
          <p:spPr>
            <a:xfrm flipV="1">
              <a:off x="2382219" y="7054582"/>
              <a:ext cx="374163" cy="484540"/>
            </a:xfrm>
            <a:prstGeom prst="bentConnector2">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AFBBF069-2587-4CD3-1A75-A82EBBE8E706}"/>
                </a:ext>
              </a:extLst>
            </p:cNvPr>
            <p:cNvSpPr txBox="1"/>
            <p:nvPr/>
          </p:nvSpPr>
          <p:spPr>
            <a:xfrm>
              <a:off x="1571445" y="6498394"/>
              <a:ext cx="512377" cy="261610"/>
            </a:xfrm>
            <a:prstGeom prst="rect">
              <a:avLst/>
            </a:prstGeom>
            <a:noFill/>
          </p:spPr>
          <p:txBody>
            <a:bodyPr wrap="square" rtlCol="0">
              <a:spAutoFit/>
            </a:bodyPr>
            <a:lstStyle/>
            <a:p>
              <a:r>
                <a:rPr kumimoji="1" lang="en-US" altLang="zh-CN" sz="1100" dirty="0">
                  <a:latin typeface="Times New Roman" panose="02020603050405020304" pitchFamily="18" charset="0"/>
                  <a:cs typeface="Times New Roman" panose="02020603050405020304" pitchFamily="18" charset="0"/>
                </a:rPr>
                <a:t>EMA</a:t>
              </a:r>
              <a:endParaRPr kumimoji="1" lang="zh-CN" altLang="en-US" sz="1100" dirty="0">
                <a:latin typeface="Times New Roman" panose="02020603050405020304" pitchFamily="18" charset="0"/>
                <a:cs typeface="Times New Roman" panose="02020603050405020304" pitchFamily="18" charset="0"/>
              </a:endParaRPr>
            </a:p>
          </p:txBody>
        </p:sp>
        <p:cxnSp>
          <p:nvCxnSpPr>
            <p:cNvPr id="67" name="直线箭头连接符 66">
              <a:extLst>
                <a:ext uri="{FF2B5EF4-FFF2-40B4-BE49-F238E27FC236}">
                  <a16:creationId xmlns:a16="http://schemas.microsoft.com/office/drawing/2014/main" id="{B525338A-85AA-4887-726A-1FDE3ECE4713}"/>
                </a:ext>
              </a:extLst>
            </p:cNvPr>
            <p:cNvCxnSpPr>
              <a:cxnSpLocks/>
              <a:stCxn id="29" idx="3"/>
              <a:endCxn id="33" idx="1"/>
            </p:cNvCxnSpPr>
            <p:nvPr/>
          </p:nvCxnSpPr>
          <p:spPr>
            <a:xfrm>
              <a:off x="2013066" y="5974814"/>
              <a:ext cx="5393" cy="1269255"/>
            </a:xfrm>
            <a:prstGeom prst="straightConnector1">
              <a:avLst/>
            </a:prstGeom>
            <a:ln w="1905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8" name="图片 67">
              <a:extLst>
                <a:ext uri="{FF2B5EF4-FFF2-40B4-BE49-F238E27FC236}">
                  <a16:creationId xmlns:a16="http://schemas.microsoft.com/office/drawing/2014/main" id="{C3E8DBF1-04E5-DE1F-4978-FFCE6A7EF212}"/>
                </a:ext>
              </a:extLst>
            </p:cNvPr>
            <p:cNvPicPr>
              <a:picLocks noChangeAspect="1"/>
            </p:cNvPicPr>
            <p:nvPr/>
          </p:nvPicPr>
          <p:blipFill>
            <a:blip r:embed="rId12"/>
            <a:stretch>
              <a:fillRect/>
            </a:stretch>
          </p:blipFill>
          <p:spPr>
            <a:xfrm>
              <a:off x="5277464" y="5561747"/>
              <a:ext cx="494656" cy="503885"/>
            </a:xfrm>
            <a:prstGeom prst="rect">
              <a:avLst/>
            </a:prstGeom>
          </p:spPr>
        </p:pic>
        <p:pic>
          <p:nvPicPr>
            <p:cNvPr id="69" name="图片 68">
              <a:extLst>
                <a:ext uri="{FF2B5EF4-FFF2-40B4-BE49-F238E27FC236}">
                  <a16:creationId xmlns:a16="http://schemas.microsoft.com/office/drawing/2014/main" id="{A337CCC4-5863-A8B6-7C3A-EEA92DB0D3C2}"/>
                </a:ext>
              </a:extLst>
            </p:cNvPr>
            <p:cNvPicPr>
              <a:picLocks noChangeAspect="1"/>
            </p:cNvPicPr>
            <p:nvPr/>
          </p:nvPicPr>
          <p:blipFill>
            <a:blip r:embed="rId13"/>
            <a:stretch>
              <a:fillRect/>
            </a:stretch>
          </p:blipFill>
          <p:spPr>
            <a:xfrm>
              <a:off x="7218286" y="5557746"/>
              <a:ext cx="497261" cy="511010"/>
            </a:xfrm>
            <a:prstGeom prst="rect">
              <a:avLst/>
            </a:prstGeom>
          </p:spPr>
        </p:pic>
        <p:sp>
          <p:nvSpPr>
            <p:cNvPr id="70" name="矩形 69">
              <a:extLst>
                <a:ext uri="{FF2B5EF4-FFF2-40B4-BE49-F238E27FC236}">
                  <a16:creationId xmlns:a16="http://schemas.microsoft.com/office/drawing/2014/main" id="{BB35C5DB-E8D8-2AF0-9E04-E5FC6EE760B2}"/>
                </a:ext>
              </a:extLst>
            </p:cNvPr>
            <p:cNvSpPr/>
            <p:nvPr/>
          </p:nvSpPr>
          <p:spPr>
            <a:xfrm>
              <a:off x="5121391" y="5297251"/>
              <a:ext cx="2693231" cy="840975"/>
            </a:xfrm>
            <a:prstGeom prst="rect">
              <a:avLst/>
            </a:prstGeom>
            <a:noFill/>
            <a:ln w="190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1" name="文本框 70">
              <a:extLst>
                <a:ext uri="{FF2B5EF4-FFF2-40B4-BE49-F238E27FC236}">
                  <a16:creationId xmlns:a16="http://schemas.microsoft.com/office/drawing/2014/main" id="{37831ECA-BCE3-A370-17A7-F96B7952595E}"/>
                </a:ext>
              </a:extLst>
            </p:cNvPr>
            <p:cNvSpPr txBox="1"/>
            <p:nvPr/>
          </p:nvSpPr>
          <p:spPr>
            <a:xfrm>
              <a:off x="5102263" y="5282006"/>
              <a:ext cx="2510033" cy="246221"/>
            </a:xfrm>
            <a:prstGeom prst="rect">
              <a:avLst/>
            </a:prstGeom>
            <a:noFill/>
          </p:spPr>
          <p:txBody>
            <a:bodyPr wrap="square" rtlCol="0">
              <a:spAutoFit/>
            </a:bodyPr>
            <a:lstStyle/>
            <a:p>
              <a:r>
                <a:rPr kumimoji="1" lang="en-US" altLang="zh-CN" sz="1000" b="1" dirty="0">
                  <a:latin typeface="Times New Roman" panose="02020603050405020304" pitchFamily="18" charset="0"/>
                  <a:cs typeface="Times New Roman" panose="02020603050405020304" pitchFamily="18" charset="0"/>
                </a:rPr>
                <a:t>Perspective #1</a:t>
              </a:r>
              <a:r>
                <a:rPr kumimoji="1" lang="en-US" altLang="zh-CN" sz="1000" dirty="0">
                  <a:latin typeface="Times New Roman" panose="02020603050405020304" pitchFamily="18" charset="0"/>
                  <a:cs typeface="Times New Roman" panose="02020603050405020304" pitchFamily="18" charset="0"/>
                </a:rPr>
                <a:t>: Learning from extrapolation</a:t>
              </a:r>
              <a:endParaRPr kumimoji="1" lang="zh-CN" altLang="en-US" sz="1000" dirty="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F17F9683-7773-FACA-9A64-13EE78EEC209}"/>
                </a:ext>
              </a:extLst>
            </p:cNvPr>
            <p:cNvSpPr txBox="1"/>
            <p:nvPr/>
          </p:nvSpPr>
          <p:spPr>
            <a:xfrm>
              <a:off x="5266377" y="5489153"/>
              <a:ext cx="292068" cy="369332"/>
            </a:xfrm>
            <a:prstGeom prst="rect">
              <a:avLst/>
            </a:prstGeom>
            <a:noFill/>
          </p:spPr>
          <p:txBody>
            <a:bodyPr wrap="none" rtlCol="0">
              <a:spAutoFit/>
            </a:bodyPr>
            <a:lstStyle/>
            <a:p>
              <a:r>
                <a:rPr kumimoji="1" lang="en-US" altLang="zh-CN" dirty="0">
                  <a:solidFill>
                    <a:srgbClr val="FF0000"/>
                  </a:solidFill>
                </a:rPr>
                <a:t>?</a:t>
              </a:r>
              <a:endParaRPr kumimoji="1" lang="zh-CN" altLang="en-US" dirty="0">
                <a:solidFill>
                  <a:srgbClr val="FF0000"/>
                </a:solidFill>
              </a:endParaRPr>
            </a:p>
          </p:txBody>
        </p:sp>
        <p:cxnSp>
          <p:nvCxnSpPr>
            <p:cNvPr id="73" name="直线箭头连接符 72">
              <a:extLst>
                <a:ext uri="{FF2B5EF4-FFF2-40B4-BE49-F238E27FC236}">
                  <a16:creationId xmlns:a16="http://schemas.microsoft.com/office/drawing/2014/main" id="{C4CE96C0-7EC1-F9AA-4B8A-42B76A229919}"/>
                </a:ext>
              </a:extLst>
            </p:cNvPr>
            <p:cNvCxnSpPr>
              <a:cxnSpLocks/>
              <a:stCxn id="68" idx="3"/>
              <a:endCxn id="69" idx="1"/>
            </p:cNvCxnSpPr>
            <p:nvPr/>
          </p:nvCxnSpPr>
          <p:spPr>
            <a:xfrm flipV="1">
              <a:off x="5772120" y="5813251"/>
              <a:ext cx="1446166" cy="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22FAB0F1-98A1-45DC-B15A-53CA968C4D52}"/>
                    </a:ext>
                  </a:extLst>
                </p:cNvPr>
                <p:cNvSpPr txBox="1"/>
                <p:nvPr/>
              </p:nvSpPr>
              <p:spPr>
                <a:xfrm>
                  <a:off x="6190973" y="5561747"/>
                  <a:ext cx="385682" cy="2605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000" i="1" smtClean="0">
                                <a:latin typeface="Cambria Math" panose="02040503050406030204" pitchFamily="18" charset="0"/>
                              </a:rPr>
                            </m:ctrlPr>
                          </m:sSubPr>
                          <m:e>
                            <m:r>
                              <a:rPr kumimoji="1" lang="en-US" altLang="zh-CN" sz="1000" b="0" i="1" smtClean="0">
                                <a:latin typeface="Cambria Math" panose="02040503050406030204" pitchFamily="18" charset="0"/>
                              </a:rPr>
                              <m:t>𝑓</m:t>
                            </m:r>
                          </m:e>
                          <m:sub>
                            <m:sSub>
                              <m:sSubPr>
                                <m:ctrlPr>
                                  <a:rPr kumimoji="1" lang="en-US" altLang="zh-CN" sz="1000" b="0" i="1" smtClean="0">
                                    <a:latin typeface="Cambria Math" panose="02040503050406030204" pitchFamily="18" charset="0"/>
                                  </a:rPr>
                                </m:ctrlPr>
                              </m:sSubPr>
                              <m:e>
                                <m:r>
                                  <a:rPr kumimoji="1" lang="en-US" altLang="zh-CN" sz="1000" b="0" i="1" smtClean="0">
                                    <a:latin typeface="Cambria Math" panose="02040503050406030204" pitchFamily="18" charset="0"/>
                                    <a:ea typeface="Cambria Math" panose="02040503050406030204" pitchFamily="18" charset="0"/>
                                  </a:rPr>
                                  <m:t>𝜃</m:t>
                                </m:r>
                              </m:e>
                              <m:sub>
                                <m:r>
                                  <a:rPr kumimoji="1" lang="en-US" altLang="zh-CN" sz="1000" b="0" i="1" smtClean="0">
                                    <a:latin typeface="Cambria Math" panose="02040503050406030204" pitchFamily="18" charset="0"/>
                                  </a:rPr>
                                  <m:t>𝑑</m:t>
                                </m:r>
                              </m:sub>
                            </m:sSub>
                          </m:sub>
                        </m:sSub>
                      </m:oMath>
                    </m:oMathPara>
                  </a14:m>
                  <a:endParaRPr kumimoji="1" lang="zh-CN" altLang="en-US" sz="1000" dirty="0"/>
                </a:p>
              </p:txBody>
            </p:sp>
          </mc:Choice>
          <mc:Fallback xmlns="">
            <p:sp>
              <p:nvSpPr>
                <p:cNvPr id="73" name="文本框 72">
                  <a:extLst>
                    <a:ext uri="{FF2B5EF4-FFF2-40B4-BE49-F238E27FC236}">
                      <a16:creationId xmlns:a16="http://schemas.microsoft.com/office/drawing/2014/main" id="{904B0558-709B-51D7-BC3F-7F0A877538C0}"/>
                    </a:ext>
                  </a:extLst>
                </p:cNvPr>
                <p:cNvSpPr txBox="1">
                  <a:spLocks noRot="1" noChangeAspect="1" noMove="1" noResize="1" noEditPoints="1" noAdjustHandles="1" noChangeArrowheads="1" noChangeShapeType="1" noTextEdit="1"/>
                </p:cNvSpPr>
                <p:nvPr/>
              </p:nvSpPr>
              <p:spPr>
                <a:xfrm>
                  <a:off x="6190973" y="5561747"/>
                  <a:ext cx="385682" cy="260584"/>
                </a:xfrm>
                <a:prstGeom prst="rect">
                  <a:avLst/>
                </a:prstGeom>
                <a:blipFill>
                  <a:blip r:embed="rId14"/>
                  <a:stretch>
                    <a:fillRect b="-4762"/>
                  </a:stretch>
                </a:blipFill>
              </p:spPr>
              <p:txBody>
                <a:bodyPr/>
                <a:lstStyle/>
                <a:p>
                  <a:r>
                    <a:rPr lang="zh-CN" altLang="en-US">
                      <a:noFill/>
                    </a:rPr>
                    <a:t> </a:t>
                  </a:r>
                </a:p>
              </p:txBody>
            </p:sp>
          </mc:Fallback>
        </mc:AlternateContent>
        <p:sp>
          <p:nvSpPr>
            <p:cNvPr id="75" name="文本框 74">
              <a:extLst>
                <a:ext uri="{FF2B5EF4-FFF2-40B4-BE49-F238E27FC236}">
                  <a16:creationId xmlns:a16="http://schemas.microsoft.com/office/drawing/2014/main" id="{921F8792-E0A4-5283-D467-514AC08E16B5}"/>
                </a:ext>
              </a:extLst>
            </p:cNvPr>
            <p:cNvSpPr txBox="1"/>
            <p:nvPr/>
          </p:nvSpPr>
          <p:spPr>
            <a:xfrm>
              <a:off x="5746394" y="5802501"/>
              <a:ext cx="1480105" cy="246221"/>
            </a:xfrm>
            <a:prstGeom prst="rect">
              <a:avLst/>
            </a:prstGeom>
            <a:noFill/>
          </p:spPr>
          <p:txBody>
            <a:bodyPr wrap="square">
              <a:spAutoFit/>
            </a:bodyPr>
            <a:lstStyle/>
            <a:p>
              <a:r>
                <a:rPr kumimoji="1" lang="en-US" altLang="zh-CN" sz="1000" dirty="0">
                  <a:latin typeface="Times New Roman" panose="02020603050405020304" pitchFamily="18" charset="0"/>
                  <a:cs typeface="Times New Roman" panose="02020603050405020304" pitchFamily="18" charset="0"/>
                </a:rPr>
                <a:t>Predict exterior contents</a:t>
              </a:r>
              <a:endParaRPr lang="zh-CN" altLang="en-US" sz="1000" dirty="0"/>
            </a:p>
          </p:txBody>
        </p:sp>
        <p:sp>
          <p:nvSpPr>
            <p:cNvPr id="76" name="矩形 75">
              <a:extLst>
                <a:ext uri="{FF2B5EF4-FFF2-40B4-BE49-F238E27FC236}">
                  <a16:creationId xmlns:a16="http://schemas.microsoft.com/office/drawing/2014/main" id="{186614A7-B7B9-3C54-99EB-ED6701F3185D}"/>
                </a:ext>
              </a:extLst>
            </p:cNvPr>
            <p:cNvSpPr/>
            <p:nvPr/>
          </p:nvSpPr>
          <p:spPr>
            <a:xfrm>
              <a:off x="5121394" y="6172912"/>
              <a:ext cx="2693231" cy="806121"/>
            </a:xfrm>
            <a:prstGeom prst="rect">
              <a:avLst/>
            </a:prstGeom>
            <a:noFill/>
            <a:ln w="190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77" name="直线箭头连接符 76">
              <a:extLst>
                <a:ext uri="{FF2B5EF4-FFF2-40B4-BE49-F238E27FC236}">
                  <a16:creationId xmlns:a16="http://schemas.microsoft.com/office/drawing/2014/main" id="{AAA35E4E-49B1-61AC-9979-3D020D84DA68}"/>
                </a:ext>
              </a:extLst>
            </p:cNvPr>
            <p:cNvCxnSpPr>
              <a:cxnSpLocks/>
              <a:stCxn id="81" idx="3"/>
              <a:endCxn id="82" idx="1"/>
            </p:cNvCxnSpPr>
            <p:nvPr/>
          </p:nvCxnSpPr>
          <p:spPr>
            <a:xfrm>
              <a:off x="5757762" y="6662919"/>
              <a:ext cx="1453996" cy="2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F7D020A1-5AC6-03B5-17F0-1A507BD611C6}"/>
                    </a:ext>
                  </a:extLst>
                </p:cNvPr>
                <p:cNvSpPr txBox="1"/>
                <p:nvPr/>
              </p:nvSpPr>
              <p:spPr>
                <a:xfrm>
                  <a:off x="6320027" y="6455621"/>
                  <a:ext cx="350352"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000" i="1" smtClean="0">
                                <a:latin typeface="Cambria Math" panose="02040503050406030204" pitchFamily="18" charset="0"/>
                              </a:rPr>
                            </m:ctrlPr>
                          </m:sSubPr>
                          <m:e>
                            <m:r>
                              <a:rPr kumimoji="1" lang="en-US" altLang="zh-CN" sz="1000" b="0" i="1" smtClean="0">
                                <a:latin typeface="Cambria Math" panose="02040503050406030204" pitchFamily="18" charset="0"/>
                              </a:rPr>
                              <m:t>𝐶</m:t>
                            </m:r>
                          </m:e>
                          <m:sub>
                            <m:r>
                              <a:rPr kumimoji="1" lang="en-US" altLang="zh-CN" sz="1000" i="1" smtClean="0">
                                <a:latin typeface="Cambria Math" panose="02040503050406030204" pitchFamily="18" charset="0"/>
                                <a:ea typeface="Cambria Math" panose="02040503050406030204" pitchFamily="18" charset="0"/>
                              </a:rPr>
                              <m:t>𝜃</m:t>
                            </m:r>
                          </m:sub>
                        </m:sSub>
                      </m:oMath>
                    </m:oMathPara>
                  </a14:m>
                  <a:endParaRPr kumimoji="1" lang="zh-CN" altLang="en-US" sz="1000" dirty="0"/>
                </a:p>
              </p:txBody>
            </p:sp>
          </mc:Choice>
          <mc:Fallback xmlns="">
            <p:sp>
              <p:nvSpPr>
                <p:cNvPr id="77" name="文本框 76">
                  <a:extLst>
                    <a:ext uri="{FF2B5EF4-FFF2-40B4-BE49-F238E27FC236}">
                      <a16:creationId xmlns:a16="http://schemas.microsoft.com/office/drawing/2014/main" id="{D6FC3004-E6AE-B18F-0842-4FB6FE7F6265}"/>
                    </a:ext>
                  </a:extLst>
                </p:cNvPr>
                <p:cNvSpPr txBox="1">
                  <a:spLocks noRot="1" noChangeAspect="1" noMove="1" noResize="1" noEditPoints="1" noAdjustHandles="1" noChangeArrowheads="1" noChangeShapeType="1" noTextEdit="1"/>
                </p:cNvSpPr>
                <p:nvPr/>
              </p:nvSpPr>
              <p:spPr>
                <a:xfrm>
                  <a:off x="6320027" y="6455621"/>
                  <a:ext cx="350352" cy="246221"/>
                </a:xfrm>
                <a:prstGeom prst="rect">
                  <a:avLst/>
                </a:prstGeom>
                <a:blipFill>
                  <a:blip r:embed="rId15"/>
                  <a:stretch>
                    <a:fillRect/>
                  </a:stretch>
                </a:blipFill>
              </p:spPr>
              <p:txBody>
                <a:bodyPr/>
                <a:lstStyle/>
                <a:p>
                  <a:r>
                    <a:rPr lang="zh-CN" altLang="en-US">
                      <a:noFill/>
                    </a:rPr>
                    <a:t> </a:t>
                  </a:r>
                </a:p>
              </p:txBody>
            </p:sp>
          </mc:Fallback>
        </mc:AlternateContent>
        <p:sp>
          <p:nvSpPr>
            <p:cNvPr id="79" name="文本框 78">
              <a:extLst>
                <a:ext uri="{FF2B5EF4-FFF2-40B4-BE49-F238E27FC236}">
                  <a16:creationId xmlns:a16="http://schemas.microsoft.com/office/drawing/2014/main" id="{31FB981B-4FA6-4E73-0060-78D21D243198}"/>
                </a:ext>
              </a:extLst>
            </p:cNvPr>
            <p:cNvSpPr txBox="1"/>
            <p:nvPr/>
          </p:nvSpPr>
          <p:spPr>
            <a:xfrm>
              <a:off x="6067951" y="6670321"/>
              <a:ext cx="950867" cy="246221"/>
            </a:xfrm>
            <a:prstGeom prst="rect">
              <a:avLst/>
            </a:prstGeom>
            <a:noFill/>
          </p:spPr>
          <p:txBody>
            <a:bodyPr wrap="square">
              <a:spAutoFit/>
            </a:bodyPr>
            <a:lstStyle/>
            <a:p>
              <a:r>
                <a:rPr kumimoji="1" lang="en-US" altLang="zh-CN" sz="1000" dirty="0">
                  <a:latin typeface="Times New Roman" panose="02020603050405020304" pitchFamily="18" charset="0"/>
                  <a:cs typeface="Times New Roman" panose="02020603050405020304" pitchFamily="18" charset="0"/>
                </a:rPr>
                <a:t>Predict order</a:t>
              </a:r>
              <a:endParaRPr lang="zh-CN" altLang="en-US" sz="1000" dirty="0"/>
            </a:p>
          </p:txBody>
        </p:sp>
        <p:sp>
          <p:nvSpPr>
            <p:cNvPr id="80" name="文本框 79">
              <a:extLst>
                <a:ext uri="{FF2B5EF4-FFF2-40B4-BE49-F238E27FC236}">
                  <a16:creationId xmlns:a16="http://schemas.microsoft.com/office/drawing/2014/main" id="{9BFD23ED-652A-7E71-0697-98217B00F1E5}"/>
                </a:ext>
              </a:extLst>
            </p:cNvPr>
            <p:cNvSpPr txBox="1"/>
            <p:nvPr/>
          </p:nvSpPr>
          <p:spPr>
            <a:xfrm>
              <a:off x="5085569" y="6150424"/>
              <a:ext cx="2693231" cy="246221"/>
            </a:xfrm>
            <a:prstGeom prst="rect">
              <a:avLst/>
            </a:prstGeom>
            <a:noFill/>
          </p:spPr>
          <p:txBody>
            <a:bodyPr wrap="square" rtlCol="0">
              <a:spAutoFit/>
            </a:bodyPr>
            <a:lstStyle/>
            <a:p>
              <a:r>
                <a:rPr kumimoji="1" lang="en-US" altLang="zh-CN" sz="1000" b="1" dirty="0">
                  <a:latin typeface="Times New Roman" panose="02020603050405020304" pitchFamily="18" charset="0"/>
                  <a:cs typeface="Times New Roman" panose="02020603050405020304" pitchFamily="18" charset="0"/>
                </a:rPr>
                <a:t>Perspective #2</a:t>
              </a:r>
              <a:r>
                <a:rPr kumimoji="1" lang="en-US" altLang="zh-CN" sz="1000" dirty="0">
                  <a:latin typeface="Times New Roman" panose="02020603050405020304" pitchFamily="18" charset="0"/>
                  <a:cs typeface="Times New Roman" panose="02020603050405020304" pitchFamily="18" charset="0"/>
                </a:rPr>
                <a:t>: Learning from order correction</a:t>
              </a:r>
              <a:endParaRPr kumimoji="1" lang="zh-CN" altLang="en-US" sz="1000" dirty="0">
                <a:latin typeface="Times New Roman" panose="02020603050405020304" pitchFamily="18" charset="0"/>
                <a:cs typeface="Times New Roman" panose="02020603050405020304" pitchFamily="18" charset="0"/>
              </a:endParaRPr>
            </a:p>
          </p:txBody>
        </p:sp>
        <p:pic>
          <p:nvPicPr>
            <p:cNvPr id="81" name="图片 80">
              <a:extLst>
                <a:ext uri="{FF2B5EF4-FFF2-40B4-BE49-F238E27FC236}">
                  <a16:creationId xmlns:a16="http://schemas.microsoft.com/office/drawing/2014/main" id="{A1F0A52A-310C-9478-4D0C-88E9F3B2F2FC}"/>
                </a:ext>
              </a:extLst>
            </p:cNvPr>
            <p:cNvPicPr>
              <a:picLocks noChangeAspect="1"/>
            </p:cNvPicPr>
            <p:nvPr/>
          </p:nvPicPr>
          <p:blipFill>
            <a:blip r:embed="rId16"/>
            <a:stretch>
              <a:fillRect/>
            </a:stretch>
          </p:blipFill>
          <p:spPr>
            <a:xfrm>
              <a:off x="5248589" y="6419133"/>
              <a:ext cx="509173" cy="487572"/>
            </a:xfrm>
            <a:prstGeom prst="rect">
              <a:avLst/>
            </a:prstGeom>
          </p:spPr>
        </p:pic>
        <p:pic>
          <p:nvPicPr>
            <p:cNvPr id="82" name="图片 81">
              <a:extLst>
                <a:ext uri="{FF2B5EF4-FFF2-40B4-BE49-F238E27FC236}">
                  <a16:creationId xmlns:a16="http://schemas.microsoft.com/office/drawing/2014/main" id="{6261C5B1-2C54-48BF-FB18-1FDFF4126D8F}"/>
                </a:ext>
              </a:extLst>
            </p:cNvPr>
            <p:cNvPicPr>
              <a:picLocks noChangeAspect="1"/>
            </p:cNvPicPr>
            <p:nvPr/>
          </p:nvPicPr>
          <p:blipFill>
            <a:blip r:embed="rId17"/>
            <a:stretch>
              <a:fillRect/>
            </a:stretch>
          </p:blipFill>
          <p:spPr>
            <a:xfrm>
              <a:off x="7211758" y="6425767"/>
              <a:ext cx="511801" cy="480002"/>
            </a:xfrm>
            <a:prstGeom prst="rect">
              <a:avLst/>
            </a:prstGeom>
          </p:spPr>
        </p:pic>
        <p:sp>
          <p:nvSpPr>
            <p:cNvPr id="83" name="矩形 82">
              <a:extLst>
                <a:ext uri="{FF2B5EF4-FFF2-40B4-BE49-F238E27FC236}">
                  <a16:creationId xmlns:a16="http://schemas.microsoft.com/office/drawing/2014/main" id="{AE32DDED-1652-431B-A358-3986BF794A1B}"/>
                </a:ext>
              </a:extLst>
            </p:cNvPr>
            <p:cNvSpPr/>
            <p:nvPr/>
          </p:nvSpPr>
          <p:spPr>
            <a:xfrm>
              <a:off x="5121392" y="7035311"/>
              <a:ext cx="2701852" cy="996823"/>
            </a:xfrm>
            <a:prstGeom prst="rect">
              <a:avLst/>
            </a:prstGeom>
            <a:noFill/>
            <a:ln w="1905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84" name="直线箭头连接符 83">
              <a:extLst>
                <a:ext uri="{FF2B5EF4-FFF2-40B4-BE49-F238E27FC236}">
                  <a16:creationId xmlns:a16="http://schemas.microsoft.com/office/drawing/2014/main" id="{9CF8300D-A091-7E7C-C493-6FCA46F6856F}"/>
                </a:ext>
              </a:extLst>
            </p:cNvPr>
            <p:cNvCxnSpPr>
              <a:cxnSpLocks/>
            </p:cNvCxnSpPr>
            <p:nvPr/>
          </p:nvCxnSpPr>
          <p:spPr>
            <a:xfrm>
              <a:off x="5999040" y="7591820"/>
              <a:ext cx="12622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8BEDB36D-D84C-F427-2101-A0FBA521AEDB}"/>
                </a:ext>
              </a:extLst>
            </p:cNvPr>
            <p:cNvSpPr txBox="1"/>
            <p:nvPr/>
          </p:nvSpPr>
          <p:spPr>
            <a:xfrm>
              <a:off x="5102263" y="7015309"/>
              <a:ext cx="2695407" cy="400110"/>
            </a:xfrm>
            <a:prstGeom prst="rect">
              <a:avLst/>
            </a:prstGeom>
            <a:noFill/>
          </p:spPr>
          <p:txBody>
            <a:bodyPr wrap="square" rtlCol="0">
              <a:spAutoFit/>
            </a:bodyPr>
            <a:lstStyle/>
            <a:p>
              <a:r>
                <a:rPr kumimoji="1" lang="en-US" altLang="zh-CN" sz="1000" b="1" dirty="0">
                  <a:latin typeface="Times New Roman" panose="02020603050405020304" pitchFamily="18" charset="0"/>
                  <a:cs typeface="Times New Roman" panose="02020603050405020304" pitchFamily="18" charset="0"/>
                </a:rPr>
                <a:t>Perspective #3</a:t>
              </a:r>
              <a:r>
                <a:rPr kumimoji="1" lang="en-US" altLang="zh-CN" sz="1000" dirty="0">
                  <a:latin typeface="Times New Roman" panose="02020603050405020304" pitchFamily="18" charset="0"/>
                  <a:cs typeface="Times New Roman" panose="02020603050405020304" pitchFamily="18" charset="0"/>
                </a:rPr>
                <a:t>: Learning from composition and               decomposition</a:t>
              </a:r>
              <a:endParaRPr kumimoji="1" lang="zh-CN" altLang="en-US" sz="1000" dirty="0">
                <a:latin typeface="Times New Roman" panose="02020603050405020304" pitchFamily="18" charset="0"/>
                <a:cs typeface="Times New Roman" panose="02020603050405020304" pitchFamily="18" charset="0"/>
              </a:endParaRPr>
            </a:p>
          </p:txBody>
        </p:sp>
        <p:pic>
          <p:nvPicPr>
            <p:cNvPr id="86" name="图片 85">
              <a:extLst>
                <a:ext uri="{FF2B5EF4-FFF2-40B4-BE49-F238E27FC236}">
                  <a16:creationId xmlns:a16="http://schemas.microsoft.com/office/drawing/2014/main" id="{205531A8-7026-0847-9669-4E34CD4E70D0}"/>
                </a:ext>
              </a:extLst>
            </p:cNvPr>
            <p:cNvPicPr>
              <a:picLocks noChangeAspect="1"/>
            </p:cNvPicPr>
            <p:nvPr/>
          </p:nvPicPr>
          <p:blipFill>
            <a:blip r:embed="rId18"/>
            <a:stretch>
              <a:fillRect/>
            </a:stretch>
          </p:blipFill>
          <p:spPr>
            <a:xfrm>
              <a:off x="5235289" y="7537597"/>
              <a:ext cx="189539" cy="183162"/>
            </a:xfrm>
            <a:prstGeom prst="rect">
              <a:avLst/>
            </a:prstGeom>
          </p:spPr>
        </p:pic>
        <p:pic>
          <p:nvPicPr>
            <p:cNvPr id="87" name="图片 86">
              <a:extLst>
                <a:ext uri="{FF2B5EF4-FFF2-40B4-BE49-F238E27FC236}">
                  <a16:creationId xmlns:a16="http://schemas.microsoft.com/office/drawing/2014/main" id="{B909DC24-E713-A58C-440B-21A883A92D48}"/>
                </a:ext>
              </a:extLst>
            </p:cNvPr>
            <p:cNvPicPr>
              <a:picLocks noChangeAspect="1"/>
            </p:cNvPicPr>
            <p:nvPr/>
          </p:nvPicPr>
          <p:blipFill>
            <a:blip r:embed="rId19"/>
            <a:stretch>
              <a:fillRect/>
            </a:stretch>
          </p:blipFill>
          <p:spPr>
            <a:xfrm>
              <a:off x="5385872" y="7534576"/>
              <a:ext cx="187277" cy="188654"/>
            </a:xfrm>
            <a:prstGeom prst="rect">
              <a:avLst/>
            </a:prstGeom>
          </p:spPr>
        </p:pic>
        <p:pic>
          <p:nvPicPr>
            <p:cNvPr id="88" name="图片 87">
              <a:extLst>
                <a:ext uri="{FF2B5EF4-FFF2-40B4-BE49-F238E27FC236}">
                  <a16:creationId xmlns:a16="http://schemas.microsoft.com/office/drawing/2014/main" id="{04EC2573-B786-8BE4-71C7-45E5AC8D35A6}"/>
                </a:ext>
              </a:extLst>
            </p:cNvPr>
            <p:cNvPicPr>
              <a:picLocks noChangeAspect="1"/>
            </p:cNvPicPr>
            <p:nvPr/>
          </p:nvPicPr>
          <p:blipFill>
            <a:blip r:embed="rId20"/>
            <a:stretch>
              <a:fillRect/>
            </a:stretch>
          </p:blipFill>
          <p:spPr>
            <a:xfrm>
              <a:off x="5600253" y="7535432"/>
              <a:ext cx="188578" cy="187202"/>
            </a:xfrm>
            <a:prstGeom prst="rect">
              <a:avLst/>
            </a:prstGeom>
          </p:spPr>
        </p:pic>
        <p:pic>
          <p:nvPicPr>
            <p:cNvPr id="89" name="图片 88">
              <a:extLst>
                <a:ext uri="{FF2B5EF4-FFF2-40B4-BE49-F238E27FC236}">
                  <a16:creationId xmlns:a16="http://schemas.microsoft.com/office/drawing/2014/main" id="{9C95105F-1C62-6E3F-95B0-487CEF6762AD}"/>
                </a:ext>
              </a:extLst>
            </p:cNvPr>
            <p:cNvPicPr>
              <a:picLocks noChangeAspect="1"/>
            </p:cNvPicPr>
            <p:nvPr/>
          </p:nvPicPr>
          <p:blipFill>
            <a:blip r:embed="rId21"/>
            <a:stretch>
              <a:fillRect/>
            </a:stretch>
          </p:blipFill>
          <p:spPr>
            <a:xfrm>
              <a:off x="5811763" y="7535264"/>
              <a:ext cx="187277" cy="187277"/>
            </a:xfrm>
            <a:prstGeom prst="rect">
              <a:avLst/>
            </a:prstGeom>
          </p:spPr>
        </p:pic>
        <p:pic>
          <p:nvPicPr>
            <p:cNvPr id="90" name="图片 89">
              <a:extLst>
                <a:ext uri="{FF2B5EF4-FFF2-40B4-BE49-F238E27FC236}">
                  <a16:creationId xmlns:a16="http://schemas.microsoft.com/office/drawing/2014/main" id="{39C3882D-EE52-AD8A-FB11-86E03AA8C755}"/>
                </a:ext>
              </a:extLst>
            </p:cNvPr>
            <p:cNvPicPr>
              <a:picLocks noChangeAspect="1"/>
            </p:cNvPicPr>
            <p:nvPr/>
          </p:nvPicPr>
          <p:blipFill>
            <a:blip r:embed="rId22"/>
            <a:stretch>
              <a:fillRect/>
            </a:stretch>
          </p:blipFill>
          <p:spPr>
            <a:xfrm>
              <a:off x="7252422" y="7398175"/>
              <a:ext cx="398265" cy="398265"/>
            </a:xfrm>
            <a:prstGeom prst="rect">
              <a:avLst/>
            </a:prstGeom>
          </p:spPr>
        </p:pic>
        <p:cxnSp>
          <p:nvCxnSpPr>
            <p:cNvPr id="91" name="直线箭头连接符 90">
              <a:extLst>
                <a:ext uri="{FF2B5EF4-FFF2-40B4-BE49-F238E27FC236}">
                  <a16:creationId xmlns:a16="http://schemas.microsoft.com/office/drawing/2014/main" id="{1F7B7128-0581-2EA1-FBA3-1E7455CBB319}"/>
                </a:ext>
              </a:extLst>
            </p:cNvPr>
            <p:cNvCxnSpPr>
              <a:cxnSpLocks/>
            </p:cNvCxnSpPr>
            <p:nvPr/>
          </p:nvCxnSpPr>
          <p:spPr>
            <a:xfrm>
              <a:off x="5989413" y="7665409"/>
              <a:ext cx="1263009" cy="0"/>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D54C0130-E235-2063-DE4E-F56545F09FF1}"/>
                </a:ext>
              </a:extLst>
            </p:cNvPr>
            <p:cNvSpPr txBox="1"/>
            <p:nvPr/>
          </p:nvSpPr>
          <p:spPr>
            <a:xfrm>
              <a:off x="6096393" y="7347468"/>
              <a:ext cx="950867" cy="246221"/>
            </a:xfrm>
            <a:prstGeom prst="rect">
              <a:avLst/>
            </a:prstGeom>
            <a:noFill/>
          </p:spPr>
          <p:txBody>
            <a:bodyPr wrap="square">
              <a:spAutoFit/>
            </a:bodyPr>
            <a:lstStyle/>
            <a:p>
              <a:r>
                <a:rPr kumimoji="1" lang="en-US" altLang="zh-CN" sz="1000" dirty="0">
                  <a:latin typeface="Times New Roman" panose="02020603050405020304" pitchFamily="18" charset="0"/>
                  <a:cs typeface="Times New Roman" panose="02020603050405020304" pitchFamily="18" charset="0"/>
                </a:rPr>
                <a:t>Compose </a:t>
              </a:r>
              <a:endParaRPr lang="zh-CN" altLang="en-US" sz="1000" dirty="0"/>
            </a:p>
          </p:txBody>
        </p:sp>
        <p:sp>
          <p:nvSpPr>
            <p:cNvPr id="93" name="文本框 92">
              <a:extLst>
                <a:ext uri="{FF2B5EF4-FFF2-40B4-BE49-F238E27FC236}">
                  <a16:creationId xmlns:a16="http://schemas.microsoft.com/office/drawing/2014/main" id="{BFC3261F-1A74-4B16-7045-45A2EE4500AD}"/>
                </a:ext>
              </a:extLst>
            </p:cNvPr>
            <p:cNvSpPr txBox="1"/>
            <p:nvPr/>
          </p:nvSpPr>
          <p:spPr>
            <a:xfrm>
              <a:off x="6000508" y="7661132"/>
              <a:ext cx="881706" cy="246221"/>
            </a:xfrm>
            <a:prstGeom prst="rect">
              <a:avLst/>
            </a:prstGeom>
            <a:noFill/>
          </p:spPr>
          <p:txBody>
            <a:bodyPr wrap="square">
              <a:spAutoFit/>
            </a:bodyPr>
            <a:lstStyle/>
            <a:p>
              <a:r>
                <a:rPr kumimoji="1" lang="en-US" altLang="zh-CN" sz="1000" dirty="0">
                  <a:latin typeface="Times New Roman" panose="02020603050405020304" pitchFamily="18" charset="0"/>
                  <a:cs typeface="Times New Roman" panose="02020603050405020304" pitchFamily="18" charset="0"/>
                </a:rPr>
                <a:t>Decompose</a:t>
              </a:r>
              <a:endParaRPr lang="zh-CN" altLang="en-US" sz="1000" dirty="0"/>
            </a:p>
          </p:txBody>
        </p:sp>
        <p:cxnSp>
          <p:nvCxnSpPr>
            <p:cNvPr id="94" name="直线连接符 93">
              <a:extLst>
                <a:ext uri="{FF2B5EF4-FFF2-40B4-BE49-F238E27FC236}">
                  <a16:creationId xmlns:a16="http://schemas.microsoft.com/office/drawing/2014/main" id="{999625EF-8BA2-1F02-23D8-546F974FBA25}"/>
                </a:ext>
              </a:extLst>
            </p:cNvPr>
            <p:cNvCxnSpPr/>
            <p:nvPr/>
          </p:nvCxnSpPr>
          <p:spPr>
            <a:xfrm flipH="1">
              <a:off x="2515406" y="7452892"/>
              <a:ext cx="76913" cy="183001"/>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5" name="直线连接符 94">
              <a:extLst>
                <a:ext uri="{FF2B5EF4-FFF2-40B4-BE49-F238E27FC236}">
                  <a16:creationId xmlns:a16="http://schemas.microsoft.com/office/drawing/2014/main" id="{289A361D-E376-002A-0150-88ECD27D5CCA}"/>
                </a:ext>
              </a:extLst>
            </p:cNvPr>
            <p:cNvCxnSpPr/>
            <p:nvPr/>
          </p:nvCxnSpPr>
          <p:spPr>
            <a:xfrm flipH="1">
              <a:off x="2590892" y="7451467"/>
              <a:ext cx="76913" cy="183001"/>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6" name="直线连接符 95">
              <a:extLst>
                <a:ext uri="{FF2B5EF4-FFF2-40B4-BE49-F238E27FC236}">
                  <a16:creationId xmlns:a16="http://schemas.microsoft.com/office/drawing/2014/main" id="{954562AA-6EC3-BE25-87CD-FACBD4645204}"/>
                </a:ext>
              </a:extLst>
            </p:cNvPr>
            <p:cNvCxnSpPr>
              <a:cxnSpLocks/>
            </p:cNvCxnSpPr>
            <p:nvPr/>
          </p:nvCxnSpPr>
          <p:spPr>
            <a:xfrm flipH="1">
              <a:off x="3304424" y="7117337"/>
              <a:ext cx="64920" cy="134347"/>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7" name="椭圆 96">
              <a:extLst>
                <a:ext uri="{FF2B5EF4-FFF2-40B4-BE49-F238E27FC236}">
                  <a16:creationId xmlns:a16="http://schemas.microsoft.com/office/drawing/2014/main" id="{C7B6E3B1-D9B0-9524-CAD2-E9960A8214D1}"/>
                </a:ext>
              </a:extLst>
            </p:cNvPr>
            <p:cNvSpPr/>
            <p:nvPr/>
          </p:nvSpPr>
          <p:spPr>
            <a:xfrm>
              <a:off x="3171911" y="7533723"/>
              <a:ext cx="45719" cy="459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8" name="直线连接符 97">
              <a:extLst>
                <a:ext uri="{FF2B5EF4-FFF2-40B4-BE49-F238E27FC236}">
                  <a16:creationId xmlns:a16="http://schemas.microsoft.com/office/drawing/2014/main" id="{A871D40F-CAB8-D702-B97F-C1D68625E8C4}"/>
                </a:ext>
              </a:extLst>
            </p:cNvPr>
            <p:cNvCxnSpPr>
              <a:stCxn id="97" idx="1"/>
            </p:cNvCxnSpPr>
            <p:nvPr/>
          </p:nvCxnSpPr>
          <p:spPr>
            <a:xfrm flipV="1">
              <a:off x="3178606" y="7405513"/>
              <a:ext cx="307047" cy="134932"/>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C09B5A55-90AF-9390-C9E2-BBB25F32F73B}"/>
                    </a:ext>
                  </a:extLst>
                </p:cNvPr>
                <p:cNvSpPr txBox="1"/>
                <p:nvPr/>
              </p:nvSpPr>
              <p:spPr>
                <a:xfrm>
                  <a:off x="396367" y="5942244"/>
                  <a:ext cx="465320"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200" b="0" i="1" smtClean="0">
                            <a:latin typeface="Cambria Math" panose="02040503050406030204" pitchFamily="18" charset="0"/>
                            <a:ea typeface="Cambria Math" panose="02040503050406030204" pitchFamily="18" charset="0"/>
                          </a:rPr>
                          <m:t>𝜏</m:t>
                        </m:r>
                        <m:r>
                          <a:rPr kumimoji="1" lang="en-US" altLang="zh-CN" sz="1200" b="0" i="1" smtClean="0">
                            <a:latin typeface="Cambria Math" panose="02040503050406030204" pitchFamily="18" charset="0"/>
                          </a:rPr>
                          <m:t>(</m:t>
                        </m:r>
                        <m:r>
                          <a:rPr kumimoji="1" lang="en-US" altLang="zh-CN" sz="1200" b="0" i="1" smtClean="0">
                            <a:latin typeface="Cambria Math" panose="02040503050406030204" pitchFamily="18" charset="0"/>
                            <a:ea typeface="Cambria Math" panose="02040503050406030204" pitchFamily="18" charset="0"/>
                          </a:rPr>
                          <m:t>∙</m:t>
                        </m:r>
                        <m:r>
                          <a:rPr kumimoji="1" lang="en-US" altLang="zh-CN" sz="1200" b="0" i="1" smtClean="0">
                            <a:latin typeface="Cambria Math" panose="02040503050406030204" pitchFamily="18" charset="0"/>
                          </a:rPr>
                          <m:t>)</m:t>
                        </m:r>
                      </m:oMath>
                    </m:oMathPara>
                  </a14:m>
                  <a:endParaRPr kumimoji="1" lang="zh-CN" altLang="en-US" sz="1200" dirty="0"/>
                </a:p>
              </p:txBody>
            </p:sp>
          </mc:Choice>
          <mc:Fallback xmlns="">
            <p:sp>
              <p:nvSpPr>
                <p:cNvPr id="98" name="文本框 97">
                  <a:extLst>
                    <a:ext uri="{FF2B5EF4-FFF2-40B4-BE49-F238E27FC236}">
                      <a16:creationId xmlns:a16="http://schemas.microsoft.com/office/drawing/2014/main" id="{080E35F6-1841-9505-AAFE-E83DCB7FE5A0}"/>
                    </a:ext>
                  </a:extLst>
                </p:cNvPr>
                <p:cNvSpPr txBox="1">
                  <a:spLocks noRot="1" noChangeAspect="1" noMove="1" noResize="1" noEditPoints="1" noAdjustHandles="1" noChangeArrowheads="1" noChangeShapeType="1" noTextEdit="1"/>
                </p:cNvSpPr>
                <p:nvPr/>
              </p:nvSpPr>
              <p:spPr>
                <a:xfrm>
                  <a:off x="396367" y="5942244"/>
                  <a:ext cx="465320" cy="276999"/>
                </a:xfrm>
                <a:prstGeom prst="rect">
                  <a:avLst/>
                </a:prstGeom>
                <a:blipFill>
                  <a:blip r:embed="rId23"/>
                  <a:stretch>
                    <a:fillRect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文本框 99">
                  <a:extLst>
                    <a:ext uri="{FF2B5EF4-FFF2-40B4-BE49-F238E27FC236}">
                      <a16:creationId xmlns:a16="http://schemas.microsoft.com/office/drawing/2014/main" id="{E8355B31-67CD-597F-AA0D-A03F1A08F684}"/>
                    </a:ext>
                  </a:extLst>
                </p:cNvPr>
                <p:cNvSpPr txBox="1"/>
                <p:nvPr/>
              </p:nvSpPr>
              <p:spPr>
                <a:xfrm>
                  <a:off x="3076380" y="7665750"/>
                  <a:ext cx="465319"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1200" i="1" smtClean="0">
                            <a:latin typeface="Cambria Math" panose="02040503050406030204" pitchFamily="18" charset="0"/>
                            <a:ea typeface="Cambria Math" panose="02040503050406030204" pitchFamily="18" charset="0"/>
                          </a:rPr>
                          <m:t>𝜏</m:t>
                        </m:r>
                        <m:r>
                          <a:rPr kumimoji="1" lang="en-US" altLang="zh-CN" sz="1200" b="0" i="1" smtClean="0">
                            <a:latin typeface="Cambria Math" panose="02040503050406030204" pitchFamily="18" charset="0"/>
                          </a:rPr>
                          <m:t>(</m:t>
                        </m:r>
                        <m:r>
                          <a:rPr kumimoji="1" lang="en-US" altLang="zh-CN" sz="1200" b="0" i="1" smtClean="0">
                            <a:latin typeface="Cambria Math" panose="02040503050406030204" pitchFamily="18" charset="0"/>
                            <a:ea typeface="Cambria Math" panose="02040503050406030204" pitchFamily="18" charset="0"/>
                          </a:rPr>
                          <m:t>∙</m:t>
                        </m:r>
                        <m:r>
                          <a:rPr kumimoji="1" lang="en-US" altLang="zh-CN" sz="1200" b="0" i="1" smtClean="0">
                            <a:latin typeface="Cambria Math" panose="02040503050406030204" pitchFamily="18" charset="0"/>
                          </a:rPr>
                          <m:t>)</m:t>
                        </m:r>
                      </m:oMath>
                    </m:oMathPara>
                  </a14:m>
                  <a:endParaRPr kumimoji="1" lang="zh-CN" altLang="en-US" sz="1200" dirty="0"/>
                </a:p>
              </p:txBody>
            </p:sp>
          </mc:Choice>
          <mc:Fallback xmlns="">
            <p:sp>
              <p:nvSpPr>
                <p:cNvPr id="99" name="文本框 98">
                  <a:extLst>
                    <a:ext uri="{FF2B5EF4-FFF2-40B4-BE49-F238E27FC236}">
                      <a16:creationId xmlns:a16="http://schemas.microsoft.com/office/drawing/2014/main" id="{514EAE44-5562-622C-E9C7-DABA9FC27197}"/>
                    </a:ext>
                  </a:extLst>
                </p:cNvPr>
                <p:cNvSpPr txBox="1">
                  <a:spLocks noRot="1" noChangeAspect="1" noMove="1" noResize="1" noEditPoints="1" noAdjustHandles="1" noChangeArrowheads="1" noChangeShapeType="1" noTextEdit="1"/>
                </p:cNvSpPr>
                <p:nvPr/>
              </p:nvSpPr>
              <p:spPr>
                <a:xfrm>
                  <a:off x="3076380" y="7665750"/>
                  <a:ext cx="465319" cy="276999"/>
                </a:xfrm>
                <a:prstGeom prst="rect">
                  <a:avLst/>
                </a:prstGeom>
                <a:blipFill>
                  <a:blip r:embed="rId24"/>
                  <a:stretch>
                    <a:fillRect b="-9091"/>
                  </a:stretch>
                </a:blipFill>
              </p:spPr>
              <p:txBody>
                <a:bodyPr/>
                <a:lstStyle/>
                <a:p>
                  <a:r>
                    <a:rPr lang="zh-CN" altLang="en-US">
                      <a:noFill/>
                    </a:rPr>
                    <a:t> </a:t>
                  </a:r>
                </a:p>
              </p:txBody>
            </p:sp>
          </mc:Fallback>
        </mc:AlternateContent>
        <p:sp>
          <p:nvSpPr>
            <p:cNvPr id="101" name="文本框 100">
              <a:extLst>
                <a:ext uri="{FF2B5EF4-FFF2-40B4-BE49-F238E27FC236}">
                  <a16:creationId xmlns:a16="http://schemas.microsoft.com/office/drawing/2014/main" id="{6E5672FD-3D85-3499-FCE9-A361B9438DDA}"/>
                </a:ext>
              </a:extLst>
            </p:cNvPr>
            <p:cNvSpPr txBox="1"/>
            <p:nvPr/>
          </p:nvSpPr>
          <p:spPr>
            <a:xfrm>
              <a:off x="3545835" y="7055536"/>
              <a:ext cx="1011815" cy="276999"/>
            </a:xfrm>
            <a:prstGeom prst="rect">
              <a:avLst/>
            </a:prstGeom>
            <a:noFill/>
          </p:spPr>
          <p:txBody>
            <a:bodyPr wrap="none" rtlCol="0">
              <a:spAutoFit/>
            </a:bodyPr>
            <a:lstStyle/>
            <a:p>
              <a:r>
                <a:rPr kumimoji="1" lang="en-US" altLang="zh-CN" sz="1200" dirty="0">
                  <a:solidFill>
                    <a:schemeClr val="tx1">
                      <a:lumMod val="65000"/>
                      <a:lumOff val="35000"/>
                    </a:schemeClr>
                  </a:solidFill>
                  <a:latin typeface="Times New Roman" panose="02020603050405020304" pitchFamily="18" charset="0"/>
                  <a:cs typeface="Times New Roman" panose="02020603050405020304" pitchFamily="18" charset="0"/>
                </a:rPr>
                <a:t>Stop gradient</a:t>
              </a:r>
              <a:endParaRPr kumimoji="1" lang="zh-CN" altLang="en-US" sz="12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02" name="文本框 101">
              <a:extLst>
                <a:ext uri="{FF2B5EF4-FFF2-40B4-BE49-F238E27FC236}">
                  <a16:creationId xmlns:a16="http://schemas.microsoft.com/office/drawing/2014/main" id="{55EF9011-F4AB-7E60-6648-4B02093B6C82}"/>
                </a:ext>
              </a:extLst>
            </p:cNvPr>
            <p:cNvSpPr txBox="1"/>
            <p:nvPr/>
          </p:nvSpPr>
          <p:spPr>
            <a:xfrm>
              <a:off x="3559292" y="7368704"/>
              <a:ext cx="1337226" cy="276999"/>
            </a:xfrm>
            <a:prstGeom prst="rect">
              <a:avLst/>
            </a:prstGeom>
            <a:noFill/>
          </p:spPr>
          <p:txBody>
            <a:bodyPr wrap="none" rtlCol="0">
              <a:spAutoFit/>
            </a:bodyPr>
            <a:lstStyle/>
            <a:p>
              <a:r>
                <a:rPr kumimoji="1" lang="en-US" altLang="zh-CN" sz="1200" dirty="0">
                  <a:solidFill>
                    <a:schemeClr val="tx1">
                      <a:lumMod val="65000"/>
                      <a:lumOff val="35000"/>
                    </a:schemeClr>
                  </a:solidFill>
                  <a:latin typeface="Times New Roman" panose="02020603050405020304" pitchFamily="18" charset="0"/>
                  <a:cs typeface="Times New Roman" panose="02020603050405020304" pitchFamily="18" charset="0"/>
                </a:rPr>
                <a:t>Perspective switch</a:t>
              </a:r>
              <a:endParaRPr kumimoji="1" lang="zh-CN" altLang="en-US" sz="12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03" name="文本框 102">
              <a:extLst>
                <a:ext uri="{FF2B5EF4-FFF2-40B4-BE49-F238E27FC236}">
                  <a16:creationId xmlns:a16="http://schemas.microsoft.com/office/drawing/2014/main" id="{B8EFA6E9-A4B7-3CB9-B5AD-5CDB41F55360}"/>
                </a:ext>
              </a:extLst>
            </p:cNvPr>
            <p:cNvSpPr txBox="1"/>
            <p:nvPr/>
          </p:nvSpPr>
          <p:spPr>
            <a:xfrm>
              <a:off x="3549609" y="7665750"/>
              <a:ext cx="1356462" cy="276999"/>
            </a:xfrm>
            <a:prstGeom prst="rect">
              <a:avLst/>
            </a:prstGeom>
            <a:noFill/>
          </p:spPr>
          <p:txBody>
            <a:bodyPr wrap="none" rtlCol="0">
              <a:spAutoFit/>
            </a:bodyPr>
            <a:lstStyle/>
            <a:p>
              <a:r>
                <a:rPr kumimoji="1" lang="en-US" altLang="zh-CN" sz="1200" dirty="0">
                  <a:solidFill>
                    <a:schemeClr val="tx1">
                      <a:lumMod val="65000"/>
                      <a:lumOff val="35000"/>
                    </a:schemeClr>
                  </a:solidFill>
                  <a:latin typeface="Times New Roman" panose="02020603050405020304" pitchFamily="18" charset="0"/>
                  <a:cs typeface="Times New Roman" panose="02020603050405020304" pitchFamily="18" charset="0"/>
                </a:rPr>
                <a:t>Data augmentation</a:t>
              </a:r>
              <a:endParaRPr kumimoji="1" lang="zh-CN" altLang="en-US" sz="12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104" name="矩形 103">
              <a:extLst>
                <a:ext uri="{FF2B5EF4-FFF2-40B4-BE49-F238E27FC236}">
                  <a16:creationId xmlns:a16="http://schemas.microsoft.com/office/drawing/2014/main" id="{2AFB4EDC-D79E-CEEA-ABB8-48DC2EFDBA2F}"/>
                </a:ext>
              </a:extLst>
            </p:cNvPr>
            <p:cNvSpPr/>
            <p:nvPr/>
          </p:nvSpPr>
          <p:spPr>
            <a:xfrm>
              <a:off x="3074744" y="7057517"/>
              <a:ext cx="1821774" cy="885231"/>
            </a:xfrm>
            <a:prstGeom prst="rect">
              <a:avLst/>
            </a:prstGeom>
            <a:noFill/>
            <a:ln>
              <a:solidFill>
                <a:schemeClr val="bg1">
                  <a:lumMod val="6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05" name="直线连接符 104">
              <a:extLst>
                <a:ext uri="{FF2B5EF4-FFF2-40B4-BE49-F238E27FC236}">
                  <a16:creationId xmlns:a16="http://schemas.microsoft.com/office/drawing/2014/main" id="{B63CECC5-3A85-48CA-E1F1-490648D60E76}"/>
                </a:ext>
              </a:extLst>
            </p:cNvPr>
            <p:cNvCxnSpPr>
              <a:cxnSpLocks/>
            </p:cNvCxnSpPr>
            <p:nvPr/>
          </p:nvCxnSpPr>
          <p:spPr>
            <a:xfrm flipH="1">
              <a:off x="3198640" y="7129886"/>
              <a:ext cx="64920" cy="134347"/>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6" name="文本框 105">
              <a:extLst>
                <a:ext uri="{FF2B5EF4-FFF2-40B4-BE49-F238E27FC236}">
                  <a16:creationId xmlns:a16="http://schemas.microsoft.com/office/drawing/2014/main" id="{E0B20DB5-0C62-6F29-41F0-F74CDE4DDE74}"/>
                </a:ext>
              </a:extLst>
            </p:cNvPr>
            <p:cNvSpPr txBox="1"/>
            <p:nvPr/>
          </p:nvSpPr>
          <p:spPr>
            <a:xfrm>
              <a:off x="2324145" y="7986204"/>
              <a:ext cx="1940405" cy="338554"/>
            </a:xfrm>
            <a:prstGeom prst="rect">
              <a:avLst/>
            </a:prstGeom>
            <a:noFill/>
            <a:ln w="19050">
              <a:solidFill>
                <a:schemeClr val="bg1">
                  <a:lumMod val="65000"/>
                </a:schemeClr>
              </a:solidFill>
            </a:ln>
          </p:spPr>
          <p:txBody>
            <a:bodyPr wrap="square" rtlCol="0">
              <a:spAutoFit/>
            </a:bodyPr>
            <a:lstStyle/>
            <a:p>
              <a:r>
                <a:rPr kumimoji="1" lang="en-US" altLang="zh-CN" sz="1600" dirty="0">
                  <a:solidFill>
                    <a:schemeClr val="bg1">
                      <a:lumMod val="50000"/>
                    </a:schemeClr>
                  </a:solidFill>
                </a:rPr>
                <a:t>Test for evaluations</a:t>
              </a:r>
              <a:endParaRPr kumimoji="1" lang="zh-CN" altLang="en-US" sz="1600" dirty="0">
                <a:solidFill>
                  <a:schemeClr val="bg1">
                    <a:lumMod val="50000"/>
                  </a:schemeClr>
                </a:solidFill>
              </a:endParaRPr>
            </a:p>
          </p:txBody>
        </p:sp>
        <p:cxnSp>
          <p:nvCxnSpPr>
            <p:cNvPr id="107" name="肘形连接符 106">
              <a:extLst>
                <a:ext uri="{FF2B5EF4-FFF2-40B4-BE49-F238E27FC236}">
                  <a16:creationId xmlns:a16="http://schemas.microsoft.com/office/drawing/2014/main" id="{37DC4B1D-263A-38BB-B9E9-04657312BB4A}"/>
                </a:ext>
              </a:extLst>
            </p:cNvPr>
            <p:cNvCxnSpPr>
              <a:cxnSpLocks/>
              <a:stCxn id="33" idx="3"/>
              <a:endCxn id="106" idx="1"/>
            </p:cNvCxnSpPr>
            <p:nvPr/>
          </p:nvCxnSpPr>
          <p:spPr>
            <a:xfrm rot="16200000" flipH="1">
              <a:off x="2005617" y="7836953"/>
              <a:ext cx="331370" cy="305686"/>
            </a:xfrm>
            <a:prstGeom prst="bentConnector2">
              <a:avLst/>
            </a:prstGeom>
            <a:ln w="19050">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8" name="文本框 107">
                  <a:extLst>
                    <a:ext uri="{FF2B5EF4-FFF2-40B4-BE49-F238E27FC236}">
                      <a16:creationId xmlns:a16="http://schemas.microsoft.com/office/drawing/2014/main" id="{CE7B9EAD-154E-AEA8-8771-C89F75F9AC2B}"/>
                    </a:ext>
                  </a:extLst>
                </p:cNvPr>
                <p:cNvSpPr txBox="1"/>
                <p:nvPr/>
              </p:nvSpPr>
              <p:spPr>
                <a:xfrm>
                  <a:off x="6630141" y="7340286"/>
                  <a:ext cx="547265" cy="2754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000" i="1" smtClean="0">
                                <a:latin typeface="Cambria Math" panose="02040503050406030204" pitchFamily="18" charset="0"/>
                              </a:rPr>
                            </m:ctrlPr>
                          </m:sSubPr>
                          <m:e>
                            <m:r>
                              <a:rPr kumimoji="1" lang="en-US" altLang="zh-CN" sz="1000" b="0" i="1" smtClean="0">
                                <a:latin typeface="Cambria Math" panose="02040503050406030204" pitchFamily="18" charset="0"/>
                              </a:rPr>
                              <m:t>𝑓</m:t>
                            </m:r>
                          </m:e>
                          <m:sub>
                            <m:sSub>
                              <m:sSubPr>
                                <m:ctrlPr>
                                  <a:rPr kumimoji="1" lang="en-US" altLang="zh-CN" sz="1000" b="0" i="1" smtClean="0">
                                    <a:latin typeface="Cambria Math" panose="02040503050406030204" pitchFamily="18" charset="0"/>
                                  </a:rPr>
                                </m:ctrlPr>
                              </m:sSubPr>
                              <m:e>
                                <m:r>
                                  <a:rPr kumimoji="1" lang="en-US" altLang="zh-CN" sz="1000" b="0" i="1" smtClean="0">
                                    <a:latin typeface="Cambria Math" panose="02040503050406030204" pitchFamily="18" charset="0"/>
                                    <a:ea typeface="Cambria Math" panose="02040503050406030204" pitchFamily="18" charset="0"/>
                                  </a:rPr>
                                  <m:t>𝜃</m:t>
                                </m:r>
                              </m:e>
                              <m:sub>
                                <m:r>
                                  <a:rPr kumimoji="1" lang="en-US" altLang="zh-CN" sz="1000" b="0" i="1" smtClean="0">
                                    <a:latin typeface="Cambria Math" panose="02040503050406030204" pitchFamily="18" charset="0"/>
                                  </a:rPr>
                                  <m:t>𝑐𝑜𝑚𝑝</m:t>
                                </m:r>
                              </m:sub>
                            </m:sSub>
                          </m:sub>
                        </m:sSub>
                      </m:oMath>
                    </m:oMathPara>
                  </a14:m>
                  <a:endParaRPr kumimoji="1" lang="zh-CN" altLang="en-US" sz="1000" dirty="0"/>
                </a:p>
              </p:txBody>
            </p:sp>
          </mc:Choice>
          <mc:Fallback xmlns="">
            <p:sp>
              <p:nvSpPr>
                <p:cNvPr id="114" name="文本框 113">
                  <a:extLst>
                    <a:ext uri="{FF2B5EF4-FFF2-40B4-BE49-F238E27FC236}">
                      <a16:creationId xmlns:a16="http://schemas.microsoft.com/office/drawing/2014/main" id="{C4DA008A-29DB-3D62-1D84-9ECB4BF23925}"/>
                    </a:ext>
                  </a:extLst>
                </p:cNvPr>
                <p:cNvSpPr txBox="1">
                  <a:spLocks noRot="1" noChangeAspect="1" noMove="1" noResize="1" noEditPoints="1" noAdjustHandles="1" noChangeArrowheads="1" noChangeShapeType="1" noTextEdit="1"/>
                </p:cNvSpPr>
                <p:nvPr/>
              </p:nvSpPr>
              <p:spPr>
                <a:xfrm>
                  <a:off x="6630141" y="7340286"/>
                  <a:ext cx="547265" cy="275460"/>
                </a:xfrm>
                <a:prstGeom prst="rect">
                  <a:avLst/>
                </a:prstGeom>
                <a:blipFill>
                  <a:blip r:embed="rId25"/>
                  <a:stretch>
                    <a:fillRect b="-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9" name="文本框 108">
                  <a:extLst>
                    <a:ext uri="{FF2B5EF4-FFF2-40B4-BE49-F238E27FC236}">
                      <a16:creationId xmlns:a16="http://schemas.microsoft.com/office/drawing/2014/main" id="{423721EF-26ED-5FC9-2D5A-995A81ABB756}"/>
                    </a:ext>
                  </a:extLst>
                </p:cNvPr>
                <p:cNvSpPr txBox="1"/>
                <p:nvPr/>
              </p:nvSpPr>
              <p:spPr>
                <a:xfrm>
                  <a:off x="6663764" y="7643296"/>
                  <a:ext cx="650178" cy="275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1000" i="1" smtClean="0">
                                <a:latin typeface="Cambria Math" panose="02040503050406030204" pitchFamily="18" charset="0"/>
                              </a:rPr>
                            </m:ctrlPr>
                          </m:sSubPr>
                          <m:e>
                            <m:r>
                              <a:rPr kumimoji="1" lang="en-US" altLang="zh-CN" sz="1000" b="0" i="1" smtClean="0">
                                <a:latin typeface="Cambria Math" panose="02040503050406030204" pitchFamily="18" charset="0"/>
                              </a:rPr>
                              <m:t>𝑓</m:t>
                            </m:r>
                          </m:e>
                          <m:sub>
                            <m:sSub>
                              <m:sSubPr>
                                <m:ctrlPr>
                                  <a:rPr kumimoji="1" lang="en-US" altLang="zh-CN" sz="1000" b="0" i="1" smtClean="0">
                                    <a:latin typeface="Cambria Math" panose="02040503050406030204" pitchFamily="18" charset="0"/>
                                  </a:rPr>
                                </m:ctrlPr>
                              </m:sSubPr>
                              <m:e>
                                <m:r>
                                  <a:rPr kumimoji="1" lang="en-US" altLang="zh-CN" sz="1000" b="0" i="1" smtClean="0">
                                    <a:latin typeface="Cambria Math" panose="02040503050406030204" pitchFamily="18" charset="0"/>
                                    <a:ea typeface="Cambria Math" panose="02040503050406030204" pitchFamily="18" charset="0"/>
                                  </a:rPr>
                                  <m:t>𝜃</m:t>
                                </m:r>
                              </m:e>
                              <m:sub>
                                <m:r>
                                  <a:rPr kumimoji="1" lang="en-US" altLang="zh-CN" sz="1000" b="0" i="1" smtClean="0">
                                    <a:latin typeface="Cambria Math" panose="02040503050406030204" pitchFamily="18" charset="0"/>
                                  </a:rPr>
                                  <m:t>𝑑𝑒𝑐𝑜𝑚𝑝</m:t>
                                </m:r>
                              </m:sub>
                            </m:sSub>
                          </m:sub>
                        </m:sSub>
                      </m:oMath>
                    </m:oMathPara>
                  </a14:m>
                  <a:endParaRPr kumimoji="1" lang="zh-CN" altLang="en-US" sz="1000" dirty="0"/>
                </a:p>
              </p:txBody>
            </p:sp>
          </mc:Choice>
          <mc:Fallback xmlns="">
            <p:sp>
              <p:nvSpPr>
                <p:cNvPr id="115" name="文本框 114">
                  <a:extLst>
                    <a:ext uri="{FF2B5EF4-FFF2-40B4-BE49-F238E27FC236}">
                      <a16:creationId xmlns:a16="http://schemas.microsoft.com/office/drawing/2014/main" id="{3B9CB978-C320-06B6-9323-516D793F9A67}"/>
                    </a:ext>
                  </a:extLst>
                </p:cNvPr>
                <p:cNvSpPr txBox="1">
                  <a:spLocks noRot="1" noChangeAspect="1" noMove="1" noResize="1" noEditPoints="1" noAdjustHandles="1" noChangeArrowheads="1" noChangeShapeType="1" noTextEdit="1"/>
                </p:cNvSpPr>
                <p:nvPr/>
              </p:nvSpPr>
              <p:spPr>
                <a:xfrm>
                  <a:off x="6663764" y="7643296"/>
                  <a:ext cx="650178" cy="275781"/>
                </a:xfrm>
                <a:prstGeom prst="rect">
                  <a:avLst/>
                </a:prstGeom>
                <a:blipFill>
                  <a:blip r:embed="rId26"/>
                  <a:stretch>
                    <a:fillRect b="-4545"/>
                  </a:stretch>
                </a:blipFill>
              </p:spPr>
              <p:txBody>
                <a:bodyPr/>
                <a:lstStyle/>
                <a:p>
                  <a:r>
                    <a:rPr lang="zh-CN" altLang="en-US">
                      <a:noFill/>
                    </a:rPr>
                    <a:t> </a:t>
                  </a:r>
                </a:p>
              </p:txBody>
            </p:sp>
          </mc:Fallback>
        </mc:AlternateContent>
        <p:cxnSp>
          <p:nvCxnSpPr>
            <p:cNvPr id="110" name="直线箭头连接符 109">
              <a:extLst>
                <a:ext uri="{FF2B5EF4-FFF2-40B4-BE49-F238E27FC236}">
                  <a16:creationId xmlns:a16="http://schemas.microsoft.com/office/drawing/2014/main" id="{648DB50F-E8F7-6FCA-D5CB-80D62D0BC3A7}"/>
                </a:ext>
              </a:extLst>
            </p:cNvPr>
            <p:cNvCxnSpPr>
              <a:cxnSpLocks/>
            </p:cNvCxnSpPr>
            <p:nvPr/>
          </p:nvCxnSpPr>
          <p:spPr>
            <a:xfrm>
              <a:off x="1401458" y="5692039"/>
              <a:ext cx="268722"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pic>
        <p:nvPicPr>
          <p:cNvPr id="134" name="音频 133">
            <a:extLst>
              <a:ext uri="{FF2B5EF4-FFF2-40B4-BE49-F238E27FC236}">
                <a16:creationId xmlns:a16="http://schemas.microsoft.com/office/drawing/2014/main" id="{D714CA80-38AD-81F0-D5C1-33613058EA87}"/>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1119605813"/>
      </p:ext>
    </p:extLst>
  </p:cSld>
  <p:clrMapOvr>
    <a:masterClrMapping/>
  </p:clrMapOvr>
  <mc:AlternateContent xmlns:mc="http://schemas.openxmlformats.org/markup-compatibility/2006">
    <mc:Choice xmlns:p14="http://schemas.microsoft.com/office/powerpoint/2010/main" Requires="p14">
      <p:transition spd="slow" p14:dur="2000" advTm="45650"/>
    </mc:Choice>
    <mc:Fallback>
      <p:transition spd="slow" advTm="45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957FAC2-5FDD-EBD6-B171-ACD42BE1B48B}"/>
              </a:ext>
            </a:extLst>
          </p:cNvPr>
          <p:cNvSpPr txBox="1"/>
          <p:nvPr/>
        </p:nvSpPr>
        <p:spPr>
          <a:xfrm>
            <a:off x="352005" y="0"/>
            <a:ext cx="3945937" cy="584775"/>
          </a:xfrm>
          <a:prstGeom prst="rect">
            <a:avLst/>
          </a:prstGeom>
          <a:noFill/>
        </p:spPr>
        <p:txBody>
          <a:bodyPr wrap="square" rtlCol="0">
            <a:spAutoFit/>
          </a:bodyPr>
          <a:lstStyle/>
          <a:p>
            <a:r>
              <a:rPr lang="en-US" altLang="zh-CN" sz="3200" b="1" dirty="0"/>
              <a:t>Background</a:t>
            </a:r>
            <a:endParaRPr lang="zh-CN" altLang="en-US" sz="3200" b="1" dirty="0"/>
          </a:p>
        </p:txBody>
      </p:sp>
      <p:cxnSp>
        <p:nvCxnSpPr>
          <p:cNvPr id="5" name="Straight Connector 2">
            <a:extLst>
              <a:ext uri="{FF2B5EF4-FFF2-40B4-BE49-F238E27FC236}">
                <a16:creationId xmlns:a16="http://schemas.microsoft.com/office/drawing/2014/main" id="{ABAE7D32-0EC8-0F29-691A-29047CF92097}"/>
              </a:ext>
            </a:extLst>
          </p:cNvPr>
          <p:cNvCxnSpPr/>
          <p:nvPr/>
        </p:nvCxnSpPr>
        <p:spPr>
          <a:xfrm flipH="1">
            <a:off x="0" y="679667"/>
            <a:ext cx="121920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F201C613-63DB-59D5-6A60-74E4CF3D6016}"/>
              </a:ext>
            </a:extLst>
          </p:cNvPr>
          <p:cNvSpPr txBox="1"/>
          <p:nvPr/>
        </p:nvSpPr>
        <p:spPr>
          <a:xfrm>
            <a:off x="1297995" y="1175931"/>
            <a:ext cx="2999947" cy="369332"/>
          </a:xfrm>
          <a:prstGeom prst="rect">
            <a:avLst/>
          </a:prstGeom>
          <a:noFill/>
        </p:spPr>
        <p:txBody>
          <a:bodyPr wrap="square" rtlCol="0">
            <a:spAutoFit/>
          </a:bodyPr>
          <a:lstStyle/>
          <a:p>
            <a:r>
              <a:rPr kumimoji="1" lang="en-US" altLang="zh-CN" dirty="0">
                <a:solidFill>
                  <a:prstClr val="black"/>
                </a:solidFill>
                <a:latin typeface="Calibri" panose="020F0502020204030204"/>
              </a:rPr>
              <a:t>Training on unlabeled data</a:t>
            </a:r>
            <a:endParaRPr kumimoji="1" lang="zh-CN" altLang="en-US" dirty="0">
              <a:solidFill>
                <a:prstClr val="black"/>
              </a:solidFill>
              <a:latin typeface="Calibri" panose="020F0502020204030204"/>
            </a:endParaRPr>
          </a:p>
        </p:txBody>
      </p:sp>
      <p:sp>
        <p:nvSpPr>
          <p:cNvPr id="36" name="文本框 35">
            <a:extLst>
              <a:ext uri="{FF2B5EF4-FFF2-40B4-BE49-F238E27FC236}">
                <a16:creationId xmlns:a16="http://schemas.microsoft.com/office/drawing/2014/main" id="{A42C6365-C209-2069-DB5E-DDAE7E0558A6}"/>
              </a:ext>
            </a:extLst>
          </p:cNvPr>
          <p:cNvSpPr txBox="1"/>
          <p:nvPr/>
        </p:nvSpPr>
        <p:spPr>
          <a:xfrm>
            <a:off x="6280532" y="1192879"/>
            <a:ext cx="2999947" cy="369332"/>
          </a:xfrm>
          <a:prstGeom prst="rect">
            <a:avLst/>
          </a:prstGeom>
          <a:noFill/>
        </p:spPr>
        <p:txBody>
          <a:bodyPr wrap="square" rtlCol="0">
            <a:spAutoFit/>
          </a:bodyPr>
          <a:lstStyle/>
          <a:p>
            <a:r>
              <a:rPr kumimoji="1" lang="en-US" altLang="zh-CN" dirty="0">
                <a:solidFill>
                  <a:prstClr val="black"/>
                </a:solidFill>
                <a:latin typeface="Calibri" panose="020F0502020204030204"/>
              </a:rPr>
              <a:t>Finetuning on target data</a:t>
            </a:r>
            <a:endParaRPr kumimoji="1" lang="zh-CN" altLang="en-US" dirty="0">
              <a:solidFill>
                <a:prstClr val="black"/>
              </a:solidFill>
              <a:latin typeface="Calibri" panose="020F0502020204030204"/>
            </a:endParaRPr>
          </a:p>
        </p:txBody>
      </p:sp>
      <p:pic>
        <p:nvPicPr>
          <p:cNvPr id="2" name="图片 1">
            <a:extLst>
              <a:ext uri="{FF2B5EF4-FFF2-40B4-BE49-F238E27FC236}">
                <a16:creationId xmlns:a16="http://schemas.microsoft.com/office/drawing/2014/main" id="{8E82168C-EE57-B33B-CAA4-558E45B3A614}"/>
              </a:ext>
            </a:extLst>
          </p:cNvPr>
          <p:cNvPicPr>
            <a:picLocks noChangeAspect="1"/>
          </p:cNvPicPr>
          <p:nvPr/>
        </p:nvPicPr>
        <p:blipFill rotWithShape="1">
          <a:blip r:embed="rId6"/>
          <a:srcRect l="70579" t="10220" r="4494" b="26682"/>
          <a:stretch/>
        </p:blipFill>
        <p:spPr>
          <a:xfrm>
            <a:off x="603540" y="1984736"/>
            <a:ext cx="1480660" cy="2868133"/>
          </a:xfrm>
          <a:prstGeom prst="rect">
            <a:avLst/>
          </a:prstGeom>
        </p:spPr>
      </p:pic>
      <p:pic>
        <p:nvPicPr>
          <p:cNvPr id="3" name="图片 2">
            <a:extLst>
              <a:ext uri="{FF2B5EF4-FFF2-40B4-BE49-F238E27FC236}">
                <a16:creationId xmlns:a16="http://schemas.microsoft.com/office/drawing/2014/main" id="{9103F89E-B3EF-0A7D-2B22-AED9A42641A4}"/>
              </a:ext>
            </a:extLst>
          </p:cNvPr>
          <p:cNvPicPr>
            <a:picLocks noChangeAspect="1"/>
          </p:cNvPicPr>
          <p:nvPr/>
        </p:nvPicPr>
        <p:blipFill rotWithShape="1">
          <a:blip r:embed="rId6"/>
          <a:srcRect l="33073" t="10220" r="31271" b="26682"/>
          <a:stretch/>
        </p:blipFill>
        <p:spPr>
          <a:xfrm>
            <a:off x="2832304" y="1950579"/>
            <a:ext cx="2117887" cy="2868133"/>
          </a:xfrm>
          <a:prstGeom prst="rect">
            <a:avLst/>
          </a:prstGeom>
        </p:spPr>
      </p:pic>
      <p:grpSp>
        <p:nvGrpSpPr>
          <p:cNvPr id="6" name="组合 5">
            <a:extLst>
              <a:ext uri="{FF2B5EF4-FFF2-40B4-BE49-F238E27FC236}">
                <a16:creationId xmlns:a16="http://schemas.microsoft.com/office/drawing/2014/main" id="{3F835733-49B5-254B-629D-27C67A1531B5}"/>
              </a:ext>
            </a:extLst>
          </p:cNvPr>
          <p:cNvGrpSpPr/>
          <p:nvPr/>
        </p:nvGrpSpPr>
        <p:grpSpPr>
          <a:xfrm>
            <a:off x="5806956" y="1835671"/>
            <a:ext cx="5912764" cy="3007242"/>
            <a:chOff x="4983836" y="8483929"/>
            <a:chExt cx="5912764" cy="3007242"/>
          </a:xfrm>
        </p:grpSpPr>
        <p:sp>
          <p:nvSpPr>
            <p:cNvPr id="7" name="矩形 6">
              <a:extLst>
                <a:ext uri="{FF2B5EF4-FFF2-40B4-BE49-F238E27FC236}">
                  <a16:creationId xmlns:a16="http://schemas.microsoft.com/office/drawing/2014/main" id="{A8ED7E1B-7618-D086-4DEF-E1D829939182}"/>
                </a:ext>
              </a:extLst>
            </p:cNvPr>
            <p:cNvSpPr/>
            <p:nvPr/>
          </p:nvSpPr>
          <p:spPr>
            <a:xfrm>
              <a:off x="4983836" y="9297920"/>
              <a:ext cx="5912764" cy="2193251"/>
            </a:xfrm>
            <a:prstGeom prst="rect">
              <a:avLst/>
            </a:prstGeom>
            <a:solidFill>
              <a:srgbClr val="FFF2CC">
                <a:alpha val="25882"/>
              </a:srgb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B5849D27-5FA7-BDDF-7293-1C37EFD983B5}"/>
                </a:ext>
              </a:extLst>
            </p:cNvPr>
            <p:cNvSpPr txBox="1"/>
            <p:nvPr/>
          </p:nvSpPr>
          <p:spPr>
            <a:xfrm>
              <a:off x="6203695" y="8483929"/>
              <a:ext cx="3805465" cy="338554"/>
            </a:xfrm>
            <a:prstGeom prst="rect">
              <a:avLst/>
            </a:prstGeom>
            <a:noFill/>
          </p:spPr>
          <p:txBody>
            <a:bodyPr wrap="none" rtlCol="0">
              <a:spAutoFit/>
            </a:bodyPr>
            <a:lstStyle/>
            <a:p>
              <a:r>
                <a:rPr kumimoji="1" lang="en-US" altLang="zh-CN" sz="1600" dirty="0">
                  <a:latin typeface="Times New Roman" panose="02020603050405020304" pitchFamily="18" charset="0"/>
                  <a:cs typeface="Times New Roman" panose="02020603050405020304" pitchFamily="18" charset="0"/>
                </a:rPr>
                <a:t>Evaluation: 10 datasets</a:t>
              </a:r>
              <a:r>
                <a:rPr kumimoji="1" lang="zh-CN" altLang="en-US" sz="1600" dirty="0">
                  <a:latin typeface="Times New Roman" panose="02020603050405020304" pitchFamily="18" charset="0"/>
                  <a:cs typeface="Times New Roman" panose="02020603050405020304" pitchFamily="18" charset="0"/>
                </a:rPr>
                <a:t>   </a:t>
              </a:r>
              <a:r>
                <a:rPr kumimoji="1" lang="en-US" altLang="zh-CN" sz="1600" dirty="0">
                  <a:latin typeface="Times New Roman" panose="02020603050405020304" pitchFamily="18" charset="0"/>
                  <a:cs typeface="Times New Roman" panose="02020603050405020304" pitchFamily="18" charset="0"/>
                </a:rPr>
                <a:t>Total 388K images</a:t>
              </a:r>
              <a:endParaRPr kumimoji="1" lang="zh-CN" altLang="en-US" sz="1600" dirty="0">
                <a:latin typeface="Times New Roman" panose="02020603050405020304" pitchFamily="18" charset="0"/>
                <a:cs typeface="Times New Roman" panose="02020603050405020304" pitchFamily="18" charset="0"/>
              </a:endParaRPr>
            </a:p>
          </p:txBody>
        </p:sp>
        <p:sp>
          <p:nvSpPr>
            <p:cNvPr id="9" name="圆角矩形 8">
              <a:extLst>
                <a:ext uri="{FF2B5EF4-FFF2-40B4-BE49-F238E27FC236}">
                  <a16:creationId xmlns:a16="http://schemas.microsoft.com/office/drawing/2014/main" id="{76BBDEAF-0677-72BD-D98B-721979A3ECAD}"/>
                </a:ext>
              </a:extLst>
            </p:cNvPr>
            <p:cNvSpPr/>
            <p:nvPr/>
          </p:nvSpPr>
          <p:spPr>
            <a:xfrm>
              <a:off x="7336313" y="9358882"/>
              <a:ext cx="1060099" cy="884255"/>
            </a:xfrm>
            <a:prstGeom prst="roundRect">
              <a:avLst/>
            </a:prstGeom>
            <a:solidFill>
              <a:schemeClr val="bg1"/>
            </a:solidFill>
            <a:ln w="285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938D64C0-4CE0-367E-6BE8-98729F6389A4}"/>
                </a:ext>
              </a:extLst>
            </p:cNvPr>
            <p:cNvSpPr txBox="1"/>
            <p:nvPr/>
          </p:nvSpPr>
          <p:spPr>
            <a:xfrm>
              <a:off x="7306166" y="9429280"/>
              <a:ext cx="1120391" cy="769441"/>
            </a:xfrm>
            <a:prstGeom prst="rect">
              <a:avLst/>
            </a:prstGeom>
            <a:noFill/>
          </p:spPr>
          <p:txBody>
            <a:bodyPr wrap="square" rtlCol="0">
              <a:spAutoFit/>
            </a:bodyPr>
            <a:lstStyle/>
            <a:p>
              <a:pPr algn="ctr"/>
              <a:r>
                <a:rPr kumimoji="1" lang="en-US" altLang="zh-CN" sz="1100" b="1" dirty="0" err="1">
                  <a:latin typeface="Times New Roman" panose="02020603050405020304" pitchFamily="18" charset="0"/>
                  <a:cs typeface="Times New Roman" panose="02020603050405020304" pitchFamily="18" charset="0"/>
                </a:rPr>
                <a:t>CheXpert</a:t>
              </a:r>
              <a:endParaRPr kumimoji="1" lang="en-US" altLang="zh-CN" sz="1100" b="1" dirty="0">
                <a:latin typeface="Times New Roman" panose="02020603050405020304" pitchFamily="18" charset="0"/>
                <a:cs typeface="Times New Roman" panose="02020603050405020304" pitchFamily="18" charset="0"/>
              </a:endParaRPr>
            </a:p>
            <a:p>
              <a:pPr algn="ctr"/>
              <a:endParaRPr kumimoji="1" lang="en-US" altLang="zh-CN" sz="1100" b="1" dirty="0">
                <a:latin typeface="Times New Roman" panose="02020603050405020304" pitchFamily="18" charset="0"/>
                <a:cs typeface="Times New Roman" panose="02020603050405020304" pitchFamily="18" charset="0"/>
              </a:endParaRPr>
            </a:p>
            <a:p>
              <a:pPr algn="ctr"/>
              <a:r>
                <a:rPr kumimoji="1" lang="en-US" altLang="zh-CN" sz="1100" dirty="0">
                  <a:latin typeface="Times New Roman" panose="02020603050405020304" pitchFamily="18" charset="0"/>
                  <a:cs typeface="Times New Roman" panose="02020603050405020304" pitchFamily="18" charset="0"/>
                </a:rPr>
                <a:t>223K images</a:t>
              </a:r>
            </a:p>
            <a:p>
              <a:pPr algn="ctr"/>
              <a:r>
                <a:rPr kumimoji="1" lang="en-US" altLang="zh-CN" sz="1100" dirty="0">
                  <a:latin typeface="Times New Roman" panose="02020603050405020304" pitchFamily="18" charset="0"/>
                  <a:cs typeface="Times New Roman" panose="02020603050405020304" pitchFamily="18" charset="0"/>
                </a:rPr>
                <a:t>14 labels</a:t>
              </a:r>
              <a:endParaRPr kumimoji="1" lang="zh-CN" altLang="en-US" sz="1100" dirty="0">
                <a:latin typeface="Times New Roman" panose="02020603050405020304" pitchFamily="18" charset="0"/>
                <a:cs typeface="Times New Roman" panose="02020603050405020304" pitchFamily="18" charset="0"/>
              </a:endParaRPr>
            </a:p>
          </p:txBody>
        </p:sp>
        <p:sp>
          <p:nvSpPr>
            <p:cNvPr id="11" name="圆角矩形 10">
              <a:extLst>
                <a:ext uri="{FF2B5EF4-FFF2-40B4-BE49-F238E27FC236}">
                  <a16:creationId xmlns:a16="http://schemas.microsoft.com/office/drawing/2014/main" id="{45520ECE-17AF-0813-7829-94B51CBDEEDF}"/>
                </a:ext>
              </a:extLst>
            </p:cNvPr>
            <p:cNvSpPr/>
            <p:nvPr/>
          </p:nvSpPr>
          <p:spPr>
            <a:xfrm>
              <a:off x="8495224" y="9358882"/>
              <a:ext cx="1115745" cy="884255"/>
            </a:xfrm>
            <a:prstGeom prst="roundRect">
              <a:avLst/>
            </a:prstGeom>
            <a:solidFill>
              <a:schemeClr val="bg1"/>
            </a:solidFill>
            <a:ln w="285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a:extLst>
                <a:ext uri="{FF2B5EF4-FFF2-40B4-BE49-F238E27FC236}">
                  <a16:creationId xmlns:a16="http://schemas.microsoft.com/office/drawing/2014/main" id="{16D8D5EA-AE8C-A3AA-EDAC-8457A6714D2C}"/>
                </a:ext>
              </a:extLst>
            </p:cNvPr>
            <p:cNvSpPr txBox="1"/>
            <p:nvPr/>
          </p:nvSpPr>
          <p:spPr>
            <a:xfrm>
              <a:off x="8516698" y="9435110"/>
              <a:ext cx="999518" cy="769441"/>
            </a:xfrm>
            <a:prstGeom prst="rect">
              <a:avLst/>
            </a:prstGeom>
            <a:noFill/>
          </p:spPr>
          <p:txBody>
            <a:bodyPr wrap="square" rtlCol="0">
              <a:spAutoFit/>
            </a:bodyPr>
            <a:lstStyle/>
            <a:p>
              <a:pPr algn="ctr"/>
              <a:r>
                <a:rPr kumimoji="1" lang="en-US" altLang="zh-CN" sz="1100" b="1" dirty="0">
                  <a:latin typeface="Times New Roman" panose="02020603050405020304" pitchFamily="18" charset="0"/>
                  <a:cs typeface="Times New Roman" panose="02020603050405020304" pitchFamily="18" charset="0"/>
                </a:rPr>
                <a:t>Shenzhen</a:t>
              </a:r>
            </a:p>
            <a:p>
              <a:pPr algn="ctr"/>
              <a:endParaRPr kumimoji="1" lang="en-US" altLang="zh-CN" sz="1100" b="1" dirty="0">
                <a:latin typeface="Times New Roman" panose="02020603050405020304" pitchFamily="18" charset="0"/>
                <a:cs typeface="Times New Roman" panose="02020603050405020304" pitchFamily="18" charset="0"/>
              </a:endParaRPr>
            </a:p>
            <a:p>
              <a:pPr algn="ctr"/>
              <a:r>
                <a:rPr kumimoji="1" lang="en-US" altLang="zh-CN" sz="1100" dirty="0">
                  <a:latin typeface="Times New Roman" panose="02020603050405020304" pitchFamily="18" charset="0"/>
                  <a:cs typeface="Times New Roman" panose="02020603050405020304" pitchFamily="18" charset="0"/>
                </a:rPr>
                <a:t>662 images</a:t>
              </a:r>
            </a:p>
            <a:p>
              <a:pPr algn="ctr"/>
              <a:r>
                <a:rPr kumimoji="1" lang="en-US" altLang="zh-CN" sz="1100" dirty="0">
                  <a:latin typeface="Times New Roman" panose="02020603050405020304" pitchFamily="18" charset="0"/>
                  <a:cs typeface="Times New Roman" panose="02020603050405020304" pitchFamily="18" charset="0"/>
                </a:rPr>
                <a:t>2 labels</a:t>
              </a:r>
              <a:endParaRPr kumimoji="1" lang="zh-CN" altLang="en-US" sz="1100" dirty="0">
                <a:latin typeface="Times New Roman" panose="02020603050405020304" pitchFamily="18" charset="0"/>
                <a:cs typeface="Times New Roman" panose="02020603050405020304" pitchFamily="18" charset="0"/>
              </a:endParaRPr>
            </a:p>
          </p:txBody>
        </p:sp>
        <p:sp>
          <p:nvSpPr>
            <p:cNvPr id="13" name="圆角矩形 12">
              <a:extLst>
                <a:ext uri="{FF2B5EF4-FFF2-40B4-BE49-F238E27FC236}">
                  <a16:creationId xmlns:a16="http://schemas.microsoft.com/office/drawing/2014/main" id="{2CFCABE1-B201-7E26-3826-B33A9FDB5D5B}"/>
                </a:ext>
              </a:extLst>
            </p:cNvPr>
            <p:cNvSpPr/>
            <p:nvPr/>
          </p:nvSpPr>
          <p:spPr>
            <a:xfrm>
              <a:off x="5063711" y="10406370"/>
              <a:ext cx="1068479" cy="1009059"/>
            </a:xfrm>
            <a:prstGeom prst="roundRect">
              <a:avLst/>
            </a:prstGeom>
            <a:solidFill>
              <a:schemeClr val="bg1"/>
            </a:solidFill>
            <a:ln w="28575">
              <a:solidFill>
                <a:schemeClr val="accent5">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A8DEAD87-819A-0513-C5C2-1DB1D0CEBFB3}"/>
                </a:ext>
              </a:extLst>
            </p:cNvPr>
            <p:cNvSpPr txBox="1"/>
            <p:nvPr/>
          </p:nvSpPr>
          <p:spPr>
            <a:xfrm>
              <a:off x="5038443" y="10476710"/>
              <a:ext cx="1120391" cy="938719"/>
            </a:xfrm>
            <a:prstGeom prst="rect">
              <a:avLst/>
            </a:prstGeom>
            <a:noFill/>
          </p:spPr>
          <p:txBody>
            <a:bodyPr wrap="square" rtlCol="0">
              <a:spAutoFit/>
            </a:bodyPr>
            <a:lstStyle/>
            <a:p>
              <a:pPr algn="ctr"/>
              <a:r>
                <a:rPr kumimoji="1" lang="en-US" altLang="zh-CN" sz="1100" b="1" dirty="0">
                  <a:latin typeface="Times New Roman" panose="02020603050405020304" pitchFamily="18" charset="0"/>
                  <a:cs typeface="Times New Roman" panose="02020603050405020304" pitchFamily="18" charset="0"/>
                </a:rPr>
                <a:t>SIIM-ACR</a:t>
              </a:r>
            </a:p>
            <a:p>
              <a:pPr algn="ctr"/>
              <a:endParaRPr kumimoji="1" lang="en-US" altLang="zh-CN" sz="1100" b="1" dirty="0">
                <a:latin typeface="Times New Roman" panose="02020603050405020304" pitchFamily="18" charset="0"/>
                <a:cs typeface="Times New Roman" panose="02020603050405020304" pitchFamily="18" charset="0"/>
              </a:endParaRPr>
            </a:p>
            <a:p>
              <a:pPr algn="ctr"/>
              <a:r>
                <a:rPr kumimoji="1" lang="en-US" altLang="zh-CN" sz="1100" dirty="0">
                  <a:latin typeface="Times New Roman" panose="02020603050405020304" pitchFamily="18" charset="0"/>
                  <a:cs typeface="Times New Roman" panose="02020603050405020304" pitchFamily="18" charset="0"/>
                </a:rPr>
                <a:t>12k images</a:t>
              </a:r>
            </a:p>
            <a:p>
              <a:pPr algn="ctr"/>
              <a:r>
                <a:rPr kumimoji="1" lang="en-US" altLang="zh-CN" sz="1100" dirty="0">
                  <a:latin typeface="Times New Roman" panose="02020603050405020304" pitchFamily="18" charset="0"/>
                  <a:cs typeface="Times New Roman" panose="02020603050405020304" pitchFamily="18" charset="0"/>
                </a:rPr>
                <a:t>Pneumothorax segmentation</a:t>
              </a:r>
              <a:endParaRPr kumimoji="1" lang="zh-CN" altLang="en-US" sz="1100" dirty="0">
                <a:latin typeface="Times New Roman" panose="02020603050405020304" pitchFamily="18" charset="0"/>
                <a:cs typeface="Times New Roman" panose="02020603050405020304" pitchFamily="18" charset="0"/>
              </a:endParaRPr>
            </a:p>
          </p:txBody>
        </p:sp>
        <p:sp>
          <p:nvSpPr>
            <p:cNvPr id="15" name="圆角矩形 14">
              <a:extLst>
                <a:ext uri="{FF2B5EF4-FFF2-40B4-BE49-F238E27FC236}">
                  <a16:creationId xmlns:a16="http://schemas.microsoft.com/office/drawing/2014/main" id="{43DF6CCD-D40C-9E7D-612E-57DB597A34B8}"/>
                </a:ext>
              </a:extLst>
            </p:cNvPr>
            <p:cNvSpPr/>
            <p:nvPr/>
          </p:nvSpPr>
          <p:spPr>
            <a:xfrm>
              <a:off x="6215922" y="10406370"/>
              <a:ext cx="1060099" cy="1009059"/>
            </a:xfrm>
            <a:prstGeom prst="roundRect">
              <a:avLst/>
            </a:prstGeom>
            <a:solidFill>
              <a:schemeClr val="bg1"/>
            </a:solidFill>
            <a:ln w="28575">
              <a:solidFill>
                <a:schemeClr val="accent5">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8FE9713D-6D2C-9E3B-97FF-2345618BA17A}"/>
                </a:ext>
              </a:extLst>
            </p:cNvPr>
            <p:cNvSpPr txBox="1"/>
            <p:nvPr/>
          </p:nvSpPr>
          <p:spPr>
            <a:xfrm>
              <a:off x="6147253" y="10462618"/>
              <a:ext cx="1180683" cy="938719"/>
            </a:xfrm>
            <a:prstGeom prst="rect">
              <a:avLst/>
            </a:prstGeom>
            <a:noFill/>
          </p:spPr>
          <p:txBody>
            <a:bodyPr wrap="square" rtlCol="0">
              <a:spAutoFit/>
            </a:bodyPr>
            <a:lstStyle/>
            <a:p>
              <a:pPr algn="ctr"/>
              <a:r>
                <a:rPr kumimoji="1" lang="en-US" altLang="zh-CN" sz="1100" b="1" dirty="0">
                  <a:latin typeface="Times New Roman" panose="02020603050405020304" pitchFamily="18" charset="0"/>
                  <a:cs typeface="Times New Roman" panose="02020603050405020304" pitchFamily="18" charset="0"/>
                </a:rPr>
                <a:t>COVID-QU-EX</a:t>
              </a:r>
            </a:p>
            <a:p>
              <a:pPr algn="ctr"/>
              <a:endParaRPr kumimoji="1" lang="en-US" altLang="zh-CN" sz="1100" b="1" dirty="0">
                <a:latin typeface="Times New Roman" panose="02020603050405020304" pitchFamily="18" charset="0"/>
                <a:cs typeface="Times New Roman" panose="02020603050405020304" pitchFamily="18" charset="0"/>
              </a:endParaRPr>
            </a:p>
            <a:p>
              <a:pPr algn="ctr"/>
              <a:r>
                <a:rPr kumimoji="1" lang="en-US" altLang="zh-CN" sz="1100" dirty="0">
                  <a:latin typeface="Times New Roman" panose="02020603050405020304" pitchFamily="18" charset="0"/>
                  <a:cs typeface="Times New Roman" panose="02020603050405020304" pitchFamily="18" charset="0"/>
                </a:rPr>
                <a:t>4.4k images</a:t>
              </a:r>
            </a:p>
            <a:p>
              <a:pPr algn="ctr"/>
              <a:r>
                <a:rPr kumimoji="1" lang="en-US" altLang="zh-CN" sz="1100" dirty="0">
                  <a:latin typeface="Times New Roman" panose="02020603050405020304" pitchFamily="18" charset="0"/>
                  <a:cs typeface="Times New Roman" panose="02020603050405020304" pitchFamily="18" charset="0"/>
                </a:rPr>
                <a:t>Covid</a:t>
              </a:r>
            </a:p>
            <a:p>
              <a:pPr algn="ctr"/>
              <a:r>
                <a:rPr kumimoji="1" lang="en-US" altLang="zh-CN" sz="1100" dirty="0">
                  <a:latin typeface="Times New Roman" panose="02020603050405020304" pitchFamily="18" charset="0"/>
                  <a:cs typeface="Times New Roman" panose="02020603050405020304" pitchFamily="18" charset="0"/>
                </a:rPr>
                <a:t>segmentation</a:t>
              </a:r>
              <a:endParaRPr kumimoji="1" lang="zh-CN" altLang="en-US" sz="1100" dirty="0">
                <a:latin typeface="Times New Roman" panose="02020603050405020304" pitchFamily="18" charset="0"/>
                <a:cs typeface="Times New Roman" panose="02020603050405020304" pitchFamily="18" charset="0"/>
              </a:endParaRPr>
            </a:p>
          </p:txBody>
        </p:sp>
        <p:sp>
          <p:nvSpPr>
            <p:cNvPr id="17" name="圆角矩形 16">
              <a:extLst>
                <a:ext uri="{FF2B5EF4-FFF2-40B4-BE49-F238E27FC236}">
                  <a16:creationId xmlns:a16="http://schemas.microsoft.com/office/drawing/2014/main" id="{741157EE-C6BB-6090-BFA7-572FD810B2BB}"/>
                </a:ext>
              </a:extLst>
            </p:cNvPr>
            <p:cNvSpPr/>
            <p:nvPr/>
          </p:nvSpPr>
          <p:spPr>
            <a:xfrm>
              <a:off x="7336313" y="10406370"/>
              <a:ext cx="1067226" cy="1009059"/>
            </a:xfrm>
            <a:prstGeom prst="roundRect">
              <a:avLst/>
            </a:prstGeom>
            <a:solidFill>
              <a:schemeClr val="bg1"/>
            </a:solidFill>
            <a:ln w="28575">
              <a:solidFill>
                <a:schemeClr val="accent5">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a:extLst>
                <a:ext uri="{FF2B5EF4-FFF2-40B4-BE49-F238E27FC236}">
                  <a16:creationId xmlns:a16="http://schemas.microsoft.com/office/drawing/2014/main" id="{DDE7717E-526C-389A-F39A-32CAAB843245}"/>
                </a:ext>
              </a:extLst>
            </p:cNvPr>
            <p:cNvSpPr txBox="1"/>
            <p:nvPr/>
          </p:nvSpPr>
          <p:spPr>
            <a:xfrm>
              <a:off x="7310500" y="10469664"/>
              <a:ext cx="1120391" cy="938719"/>
            </a:xfrm>
            <a:prstGeom prst="rect">
              <a:avLst/>
            </a:prstGeom>
            <a:noFill/>
          </p:spPr>
          <p:txBody>
            <a:bodyPr wrap="square" rtlCol="0">
              <a:spAutoFit/>
            </a:bodyPr>
            <a:lstStyle/>
            <a:p>
              <a:pPr algn="ctr"/>
              <a:r>
                <a:rPr kumimoji="1" lang="en-US" altLang="zh-CN" sz="1100" b="1" dirty="0">
                  <a:latin typeface="Times New Roman" panose="02020603050405020304" pitchFamily="18" charset="0"/>
                  <a:cs typeface="Times New Roman" panose="02020603050405020304" pitchFamily="18" charset="0"/>
                </a:rPr>
                <a:t>JSRT</a:t>
              </a:r>
            </a:p>
            <a:p>
              <a:pPr algn="ctr"/>
              <a:endParaRPr kumimoji="1" lang="en-US" altLang="zh-CN" sz="1100" b="1" dirty="0">
                <a:latin typeface="Times New Roman" panose="02020603050405020304" pitchFamily="18" charset="0"/>
                <a:cs typeface="Times New Roman" panose="02020603050405020304" pitchFamily="18" charset="0"/>
              </a:endParaRPr>
            </a:p>
            <a:p>
              <a:pPr algn="ctr"/>
              <a:r>
                <a:rPr kumimoji="1" lang="en-US" altLang="zh-CN" sz="1100" dirty="0">
                  <a:latin typeface="Times New Roman" panose="02020603050405020304" pitchFamily="18" charset="0"/>
                  <a:cs typeface="Times New Roman" panose="02020603050405020304" pitchFamily="18" charset="0"/>
                </a:rPr>
                <a:t>247 images</a:t>
              </a:r>
            </a:p>
            <a:p>
              <a:pPr algn="ctr"/>
              <a:r>
                <a:rPr kumimoji="1" lang="en-US" altLang="zh-CN" sz="1100" dirty="0">
                  <a:latin typeface="Times New Roman" panose="02020603050405020304" pitchFamily="18" charset="0"/>
                  <a:cs typeface="Times New Roman" panose="02020603050405020304" pitchFamily="18" charset="0"/>
                </a:rPr>
                <a:t>5 organs</a:t>
              </a:r>
            </a:p>
            <a:p>
              <a:pPr algn="ctr"/>
              <a:r>
                <a:rPr kumimoji="1" lang="en-US" altLang="zh-CN" sz="1100" dirty="0">
                  <a:latin typeface="Times New Roman" panose="02020603050405020304" pitchFamily="18" charset="0"/>
                  <a:cs typeface="Times New Roman" panose="02020603050405020304" pitchFamily="18" charset="0"/>
                </a:rPr>
                <a:t>segmentation</a:t>
              </a:r>
              <a:endParaRPr kumimoji="1" lang="zh-CN" altLang="en-US" sz="1100" dirty="0">
                <a:latin typeface="Times New Roman" panose="02020603050405020304" pitchFamily="18" charset="0"/>
                <a:cs typeface="Times New Roman" panose="02020603050405020304" pitchFamily="18" charset="0"/>
              </a:endParaRPr>
            </a:p>
          </p:txBody>
        </p:sp>
        <p:sp>
          <p:nvSpPr>
            <p:cNvPr id="19" name="圆角矩形 18">
              <a:extLst>
                <a:ext uri="{FF2B5EF4-FFF2-40B4-BE49-F238E27FC236}">
                  <a16:creationId xmlns:a16="http://schemas.microsoft.com/office/drawing/2014/main" id="{03A132AB-CE44-4894-38E8-B5CC27915414}"/>
                </a:ext>
              </a:extLst>
            </p:cNvPr>
            <p:cNvSpPr/>
            <p:nvPr/>
          </p:nvSpPr>
          <p:spPr>
            <a:xfrm>
              <a:off x="8490580" y="10406370"/>
              <a:ext cx="1120390" cy="1009059"/>
            </a:xfrm>
            <a:prstGeom prst="roundRect">
              <a:avLst/>
            </a:prstGeom>
            <a:solidFill>
              <a:schemeClr val="bg1"/>
            </a:solidFill>
            <a:ln w="28575">
              <a:solidFill>
                <a:schemeClr val="accent5">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91958E9C-B6CA-A4D9-C998-C634B9E8FB6F}"/>
                </a:ext>
              </a:extLst>
            </p:cNvPr>
            <p:cNvSpPr txBox="1"/>
            <p:nvPr/>
          </p:nvSpPr>
          <p:spPr>
            <a:xfrm>
              <a:off x="8505017" y="10476710"/>
              <a:ext cx="1120391" cy="938719"/>
            </a:xfrm>
            <a:prstGeom prst="rect">
              <a:avLst/>
            </a:prstGeom>
            <a:noFill/>
          </p:spPr>
          <p:txBody>
            <a:bodyPr wrap="square" rtlCol="0">
              <a:spAutoFit/>
            </a:bodyPr>
            <a:lstStyle/>
            <a:p>
              <a:pPr algn="ctr"/>
              <a:r>
                <a:rPr kumimoji="1" lang="en-US" altLang="zh-CN" sz="1100" b="1" dirty="0" err="1">
                  <a:latin typeface="Times New Roman" panose="02020603050405020304" pitchFamily="18" charset="0"/>
                  <a:cs typeface="Times New Roman" panose="02020603050405020304" pitchFamily="18" charset="0"/>
                </a:rPr>
                <a:t>VinDr</a:t>
              </a:r>
              <a:r>
                <a:rPr kumimoji="1" lang="en-US" altLang="zh-CN" sz="1100" b="1" dirty="0">
                  <a:latin typeface="Times New Roman" panose="02020603050405020304" pitchFamily="18" charset="0"/>
                  <a:cs typeface="Times New Roman" panose="02020603050405020304" pitchFamily="18" charset="0"/>
                </a:rPr>
                <a:t>-Rib</a:t>
              </a:r>
            </a:p>
            <a:p>
              <a:pPr algn="ctr"/>
              <a:endParaRPr kumimoji="1" lang="en-US" altLang="zh-CN" sz="1100" b="1" dirty="0">
                <a:latin typeface="Times New Roman" panose="02020603050405020304" pitchFamily="18" charset="0"/>
                <a:cs typeface="Times New Roman" panose="02020603050405020304" pitchFamily="18" charset="0"/>
              </a:endParaRPr>
            </a:p>
            <a:p>
              <a:pPr algn="ctr"/>
              <a:r>
                <a:rPr kumimoji="1" lang="en-US" altLang="zh-CN" sz="1100" dirty="0">
                  <a:latin typeface="Times New Roman" panose="02020603050405020304" pitchFamily="18" charset="0"/>
                  <a:cs typeface="Times New Roman" panose="02020603050405020304" pitchFamily="18" charset="0"/>
                </a:rPr>
                <a:t>245 images</a:t>
              </a:r>
            </a:p>
            <a:p>
              <a:pPr algn="ctr"/>
              <a:r>
                <a:rPr kumimoji="1" lang="en-US" altLang="zh-CN" sz="1100" dirty="0">
                  <a:latin typeface="Times New Roman" panose="02020603050405020304" pitchFamily="18" charset="0"/>
                  <a:cs typeface="Times New Roman" panose="02020603050405020304" pitchFamily="18" charset="0"/>
                </a:rPr>
                <a:t>20 ribs</a:t>
              </a:r>
            </a:p>
            <a:p>
              <a:pPr algn="ctr"/>
              <a:r>
                <a:rPr kumimoji="1" lang="en-US" altLang="zh-CN" sz="1100" dirty="0">
                  <a:latin typeface="Times New Roman" panose="02020603050405020304" pitchFamily="18" charset="0"/>
                  <a:cs typeface="Times New Roman" panose="02020603050405020304" pitchFamily="18" charset="0"/>
                </a:rPr>
                <a:t>segmentation</a:t>
              </a:r>
              <a:endParaRPr kumimoji="1" lang="zh-CN" altLang="en-US" sz="1100" dirty="0">
                <a:latin typeface="Times New Roman" panose="02020603050405020304" pitchFamily="18" charset="0"/>
                <a:cs typeface="Times New Roman" panose="02020603050405020304" pitchFamily="18" charset="0"/>
              </a:endParaRPr>
            </a:p>
          </p:txBody>
        </p:sp>
        <p:sp>
          <p:nvSpPr>
            <p:cNvPr id="22" name="圆角矩形 21">
              <a:extLst>
                <a:ext uri="{FF2B5EF4-FFF2-40B4-BE49-F238E27FC236}">
                  <a16:creationId xmlns:a16="http://schemas.microsoft.com/office/drawing/2014/main" id="{0BDAA205-DFCF-EB5F-A7C1-319898D1FE64}"/>
                </a:ext>
              </a:extLst>
            </p:cNvPr>
            <p:cNvSpPr/>
            <p:nvPr/>
          </p:nvSpPr>
          <p:spPr>
            <a:xfrm>
              <a:off x="5524674" y="8899885"/>
              <a:ext cx="999811" cy="303103"/>
            </a:xfrm>
            <a:prstGeom prst="roundRect">
              <a:avLst/>
            </a:prstGeom>
            <a:noFill/>
            <a:ln w="285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4235BE9C-B25C-E66E-D565-1DFA493A6E66}"/>
                </a:ext>
              </a:extLst>
            </p:cNvPr>
            <p:cNvSpPr txBox="1"/>
            <p:nvPr/>
          </p:nvSpPr>
          <p:spPr>
            <a:xfrm>
              <a:off x="5514623" y="8892736"/>
              <a:ext cx="1077688"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Classification</a:t>
              </a:r>
              <a:endParaRPr kumimoji="1" lang="zh-CN" altLang="en-US" sz="1200" dirty="0">
                <a:latin typeface="Times New Roman" panose="02020603050405020304" pitchFamily="18" charset="0"/>
                <a:cs typeface="Times New Roman" panose="02020603050405020304" pitchFamily="18" charset="0"/>
              </a:endParaRPr>
            </a:p>
          </p:txBody>
        </p:sp>
        <p:sp>
          <p:nvSpPr>
            <p:cNvPr id="24" name="圆角矩形 23">
              <a:extLst>
                <a:ext uri="{FF2B5EF4-FFF2-40B4-BE49-F238E27FC236}">
                  <a16:creationId xmlns:a16="http://schemas.microsoft.com/office/drawing/2014/main" id="{87F7BDE3-71EC-BE9B-31B0-B1647BA826FA}"/>
                </a:ext>
              </a:extLst>
            </p:cNvPr>
            <p:cNvSpPr/>
            <p:nvPr/>
          </p:nvSpPr>
          <p:spPr>
            <a:xfrm>
              <a:off x="6655120" y="8903213"/>
              <a:ext cx="999811" cy="303103"/>
            </a:xfrm>
            <a:prstGeom prst="roundRect">
              <a:avLst/>
            </a:prstGeom>
            <a:noFill/>
            <a:ln w="28575">
              <a:solidFill>
                <a:schemeClr val="accent5">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5EA734D3-E01C-FDA5-2F59-9D4F8A96C798}"/>
                </a:ext>
              </a:extLst>
            </p:cNvPr>
            <p:cNvSpPr txBox="1"/>
            <p:nvPr/>
          </p:nvSpPr>
          <p:spPr>
            <a:xfrm>
              <a:off x="6645069" y="8896064"/>
              <a:ext cx="1077688"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Segmentation</a:t>
              </a:r>
              <a:endParaRPr kumimoji="1" lang="zh-CN" altLang="en-US" sz="1200" dirty="0">
                <a:latin typeface="Times New Roman" panose="02020603050405020304" pitchFamily="18" charset="0"/>
                <a:cs typeface="Times New Roman" panose="02020603050405020304" pitchFamily="18" charset="0"/>
              </a:endParaRPr>
            </a:p>
          </p:txBody>
        </p:sp>
        <p:sp>
          <p:nvSpPr>
            <p:cNvPr id="26" name="圆角矩形 25">
              <a:extLst>
                <a:ext uri="{FF2B5EF4-FFF2-40B4-BE49-F238E27FC236}">
                  <a16:creationId xmlns:a16="http://schemas.microsoft.com/office/drawing/2014/main" id="{71656AE6-D092-B54E-18E1-4EE0E3F1E72E}"/>
                </a:ext>
              </a:extLst>
            </p:cNvPr>
            <p:cNvSpPr/>
            <p:nvPr/>
          </p:nvSpPr>
          <p:spPr>
            <a:xfrm>
              <a:off x="9679637" y="9358882"/>
              <a:ext cx="1115745" cy="884255"/>
            </a:xfrm>
            <a:prstGeom prst="roundRect">
              <a:avLst/>
            </a:prstGeom>
            <a:solidFill>
              <a:schemeClr val="bg1"/>
            </a:solidFill>
            <a:ln w="28575">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1C90B9BA-670B-CDD9-40B3-D7D0D0E2B669}"/>
                </a:ext>
              </a:extLst>
            </p:cNvPr>
            <p:cNvSpPr txBox="1"/>
            <p:nvPr/>
          </p:nvSpPr>
          <p:spPr>
            <a:xfrm>
              <a:off x="9775842" y="9358882"/>
              <a:ext cx="949697" cy="884858"/>
            </a:xfrm>
            <a:prstGeom prst="rect">
              <a:avLst/>
            </a:prstGeom>
            <a:noFill/>
          </p:spPr>
          <p:txBody>
            <a:bodyPr wrap="square" rtlCol="0">
              <a:spAutoFit/>
            </a:bodyPr>
            <a:lstStyle/>
            <a:p>
              <a:pPr algn="ctr"/>
              <a:r>
                <a:rPr kumimoji="1" lang="en-US" altLang="zh-CN" sz="1100" b="1" dirty="0">
                  <a:latin typeface="Times New Roman" panose="02020603050405020304" pitchFamily="18" charset="0"/>
                  <a:cs typeface="Times New Roman" panose="02020603050405020304" pitchFamily="18" charset="0"/>
                </a:rPr>
                <a:t>Chest-Landmark</a:t>
              </a:r>
            </a:p>
            <a:p>
              <a:pPr algn="ctr">
                <a:lnSpc>
                  <a:spcPts val="920"/>
                </a:lnSpc>
              </a:pPr>
              <a:endParaRPr kumimoji="1" lang="en-US" altLang="zh-CN" sz="1100" b="1" dirty="0">
                <a:latin typeface="Times New Roman" panose="02020603050405020304" pitchFamily="18" charset="0"/>
                <a:cs typeface="Times New Roman" panose="02020603050405020304" pitchFamily="18" charset="0"/>
              </a:endParaRPr>
            </a:p>
            <a:p>
              <a:pPr algn="ctr"/>
              <a:r>
                <a:rPr kumimoji="1" lang="en-US" altLang="zh-CN" sz="1100" dirty="0">
                  <a:latin typeface="Times New Roman" panose="02020603050405020304" pitchFamily="18" charset="0"/>
                  <a:cs typeface="Times New Roman" panose="02020603050405020304" pitchFamily="18" charset="0"/>
                </a:rPr>
                <a:t>1k images</a:t>
              </a:r>
            </a:p>
            <a:p>
              <a:pPr algn="ctr"/>
              <a:r>
                <a:rPr kumimoji="1" lang="en-US" altLang="zh-CN" sz="1100" dirty="0">
                  <a:latin typeface="Times New Roman" panose="02020603050405020304" pitchFamily="18" charset="0"/>
                  <a:cs typeface="Times New Roman" panose="02020603050405020304" pitchFamily="18" charset="0"/>
                </a:rPr>
                <a:t>54 landmarks</a:t>
              </a:r>
              <a:endParaRPr kumimoji="1" lang="zh-CN" altLang="en-US" sz="1100" dirty="0">
                <a:latin typeface="Times New Roman" panose="02020603050405020304" pitchFamily="18" charset="0"/>
                <a:cs typeface="Times New Roman" panose="02020603050405020304" pitchFamily="18" charset="0"/>
              </a:endParaRPr>
            </a:p>
          </p:txBody>
        </p:sp>
        <p:sp>
          <p:nvSpPr>
            <p:cNvPr id="28" name="圆角矩形 27">
              <a:extLst>
                <a:ext uri="{FF2B5EF4-FFF2-40B4-BE49-F238E27FC236}">
                  <a16:creationId xmlns:a16="http://schemas.microsoft.com/office/drawing/2014/main" id="{6DE30126-1679-05FF-15EC-456292BC5172}"/>
                </a:ext>
              </a:extLst>
            </p:cNvPr>
            <p:cNvSpPr/>
            <p:nvPr/>
          </p:nvSpPr>
          <p:spPr>
            <a:xfrm>
              <a:off x="9679637" y="10402267"/>
              <a:ext cx="1115745" cy="1009059"/>
            </a:xfrm>
            <a:prstGeom prst="roundRect">
              <a:avLst/>
            </a:prstGeom>
            <a:solidFill>
              <a:schemeClr val="bg1"/>
            </a:solidFill>
            <a:ln w="28575">
              <a:solidFill>
                <a:schemeClr val="accent2">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文本框 28">
              <a:extLst>
                <a:ext uri="{FF2B5EF4-FFF2-40B4-BE49-F238E27FC236}">
                  <a16:creationId xmlns:a16="http://schemas.microsoft.com/office/drawing/2014/main" id="{B001DFAA-A123-CFE3-8B62-10A20DEEFC1F}"/>
                </a:ext>
              </a:extLst>
            </p:cNvPr>
            <p:cNvSpPr txBox="1"/>
            <p:nvPr/>
          </p:nvSpPr>
          <p:spPr>
            <a:xfrm>
              <a:off x="9674991" y="10536226"/>
              <a:ext cx="1120391" cy="769441"/>
            </a:xfrm>
            <a:prstGeom prst="rect">
              <a:avLst/>
            </a:prstGeom>
            <a:noFill/>
          </p:spPr>
          <p:txBody>
            <a:bodyPr wrap="square" rtlCol="0">
              <a:spAutoFit/>
            </a:bodyPr>
            <a:lstStyle/>
            <a:p>
              <a:pPr algn="ctr"/>
              <a:r>
                <a:rPr kumimoji="1" lang="en-US" altLang="zh-CN" sz="1100" b="1" dirty="0">
                  <a:latin typeface="Times New Roman" panose="02020603050405020304" pitchFamily="18" charset="0"/>
                  <a:cs typeface="Times New Roman" panose="02020603050405020304" pitchFamily="18" charset="0"/>
                </a:rPr>
                <a:t>IU-</a:t>
              </a:r>
              <a:r>
                <a:rPr kumimoji="1" lang="en-US" altLang="zh-CN" sz="1100" b="1" dirty="0" err="1">
                  <a:latin typeface="Times New Roman" panose="02020603050405020304" pitchFamily="18" charset="0"/>
                  <a:cs typeface="Times New Roman" panose="02020603050405020304" pitchFamily="18" charset="0"/>
                </a:rPr>
                <a:t>XRay</a:t>
              </a:r>
              <a:endParaRPr kumimoji="1" lang="en-US" altLang="zh-CN" sz="1100" b="1" dirty="0">
                <a:latin typeface="Times New Roman" panose="02020603050405020304" pitchFamily="18" charset="0"/>
                <a:cs typeface="Times New Roman" panose="02020603050405020304" pitchFamily="18" charset="0"/>
              </a:endParaRPr>
            </a:p>
            <a:p>
              <a:pPr algn="ctr"/>
              <a:endParaRPr kumimoji="1" lang="en-US" altLang="zh-CN" sz="1100" b="1" dirty="0">
                <a:latin typeface="Times New Roman" panose="02020603050405020304" pitchFamily="18" charset="0"/>
                <a:cs typeface="Times New Roman" panose="02020603050405020304" pitchFamily="18" charset="0"/>
              </a:endParaRPr>
            </a:p>
            <a:p>
              <a:pPr algn="ctr"/>
              <a:r>
                <a:rPr kumimoji="1" lang="en-US" altLang="zh-CN" sz="1100" dirty="0">
                  <a:latin typeface="Times New Roman" panose="02020603050405020304" pitchFamily="18" charset="0"/>
                  <a:cs typeface="Times New Roman" panose="02020603050405020304" pitchFamily="18" charset="0"/>
                </a:rPr>
                <a:t>7470 images</a:t>
              </a:r>
            </a:p>
            <a:p>
              <a:pPr algn="ctr"/>
              <a:r>
                <a:rPr kumimoji="1" lang="en-US" altLang="zh-CN" sz="1100" dirty="0">
                  <a:latin typeface="Times New Roman" panose="02020603050405020304" pitchFamily="18" charset="0"/>
                  <a:cs typeface="Times New Roman" panose="02020603050405020304" pitchFamily="18" charset="0"/>
                </a:rPr>
                <a:t>3955 reports</a:t>
              </a:r>
            </a:p>
          </p:txBody>
        </p:sp>
        <p:sp>
          <p:nvSpPr>
            <p:cNvPr id="30" name="圆角矩形 29">
              <a:extLst>
                <a:ext uri="{FF2B5EF4-FFF2-40B4-BE49-F238E27FC236}">
                  <a16:creationId xmlns:a16="http://schemas.microsoft.com/office/drawing/2014/main" id="{89792125-A63D-D91F-A6AC-EE4430842A54}"/>
                </a:ext>
              </a:extLst>
            </p:cNvPr>
            <p:cNvSpPr/>
            <p:nvPr/>
          </p:nvSpPr>
          <p:spPr>
            <a:xfrm>
              <a:off x="7762107" y="8891583"/>
              <a:ext cx="1608775" cy="318219"/>
            </a:xfrm>
            <a:prstGeom prst="roundRect">
              <a:avLst/>
            </a:prstGeom>
            <a:noFill/>
            <a:ln w="28575">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文本框 30">
              <a:extLst>
                <a:ext uri="{FF2B5EF4-FFF2-40B4-BE49-F238E27FC236}">
                  <a16:creationId xmlns:a16="http://schemas.microsoft.com/office/drawing/2014/main" id="{3D012DEC-00BE-3498-FA3A-C4B737CEC092}"/>
                </a:ext>
              </a:extLst>
            </p:cNvPr>
            <p:cNvSpPr txBox="1"/>
            <p:nvPr/>
          </p:nvSpPr>
          <p:spPr>
            <a:xfrm>
              <a:off x="7701854" y="8939044"/>
              <a:ext cx="1753426" cy="233397"/>
            </a:xfrm>
            <a:prstGeom prst="rect">
              <a:avLst/>
            </a:prstGeom>
            <a:noFill/>
          </p:spPr>
          <p:txBody>
            <a:bodyPr wrap="square" rtlCol="0">
              <a:spAutoFit/>
            </a:bodyPr>
            <a:lstStyle/>
            <a:p>
              <a:pPr algn="ctr">
                <a:lnSpc>
                  <a:spcPts val="1120"/>
                </a:lnSpc>
              </a:pPr>
              <a:r>
                <a:rPr kumimoji="1" lang="en-US" altLang="zh-CN" sz="1100" dirty="0">
                  <a:latin typeface="Times New Roman" panose="02020603050405020304" pitchFamily="18" charset="0"/>
                  <a:cs typeface="Times New Roman" panose="02020603050405020304" pitchFamily="18" charset="0"/>
                </a:rPr>
                <a:t>Landmark correspondence</a:t>
              </a:r>
              <a:endParaRPr kumimoji="1" lang="zh-CN" altLang="en-US" sz="1100" dirty="0">
                <a:latin typeface="Times New Roman" panose="02020603050405020304" pitchFamily="18" charset="0"/>
                <a:cs typeface="Times New Roman" panose="02020603050405020304" pitchFamily="18" charset="0"/>
              </a:endParaRPr>
            </a:p>
          </p:txBody>
        </p:sp>
        <p:sp>
          <p:nvSpPr>
            <p:cNvPr id="32" name="圆角矩形 31">
              <a:extLst>
                <a:ext uri="{FF2B5EF4-FFF2-40B4-BE49-F238E27FC236}">
                  <a16:creationId xmlns:a16="http://schemas.microsoft.com/office/drawing/2014/main" id="{D9F07A56-9BCB-4AC4-5A54-70D4C1BF2B14}"/>
                </a:ext>
              </a:extLst>
            </p:cNvPr>
            <p:cNvSpPr/>
            <p:nvPr/>
          </p:nvSpPr>
          <p:spPr>
            <a:xfrm>
              <a:off x="9496427" y="8888424"/>
              <a:ext cx="1196161" cy="322344"/>
            </a:xfrm>
            <a:prstGeom prst="roundRect">
              <a:avLst/>
            </a:prstGeom>
            <a:noFill/>
            <a:ln w="28575">
              <a:solidFill>
                <a:schemeClr val="accent2">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B4472D41-88C7-BB81-2CD3-67FFF6CFD731}"/>
                </a:ext>
              </a:extLst>
            </p:cNvPr>
            <p:cNvSpPr txBox="1"/>
            <p:nvPr/>
          </p:nvSpPr>
          <p:spPr>
            <a:xfrm>
              <a:off x="9496428" y="8932640"/>
              <a:ext cx="1196161" cy="233397"/>
            </a:xfrm>
            <a:prstGeom prst="rect">
              <a:avLst/>
            </a:prstGeom>
            <a:noFill/>
          </p:spPr>
          <p:txBody>
            <a:bodyPr wrap="none" rtlCol="0">
              <a:spAutoFit/>
            </a:bodyPr>
            <a:lstStyle/>
            <a:p>
              <a:pPr algn="ctr">
                <a:lnSpc>
                  <a:spcPts val="1140"/>
                </a:lnSpc>
              </a:pPr>
              <a:r>
                <a:rPr kumimoji="1" lang="en-US" altLang="zh-CN" sz="1100" dirty="0">
                  <a:latin typeface="Times New Roman" panose="02020603050405020304" pitchFamily="18" charset="0"/>
                  <a:cs typeface="Times New Roman" panose="02020603050405020304" pitchFamily="18" charset="0"/>
                </a:rPr>
                <a:t>Report generation</a:t>
              </a:r>
              <a:endParaRPr kumimoji="1" lang="zh-CN" altLang="en-US" sz="1100" dirty="0">
                <a:latin typeface="Times New Roman" panose="02020603050405020304" pitchFamily="18" charset="0"/>
                <a:cs typeface="Times New Roman" panose="02020603050405020304" pitchFamily="18" charset="0"/>
              </a:endParaRPr>
            </a:p>
          </p:txBody>
        </p:sp>
        <p:sp>
          <p:nvSpPr>
            <p:cNvPr id="56" name="圆角矩形 55">
              <a:extLst>
                <a:ext uri="{FF2B5EF4-FFF2-40B4-BE49-F238E27FC236}">
                  <a16:creationId xmlns:a16="http://schemas.microsoft.com/office/drawing/2014/main" id="{153B5CB9-AEE6-65E8-0C3B-A9EC96F4BE74}"/>
                </a:ext>
              </a:extLst>
            </p:cNvPr>
            <p:cNvSpPr/>
            <p:nvPr/>
          </p:nvSpPr>
          <p:spPr>
            <a:xfrm>
              <a:off x="5063711" y="9358882"/>
              <a:ext cx="1068479" cy="884255"/>
            </a:xfrm>
            <a:prstGeom prst="roundRect">
              <a:avLst/>
            </a:prstGeom>
            <a:solidFill>
              <a:schemeClr val="bg1"/>
            </a:solidFill>
            <a:ln w="285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文本框 59">
              <a:extLst>
                <a:ext uri="{FF2B5EF4-FFF2-40B4-BE49-F238E27FC236}">
                  <a16:creationId xmlns:a16="http://schemas.microsoft.com/office/drawing/2014/main" id="{CF430B35-59F3-3336-CA01-06076C179116}"/>
                </a:ext>
              </a:extLst>
            </p:cNvPr>
            <p:cNvSpPr txBox="1"/>
            <p:nvPr/>
          </p:nvSpPr>
          <p:spPr>
            <a:xfrm>
              <a:off x="5003423" y="9429222"/>
              <a:ext cx="1120391" cy="769441"/>
            </a:xfrm>
            <a:prstGeom prst="rect">
              <a:avLst/>
            </a:prstGeom>
            <a:noFill/>
          </p:spPr>
          <p:txBody>
            <a:bodyPr wrap="square" rtlCol="0">
              <a:spAutoFit/>
            </a:bodyPr>
            <a:lstStyle/>
            <a:p>
              <a:pPr algn="ctr"/>
              <a:r>
                <a:rPr kumimoji="1" lang="en-US" altLang="zh-CN" sz="1100" b="1" dirty="0">
                  <a:latin typeface="Times New Roman" panose="02020603050405020304" pitchFamily="18" charset="0"/>
                  <a:cs typeface="Times New Roman" panose="02020603050405020304" pitchFamily="18" charset="0"/>
                </a:rPr>
                <a:t>ChestX-Ray14</a:t>
              </a:r>
            </a:p>
            <a:p>
              <a:pPr algn="ctr"/>
              <a:endParaRPr kumimoji="1" lang="en-US" altLang="zh-CN" sz="1100" b="1" dirty="0">
                <a:latin typeface="Times New Roman" panose="02020603050405020304" pitchFamily="18" charset="0"/>
                <a:cs typeface="Times New Roman" panose="02020603050405020304" pitchFamily="18" charset="0"/>
              </a:endParaRPr>
            </a:p>
            <a:p>
              <a:pPr algn="ctr"/>
              <a:r>
                <a:rPr kumimoji="1" lang="en-US" altLang="zh-CN" sz="1100" dirty="0">
                  <a:latin typeface="Times New Roman" panose="02020603050405020304" pitchFamily="18" charset="0"/>
                  <a:cs typeface="Times New Roman" panose="02020603050405020304" pitchFamily="18" charset="0"/>
                </a:rPr>
                <a:t>112k images</a:t>
              </a:r>
            </a:p>
            <a:p>
              <a:pPr algn="ctr"/>
              <a:r>
                <a:rPr kumimoji="1" lang="en-US" altLang="zh-CN" sz="1100" dirty="0">
                  <a:latin typeface="Times New Roman" panose="02020603050405020304" pitchFamily="18" charset="0"/>
                  <a:cs typeface="Times New Roman" panose="02020603050405020304" pitchFamily="18" charset="0"/>
                </a:rPr>
                <a:t>14 labels</a:t>
              </a:r>
              <a:endParaRPr kumimoji="1" lang="zh-CN" altLang="en-US" sz="1100" dirty="0">
                <a:latin typeface="Times New Roman" panose="02020603050405020304" pitchFamily="18" charset="0"/>
                <a:cs typeface="Times New Roman" panose="02020603050405020304" pitchFamily="18" charset="0"/>
              </a:endParaRPr>
            </a:p>
          </p:txBody>
        </p:sp>
        <p:sp>
          <p:nvSpPr>
            <p:cNvPr id="62" name="圆角矩形 61">
              <a:extLst>
                <a:ext uri="{FF2B5EF4-FFF2-40B4-BE49-F238E27FC236}">
                  <a16:creationId xmlns:a16="http://schemas.microsoft.com/office/drawing/2014/main" id="{B25FAF8D-8C4C-2C71-F469-C67023D3BB8F}"/>
                </a:ext>
              </a:extLst>
            </p:cNvPr>
            <p:cNvSpPr/>
            <p:nvPr/>
          </p:nvSpPr>
          <p:spPr>
            <a:xfrm>
              <a:off x="6215922" y="9358882"/>
              <a:ext cx="1060099" cy="884255"/>
            </a:xfrm>
            <a:prstGeom prst="roundRect">
              <a:avLst/>
            </a:prstGeom>
            <a:solidFill>
              <a:schemeClr val="bg1"/>
            </a:solidFill>
            <a:ln w="285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文本框 62">
              <a:extLst>
                <a:ext uri="{FF2B5EF4-FFF2-40B4-BE49-F238E27FC236}">
                  <a16:creationId xmlns:a16="http://schemas.microsoft.com/office/drawing/2014/main" id="{CC95A65A-33E3-A5E3-0B3B-9B8B08EC3DFD}"/>
                </a:ext>
              </a:extLst>
            </p:cNvPr>
            <p:cNvSpPr txBox="1"/>
            <p:nvPr/>
          </p:nvSpPr>
          <p:spPr>
            <a:xfrm>
              <a:off x="6178479" y="9427285"/>
              <a:ext cx="1120391" cy="769441"/>
            </a:xfrm>
            <a:prstGeom prst="rect">
              <a:avLst/>
            </a:prstGeom>
            <a:noFill/>
          </p:spPr>
          <p:txBody>
            <a:bodyPr wrap="square" rtlCol="0">
              <a:spAutoFit/>
            </a:bodyPr>
            <a:lstStyle/>
            <a:p>
              <a:pPr algn="ctr"/>
              <a:r>
                <a:rPr kumimoji="1" lang="en-US" altLang="zh-CN" sz="1100" b="1" dirty="0">
                  <a:latin typeface="Times New Roman" panose="02020603050405020304" pitchFamily="18" charset="0"/>
                  <a:cs typeface="Times New Roman" panose="02020603050405020304" pitchFamily="18" charset="0"/>
                </a:rPr>
                <a:t>RSNA</a:t>
              </a:r>
            </a:p>
            <a:p>
              <a:pPr algn="ctr"/>
              <a:endParaRPr kumimoji="1" lang="en-US" altLang="zh-CN" sz="1100" b="1" dirty="0">
                <a:latin typeface="Times New Roman" panose="02020603050405020304" pitchFamily="18" charset="0"/>
                <a:cs typeface="Times New Roman" panose="02020603050405020304" pitchFamily="18" charset="0"/>
              </a:endParaRPr>
            </a:p>
            <a:p>
              <a:pPr algn="ctr"/>
              <a:r>
                <a:rPr kumimoji="1" lang="en-US" altLang="zh-CN" sz="1100" dirty="0">
                  <a:latin typeface="Times New Roman" panose="02020603050405020304" pitchFamily="18" charset="0"/>
                  <a:cs typeface="Times New Roman" panose="02020603050405020304" pitchFamily="18" charset="0"/>
                </a:rPr>
                <a:t>26.7k images</a:t>
              </a:r>
            </a:p>
            <a:p>
              <a:pPr algn="ctr"/>
              <a:r>
                <a:rPr kumimoji="1" lang="en-US" altLang="zh-CN" sz="1100" dirty="0">
                  <a:latin typeface="Times New Roman" panose="02020603050405020304" pitchFamily="18" charset="0"/>
                  <a:cs typeface="Times New Roman" panose="02020603050405020304" pitchFamily="18" charset="0"/>
                </a:rPr>
                <a:t>3 labels</a:t>
              </a:r>
              <a:endParaRPr kumimoji="1" lang="zh-CN" altLang="en-US" sz="1100" dirty="0">
                <a:latin typeface="Times New Roman" panose="02020603050405020304" pitchFamily="18" charset="0"/>
                <a:cs typeface="Times New Roman" panose="02020603050405020304" pitchFamily="18" charset="0"/>
              </a:endParaRPr>
            </a:p>
          </p:txBody>
        </p:sp>
      </p:grpSp>
      <p:sp>
        <p:nvSpPr>
          <p:cNvPr id="64" name="文本框 63">
            <a:extLst>
              <a:ext uri="{FF2B5EF4-FFF2-40B4-BE49-F238E27FC236}">
                <a16:creationId xmlns:a16="http://schemas.microsoft.com/office/drawing/2014/main" id="{5FC49A34-CB0B-A8B2-66A0-E77F3A1356B7}"/>
              </a:ext>
            </a:extLst>
          </p:cNvPr>
          <p:cNvSpPr txBox="1"/>
          <p:nvPr/>
        </p:nvSpPr>
        <p:spPr>
          <a:xfrm>
            <a:off x="1948173" y="1892264"/>
            <a:ext cx="4188759" cy="338554"/>
          </a:xfrm>
          <a:prstGeom prst="rect">
            <a:avLst/>
          </a:prstGeom>
          <a:noFill/>
        </p:spPr>
        <p:txBody>
          <a:bodyPr wrap="square" rtlCol="0">
            <a:spAutoFit/>
          </a:bodyPr>
          <a:lstStyle/>
          <a:p>
            <a:r>
              <a:rPr kumimoji="1" lang="en-US" altLang="zh-CN" sz="1600" dirty="0">
                <a:latin typeface="Times New Roman" panose="02020603050405020304" pitchFamily="18" charset="0"/>
                <a:cs typeface="Times New Roman" panose="02020603050405020304" pitchFamily="18" charset="0"/>
              </a:rPr>
              <a:t>Pretraining: 16 datasets   Total 1.04M images</a:t>
            </a:r>
            <a:endParaRPr kumimoji="1" lang="zh-CN" altLang="en-US" sz="1600" dirty="0">
              <a:latin typeface="Times New Roman" panose="02020603050405020304" pitchFamily="18" charset="0"/>
              <a:cs typeface="Times New Roman" panose="02020603050405020304" pitchFamily="18" charset="0"/>
            </a:endParaRPr>
          </a:p>
        </p:txBody>
      </p:sp>
      <p:pic>
        <p:nvPicPr>
          <p:cNvPr id="95" name="音频 94">
            <a:extLst>
              <a:ext uri="{FF2B5EF4-FFF2-40B4-BE49-F238E27FC236}">
                <a16:creationId xmlns:a16="http://schemas.microsoft.com/office/drawing/2014/main" id="{FA91E589-AAC5-3063-AF86-040CBA2FDD89}"/>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27602444"/>
      </p:ext>
    </p:extLst>
  </p:cSld>
  <p:clrMapOvr>
    <a:masterClrMapping/>
  </p:clrMapOvr>
  <mc:AlternateContent xmlns:mc="http://schemas.openxmlformats.org/markup-compatibility/2006">
    <mc:Choice xmlns:p14="http://schemas.microsoft.com/office/powerpoint/2010/main" Requires="p14">
      <p:transition spd="slow" p14:dur="2000" advTm="30720"/>
    </mc:Choice>
    <mc:Fallback>
      <p:transition spd="slow" advTm="30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60F5AB7-ACA5-1AC3-4AA9-139E926FF7D7}"/>
              </a:ext>
            </a:extLst>
          </p:cNvPr>
          <p:cNvSpPr txBox="1"/>
          <p:nvPr/>
        </p:nvSpPr>
        <p:spPr>
          <a:xfrm>
            <a:off x="443902" y="145198"/>
            <a:ext cx="7393812" cy="523220"/>
          </a:xfrm>
          <a:prstGeom prst="rect">
            <a:avLst/>
          </a:prstGeom>
          <a:noFill/>
        </p:spPr>
        <p:txBody>
          <a:bodyPr wrap="square" rtlCol="0">
            <a:spAutoFit/>
          </a:bodyPr>
          <a:lstStyle/>
          <a:p>
            <a:r>
              <a:rPr lang="en-US" altLang="zh-CN" sz="2800" b="1" dirty="0"/>
              <a:t>Evaluations——Emergent Properties</a:t>
            </a:r>
            <a:endParaRPr lang="zh-CN" altLang="en-US" sz="2800" b="1" dirty="0"/>
          </a:p>
        </p:txBody>
      </p:sp>
      <p:cxnSp>
        <p:nvCxnSpPr>
          <p:cNvPr id="3" name="Straight Connector 2">
            <a:extLst>
              <a:ext uri="{FF2B5EF4-FFF2-40B4-BE49-F238E27FC236}">
                <a16:creationId xmlns:a16="http://schemas.microsoft.com/office/drawing/2014/main" id="{10BA2D6F-4700-4DB1-6AF6-E67C96C3FFB7}"/>
              </a:ext>
            </a:extLst>
          </p:cNvPr>
          <p:cNvCxnSpPr/>
          <p:nvPr/>
        </p:nvCxnSpPr>
        <p:spPr>
          <a:xfrm flipH="1">
            <a:off x="0" y="679667"/>
            <a:ext cx="121920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EBF177E1-A772-EA51-7995-5D9BC69C5623}"/>
              </a:ext>
            </a:extLst>
          </p:cNvPr>
          <p:cNvSpPr txBox="1"/>
          <p:nvPr/>
        </p:nvSpPr>
        <p:spPr>
          <a:xfrm>
            <a:off x="347326" y="1068874"/>
            <a:ext cx="8889980" cy="369332"/>
          </a:xfrm>
          <a:prstGeom prst="rect">
            <a:avLst/>
          </a:prstGeom>
          <a:noFill/>
        </p:spPr>
        <p:txBody>
          <a:bodyPr wrap="square">
            <a:spAutoFit/>
          </a:bodyPr>
          <a:lstStyle/>
          <a:p>
            <a:r>
              <a:rPr lang="en-US" altLang="zh-CN" dirty="0">
                <a:solidFill>
                  <a:srgbClr val="FF0000"/>
                </a:solidFill>
              </a:rPr>
              <a:t>Emergent property 1</a:t>
            </a:r>
            <a:r>
              <a:rPr lang="en-US" altLang="zh-CN" dirty="0"/>
              <a:t>: Lamps</a:t>
            </a:r>
            <a:r>
              <a:rPr lang="zh-CN" altLang="en-US" dirty="0"/>
              <a:t> provides distinctive anatomical embeddings</a:t>
            </a:r>
          </a:p>
        </p:txBody>
      </p:sp>
      <p:grpSp>
        <p:nvGrpSpPr>
          <p:cNvPr id="8" name="组合 7">
            <a:extLst>
              <a:ext uri="{FF2B5EF4-FFF2-40B4-BE49-F238E27FC236}">
                <a16:creationId xmlns:a16="http://schemas.microsoft.com/office/drawing/2014/main" id="{5BD6EF2F-F541-B208-7860-6D5CCE5FC7F1}"/>
              </a:ext>
            </a:extLst>
          </p:cNvPr>
          <p:cNvGrpSpPr/>
          <p:nvPr/>
        </p:nvGrpSpPr>
        <p:grpSpPr>
          <a:xfrm>
            <a:off x="765725" y="1678504"/>
            <a:ext cx="10834544" cy="1925222"/>
            <a:chOff x="159241" y="12126307"/>
            <a:chExt cx="10834544" cy="1925222"/>
          </a:xfrm>
        </p:grpSpPr>
        <p:sp>
          <p:nvSpPr>
            <p:cNvPr id="9" name="文本框 8">
              <a:extLst>
                <a:ext uri="{FF2B5EF4-FFF2-40B4-BE49-F238E27FC236}">
                  <a16:creationId xmlns:a16="http://schemas.microsoft.com/office/drawing/2014/main" id="{439F7868-54C0-5E5D-9C5A-9AB7034F8C82}"/>
                </a:ext>
              </a:extLst>
            </p:cNvPr>
            <p:cNvSpPr txBox="1"/>
            <p:nvPr/>
          </p:nvSpPr>
          <p:spPr>
            <a:xfrm>
              <a:off x="2589165" y="13750185"/>
              <a:ext cx="1415398" cy="276999"/>
            </a:xfrm>
            <a:prstGeom prst="rect">
              <a:avLst/>
            </a:prstGeom>
            <a:noFill/>
          </p:spPr>
          <p:txBody>
            <a:bodyPr wrap="square" rtlCol="0">
              <a:spAutoFit/>
            </a:bodyPr>
            <a:lstStyle/>
            <a:p>
              <a:r>
                <a:rPr kumimoji="1" lang="en-US" altLang="zh-CN" sz="1200" b="1" dirty="0">
                  <a:latin typeface="Times New Roman" panose="02020603050405020304" pitchFamily="18" charset="0"/>
                  <a:cs typeface="Times New Roman" panose="02020603050405020304" pitchFamily="18" charset="0"/>
                </a:rPr>
                <a:t>Lamps (</a:t>
              </a:r>
              <a:r>
                <a:rPr kumimoji="1" lang="en-US" altLang="zh-CN" sz="1200" b="1" i="1" dirty="0">
                  <a:latin typeface="Times New Roman" panose="02020603050405020304" pitchFamily="18" charset="0"/>
                  <a:cs typeface="Times New Roman" panose="02020603050405020304" pitchFamily="18" charset="0"/>
                </a:rPr>
                <a:t>ours</a:t>
              </a:r>
              <a:r>
                <a:rPr kumimoji="1" lang="en-US" altLang="zh-CN" sz="1200" b="1" dirty="0">
                  <a:latin typeface="Times New Roman" panose="02020603050405020304" pitchFamily="18" charset="0"/>
                  <a:cs typeface="Times New Roman" panose="02020603050405020304" pitchFamily="18" charset="0"/>
                </a:rPr>
                <a:t>)</a:t>
              </a:r>
              <a:endParaRPr kumimoji="1" lang="zh-CN" altLang="en-US" sz="1200"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5CAB5F99-2C1C-04F5-94E7-78648B959C3C}"/>
                </a:ext>
              </a:extLst>
            </p:cNvPr>
            <p:cNvSpPr txBox="1"/>
            <p:nvPr/>
          </p:nvSpPr>
          <p:spPr>
            <a:xfrm>
              <a:off x="7345179" y="13768811"/>
              <a:ext cx="942887" cy="276999"/>
            </a:xfrm>
            <a:prstGeom prst="rect">
              <a:avLst/>
            </a:prstGeom>
            <a:noFill/>
          </p:spPr>
          <p:txBody>
            <a:bodyPr wrap="none" rtlCol="0">
              <a:spAutoFit/>
            </a:bodyPr>
            <a:lstStyle/>
            <a:p>
              <a:r>
                <a:rPr kumimoji="1" lang="en-US" altLang="zh-CN" sz="1200" dirty="0">
                  <a:latin typeface="Times New Roman" panose="02020603050405020304" pitchFamily="18" charset="0"/>
                  <a:cs typeface="Times New Roman" panose="02020603050405020304" pitchFamily="18" charset="0"/>
                </a:rPr>
                <a:t>RAD-DINO</a:t>
              </a:r>
              <a:endParaRPr kumimoji="1" lang="zh-CN" altLang="en-US" sz="1200" dirty="0">
                <a:latin typeface="Times New Roman" panose="02020603050405020304" pitchFamily="18" charset="0"/>
                <a:cs typeface="Times New Roman" panose="02020603050405020304" pitchFamily="18" charset="0"/>
              </a:endParaRPr>
            </a:p>
          </p:txBody>
        </p:sp>
        <p:pic>
          <p:nvPicPr>
            <p:cNvPr id="11" name="图片 10">
              <a:extLst>
                <a:ext uri="{FF2B5EF4-FFF2-40B4-BE49-F238E27FC236}">
                  <a16:creationId xmlns:a16="http://schemas.microsoft.com/office/drawing/2014/main" id="{29D0FBA5-C384-E955-6879-0CAB07B8ED13}"/>
                </a:ext>
              </a:extLst>
            </p:cNvPr>
            <p:cNvPicPr>
              <a:picLocks noChangeAspect="1"/>
            </p:cNvPicPr>
            <p:nvPr/>
          </p:nvPicPr>
          <p:blipFill rotWithShape="1">
            <a:blip r:embed="rId6"/>
            <a:srcRect l="7372" t="2925" r="788" b="5832"/>
            <a:stretch/>
          </p:blipFill>
          <p:spPr>
            <a:xfrm>
              <a:off x="6596718" y="12135509"/>
              <a:ext cx="2147230" cy="1623079"/>
            </a:xfrm>
            <a:prstGeom prst="rect">
              <a:avLst/>
            </a:prstGeom>
          </p:spPr>
        </p:pic>
        <p:pic>
          <p:nvPicPr>
            <p:cNvPr id="12" name="图片 11">
              <a:extLst>
                <a:ext uri="{FF2B5EF4-FFF2-40B4-BE49-F238E27FC236}">
                  <a16:creationId xmlns:a16="http://schemas.microsoft.com/office/drawing/2014/main" id="{3C7219CD-7AE1-DA1A-2741-D01E6B40F9E5}"/>
                </a:ext>
              </a:extLst>
            </p:cNvPr>
            <p:cNvPicPr>
              <a:picLocks noChangeAspect="1"/>
            </p:cNvPicPr>
            <p:nvPr/>
          </p:nvPicPr>
          <p:blipFill>
            <a:blip r:embed="rId7"/>
            <a:stretch>
              <a:fillRect/>
            </a:stretch>
          </p:blipFill>
          <p:spPr>
            <a:xfrm>
              <a:off x="2079592" y="12136282"/>
              <a:ext cx="2140396" cy="1623079"/>
            </a:xfrm>
            <a:prstGeom prst="rect">
              <a:avLst/>
            </a:prstGeom>
          </p:spPr>
        </p:pic>
        <p:pic>
          <p:nvPicPr>
            <p:cNvPr id="13" name="图片 12">
              <a:extLst>
                <a:ext uri="{FF2B5EF4-FFF2-40B4-BE49-F238E27FC236}">
                  <a16:creationId xmlns:a16="http://schemas.microsoft.com/office/drawing/2014/main" id="{64D82E56-456A-AB23-757A-679279042EA7}"/>
                </a:ext>
              </a:extLst>
            </p:cNvPr>
            <p:cNvPicPr>
              <a:picLocks noChangeAspect="1"/>
            </p:cNvPicPr>
            <p:nvPr/>
          </p:nvPicPr>
          <p:blipFill>
            <a:blip r:embed="rId8"/>
            <a:stretch>
              <a:fillRect/>
            </a:stretch>
          </p:blipFill>
          <p:spPr>
            <a:xfrm>
              <a:off x="4338155" y="12144809"/>
              <a:ext cx="2140396" cy="1623079"/>
            </a:xfrm>
            <a:prstGeom prst="rect">
              <a:avLst/>
            </a:prstGeom>
          </p:spPr>
        </p:pic>
        <p:sp>
          <p:nvSpPr>
            <p:cNvPr id="15" name="文本框 14">
              <a:extLst>
                <a:ext uri="{FF2B5EF4-FFF2-40B4-BE49-F238E27FC236}">
                  <a16:creationId xmlns:a16="http://schemas.microsoft.com/office/drawing/2014/main" id="{0E324137-D0B8-477A-09F5-B7F03BE4F612}"/>
                </a:ext>
              </a:extLst>
            </p:cNvPr>
            <p:cNvSpPr txBox="1"/>
            <p:nvPr/>
          </p:nvSpPr>
          <p:spPr>
            <a:xfrm>
              <a:off x="9535618" y="13774530"/>
              <a:ext cx="766557" cy="276999"/>
            </a:xfrm>
            <a:prstGeom prst="rect">
              <a:avLst/>
            </a:prstGeom>
            <a:noFill/>
          </p:spPr>
          <p:txBody>
            <a:bodyPr wrap="none" rtlCol="0">
              <a:spAutoFit/>
            </a:bodyPr>
            <a:lstStyle/>
            <a:p>
              <a:r>
                <a:rPr kumimoji="1" lang="en-US" altLang="zh-CN" sz="1200" dirty="0">
                  <a:latin typeface="Times New Roman" panose="02020603050405020304" pitchFamily="18" charset="0"/>
                  <a:cs typeface="Times New Roman" panose="02020603050405020304" pitchFamily="18" charset="0"/>
                </a:rPr>
                <a:t>Adam-v2</a:t>
              </a:r>
              <a:endParaRPr kumimoji="1" lang="zh-CN" altLang="en-US" sz="120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F7DFFBBA-B051-C047-7B90-B50F3E8C9364}"/>
                </a:ext>
              </a:extLst>
            </p:cNvPr>
            <p:cNvSpPr txBox="1"/>
            <p:nvPr/>
          </p:nvSpPr>
          <p:spPr>
            <a:xfrm>
              <a:off x="5290834" y="13768810"/>
              <a:ext cx="423514" cy="276999"/>
            </a:xfrm>
            <a:prstGeom prst="rect">
              <a:avLst/>
            </a:prstGeom>
            <a:noFill/>
          </p:spPr>
          <p:txBody>
            <a:bodyPr wrap="none" rtlCol="0">
              <a:spAutoFit/>
            </a:bodyPr>
            <a:lstStyle/>
            <a:p>
              <a:r>
                <a:rPr kumimoji="1" lang="en-US" altLang="zh-CN" sz="1200" dirty="0">
                  <a:latin typeface="Times New Roman" panose="02020603050405020304" pitchFamily="18" charset="0"/>
                  <a:cs typeface="Times New Roman" panose="02020603050405020304" pitchFamily="18" charset="0"/>
                </a:rPr>
                <a:t>Ark</a:t>
              </a:r>
              <a:endParaRPr kumimoji="1" lang="zh-CN" altLang="en-US" sz="1200" dirty="0">
                <a:latin typeface="Times New Roman" panose="02020603050405020304" pitchFamily="18" charset="0"/>
                <a:cs typeface="Times New Roman" panose="02020603050405020304" pitchFamily="18" charset="0"/>
              </a:endParaRPr>
            </a:p>
          </p:txBody>
        </p:sp>
        <p:pic>
          <p:nvPicPr>
            <p:cNvPr id="17" name="图片 16">
              <a:extLst>
                <a:ext uri="{FF2B5EF4-FFF2-40B4-BE49-F238E27FC236}">
                  <a16:creationId xmlns:a16="http://schemas.microsoft.com/office/drawing/2014/main" id="{AF72BA02-9124-1D98-91BC-6BBB40AF0DD0}"/>
                </a:ext>
              </a:extLst>
            </p:cNvPr>
            <p:cNvPicPr>
              <a:picLocks noChangeAspect="1"/>
            </p:cNvPicPr>
            <p:nvPr/>
          </p:nvPicPr>
          <p:blipFill>
            <a:blip r:embed="rId9"/>
            <a:stretch>
              <a:fillRect/>
            </a:stretch>
          </p:blipFill>
          <p:spPr>
            <a:xfrm>
              <a:off x="159241" y="12132246"/>
              <a:ext cx="1769422" cy="1743226"/>
            </a:xfrm>
            <a:prstGeom prst="rect">
              <a:avLst/>
            </a:prstGeom>
          </p:spPr>
        </p:pic>
        <p:pic>
          <p:nvPicPr>
            <p:cNvPr id="18" name="图片 17">
              <a:extLst>
                <a:ext uri="{FF2B5EF4-FFF2-40B4-BE49-F238E27FC236}">
                  <a16:creationId xmlns:a16="http://schemas.microsoft.com/office/drawing/2014/main" id="{F4084F04-3124-7C66-CAF6-4023BE2CFDB5}"/>
                </a:ext>
              </a:extLst>
            </p:cNvPr>
            <p:cNvPicPr>
              <a:picLocks noChangeAspect="1"/>
            </p:cNvPicPr>
            <p:nvPr/>
          </p:nvPicPr>
          <p:blipFill>
            <a:blip r:embed="rId10"/>
            <a:stretch>
              <a:fillRect/>
            </a:stretch>
          </p:blipFill>
          <p:spPr>
            <a:xfrm>
              <a:off x="8855281" y="12126307"/>
              <a:ext cx="2138504" cy="1613780"/>
            </a:xfrm>
            <a:prstGeom prst="rect">
              <a:avLst/>
            </a:prstGeom>
          </p:spPr>
        </p:pic>
      </p:grpSp>
      <p:grpSp>
        <p:nvGrpSpPr>
          <p:cNvPr id="19" name="组合 18">
            <a:extLst>
              <a:ext uri="{FF2B5EF4-FFF2-40B4-BE49-F238E27FC236}">
                <a16:creationId xmlns:a16="http://schemas.microsoft.com/office/drawing/2014/main" id="{ED7CE2A0-F000-A53F-9547-E4279A6FA516}"/>
              </a:ext>
            </a:extLst>
          </p:cNvPr>
          <p:cNvGrpSpPr/>
          <p:nvPr/>
        </p:nvGrpSpPr>
        <p:grpSpPr>
          <a:xfrm>
            <a:off x="1952386" y="4247715"/>
            <a:ext cx="4115993" cy="2115762"/>
            <a:chOff x="8141714" y="12123113"/>
            <a:chExt cx="3572984" cy="1774326"/>
          </a:xfrm>
        </p:grpSpPr>
        <p:pic>
          <p:nvPicPr>
            <p:cNvPr id="20" name="图片 19">
              <a:extLst>
                <a:ext uri="{FF2B5EF4-FFF2-40B4-BE49-F238E27FC236}">
                  <a16:creationId xmlns:a16="http://schemas.microsoft.com/office/drawing/2014/main" id="{4A36B9E3-9D24-9DE6-9142-D5F0FEC0A7C4}"/>
                </a:ext>
              </a:extLst>
            </p:cNvPr>
            <p:cNvPicPr>
              <a:picLocks noChangeAspect="1"/>
            </p:cNvPicPr>
            <p:nvPr/>
          </p:nvPicPr>
          <p:blipFill>
            <a:blip r:embed="rId11"/>
            <a:stretch>
              <a:fillRect/>
            </a:stretch>
          </p:blipFill>
          <p:spPr>
            <a:xfrm>
              <a:off x="10013758" y="12177459"/>
              <a:ext cx="1700940" cy="1719980"/>
            </a:xfrm>
            <a:prstGeom prst="rect">
              <a:avLst/>
            </a:prstGeom>
          </p:spPr>
        </p:pic>
        <p:pic>
          <p:nvPicPr>
            <p:cNvPr id="21" name="图片 20">
              <a:extLst>
                <a:ext uri="{FF2B5EF4-FFF2-40B4-BE49-F238E27FC236}">
                  <a16:creationId xmlns:a16="http://schemas.microsoft.com/office/drawing/2014/main" id="{D4A5FB28-8ACF-F738-57CE-27E924AB5B03}"/>
                </a:ext>
              </a:extLst>
            </p:cNvPr>
            <p:cNvPicPr>
              <a:picLocks noChangeAspect="1"/>
            </p:cNvPicPr>
            <p:nvPr/>
          </p:nvPicPr>
          <p:blipFill>
            <a:blip r:embed="rId12"/>
            <a:stretch>
              <a:fillRect/>
            </a:stretch>
          </p:blipFill>
          <p:spPr>
            <a:xfrm>
              <a:off x="8159348" y="12172814"/>
              <a:ext cx="1760111" cy="1724625"/>
            </a:xfrm>
            <a:prstGeom prst="rect">
              <a:avLst/>
            </a:prstGeom>
          </p:spPr>
        </p:pic>
        <p:sp>
          <p:nvSpPr>
            <p:cNvPr id="22" name="文本框 21">
              <a:extLst>
                <a:ext uri="{FF2B5EF4-FFF2-40B4-BE49-F238E27FC236}">
                  <a16:creationId xmlns:a16="http://schemas.microsoft.com/office/drawing/2014/main" id="{11FC3AD7-5500-D9FA-7373-AFC288295CEA}"/>
                </a:ext>
              </a:extLst>
            </p:cNvPr>
            <p:cNvSpPr txBox="1"/>
            <p:nvPr/>
          </p:nvSpPr>
          <p:spPr>
            <a:xfrm>
              <a:off x="8141714" y="12123114"/>
              <a:ext cx="915635" cy="261610"/>
            </a:xfrm>
            <a:prstGeom prst="rect">
              <a:avLst/>
            </a:prstGeom>
            <a:noFill/>
          </p:spPr>
          <p:txBody>
            <a:bodyPr wrap="none" rtlCol="0">
              <a:spAutoFit/>
            </a:bodyPr>
            <a:lstStyle/>
            <a:p>
              <a:r>
                <a:rPr kumimoji="1" lang="en-US" altLang="zh-CN" sz="1100" dirty="0">
                  <a:solidFill>
                    <a:srgbClr val="FF0000"/>
                  </a:solidFill>
                  <a:latin typeface="Times New Roman" panose="02020603050405020304" pitchFamily="18" charset="0"/>
                  <a:cs typeface="Times New Roman" panose="02020603050405020304" pitchFamily="18" charset="0"/>
                </a:rPr>
                <a:t>Query image</a:t>
              </a:r>
              <a:endParaRPr kumimoji="1" lang="zh-CN" altLang="en-US" sz="1100" dirty="0">
                <a:solidFill>
                  <a:srgbClr val="FF0000"/>
                </a:solidFill>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FBECDD5F-FCBD-A8F1-3267-94B52940355E}"/>
                </a:ext>
              </a:extLst>
            </p:cNvPr>
            <p:cNvSpPr txBox="1"/>
            <p:nvPr/>
          </p:nvSpPr>
          <p:spPr>
            <a:xfrm>
              <a:off x="10013758" y="12123113"/>
              <a:ext cx="798617" cy="261610"/>
            </a:xfrm>
            <a:prstGeom prst="rect">
              <a:avLst/>
            </a:prstGeom>
            <a:noFill/>
          </p:spPr>
          <p:txBody>
            <a:bodyPr wrap="none" rtlCol="0">
              <a:spAutoFit/>
            </a:bodyPr>
            <a:lstStyle/>
            <a:p>
              <a:r>
                <a:rPr kumimoji="1" lang="en-US" altLang="zh-CN" sz="1100" dirty="0">
                  <a:solidFill>
                    <a:srgbClr val="FFFF00"/>
                  </a:solidFill>
                  <a:latin typeface="Times New Roman" panose="02020603050405020304" pitchFamily="18" charset="0"/>
                  <a:cs typeface="Times New Roman" panose="02020603050405020304" pitchFamily="18" charset="0"/>
                </a:rPr>
                <a:t>Key image</a:t>
              </a:r>
              <a:endParaRPr kumimoji="1" lang="zh-CN" altLang="en-US" sz="1100" dirty="0">
                <a:solidFill>
                  <a:srgbClr val="FFFF00"/>
                </a:solidFill>
                <a:latin typeface="Times New Roman" panose="02020603050405020304" pitchFamily="18" charset="0"/>
                <a:cs typeface="Times New Roman" panose="02020603050405020304" pitchFamily="18" charset="0"/>
              </a:endParaRPr>
            </a:p>
          </p:txBody>
        </p:sp>
      </p:grpSp>
      <mc:AlternateContent xmlns:mc="http://schemas.openxmlformats.org/markup-compatibility/2006">
        <mc:Choice xmlns:a14="http://schemas.microsoft.com/office/drawing/2010/main" Requires="a14">
          <p:graphicFrame>
            <p:nvGraphicFramePr>
              <p:cNvPr id="24" name="表格 23">
                <a:extLst>
                  <a:ext uri="{FF2B5EF4-FFF2-40B4-BE49-F238E27FC236}">
                    <a16:creationId xmlns:a16="http://schemas.microsoft.com/office/drawing/2014/main" id="{7F41953E-3358-2157-B7E6-F27B7B861E61}"/>
                  </a:ext>
                </a:extLst>
              </p:cNvPr>
              <p:cNvGraphicFramePr>
                <a:graphicFrameLocks noGrp="1"/>
              </p:cNvGraphicFramePr>
              <p:nvPr>
                <p:extLst>
                  <p:ext uri="{D42A27DB-BD31-4B8C-83A1-F6EECF244321}">
                    <p14:modId xmlns:p14="http://schemas.microsoft.com/office/powerpoint/2010/main" val="2998807460"/>
                  </p:ext>
                </p:extLst>
              </p:nvPr>
            </p:nvGraphicFramePr>
            <p:xfrm>
              <a:off x="7099709" y="4306980"/>
              <a:ext cx="2646794" cy="2194560"/>
            </p:xfrm>
            <a:graphic>
              <a:graphicData uri="http://schemas.openxmlformats.org/drawingml/2006/table">
                <a:tbl>
                  <a:tblPr firstRow="1" bandRow="1">
                    <a:tableStyleId>{5C22544A-7EE6-4342-B048-85BDC9FD1C3A}</a:tableStyleId>
                  </a:tblPr>
                  <a:tblGrid>
                    <a:gridCol w="1323397">
                      <a:extLst>
                        <a:ext uri="{9D8B030D-6E8A-4147-A177-3AD203B41FA5}">
                          <a16:colId xmlns:a16="http://schemas.microsoft.com/office/drawing/2014/main" val="2624955566"/>
                        </a:ext>
                      </a:extLst>
                    </a:gridCol>
                    <a:gridCol w="1323397">
                      <a:extLst>
                        <a:ext uri="{9D8B030D-6E8A-4147-A177-3AD203B41FA5}">
                          <a16:colId xmlns:a16="http://schemas.microsoft.com/office/drawing/2014/main" val="2033652117"/>
                        </a:ext>
                      </a:extLst>
                    </a:gridCol>
                  </a:tblGrid>
                  <a:tr h="144133">
                    <a:tc>
                      <a:txBody>
                        <a:bodyPr/>
                        <a:lstStyle/>
                        <a:p>
                          <a:r>
                            <a:rPr lang="en-US" altLang="zh-CN" sz="1200" dirty="0"/>
                            <a:t>Method</a:t>
                          </a:r>
                          <a:endParaRPr lang="zh-CN" altLang="en-US" sz="1200" dirty="0"/>
                        </a:p>
                      </a:txBody>
                      <a:tcPr/>
                    </a:tc>
                    <a:tc>
                      <a:txBody>
                        <a:bodyPr/>
                        <a:lstStyle/>
                        <a:p>
                          <a:r>
                            <a:rPr lang="en-US" altLang="zh-CN" sz="1200" dirty="0"/>
                            <a:t>Error</a:t>
                          </a:r>
                          <a:endParaRPr lang="zh-CN" altLang="en-US" sz="1200" dirty="0"/>
                        </a:p>
                      </a:txBody>
                      <a:tcPr/>
                    </a:tc>
                    <a:extLst>
                      <a:ext uri="{0D108BD9-81ED-4DB2-BD59-A6C34878D82A}">
                        <a16:rowId xmlns:a16="http://schemas.microsoft.com/office/drawing/2014/main" val="3546105528"/>
                      </a:ext>
                    </a:extLst>
                  </a:tr>
                  <a:tr h="258204">
                    <a:tc>
                      <a:txBody>
                        <a:bodyPr/>
                        <a:lstStyle/>
                        <a:p>
                          <a:r>
                            <a:rPr lang="en-US" altLang="zh-CN" sz="1200" dirty="0"/>
                            <a:t>Lamps</a:t>
                          </a:r>
                          <a:endParaRPr lang="zh-CN" altLang="en-US" sz="1200" dirty="0"/>
                        </a:p>
                      </a:txBody>
                      <a:tcPr/>
                    </a:tc>
                    <a:tc>
                      <a:txBody>
                        <a:bodyPr/>
                        <a:lstStyle/>
                        <a:p>
                          <a14:m>
                            <m:oMathPara xmlns:m="http://schemas.openxmlformats.org/officeDocument/2006/math">
                              <m:oMathParaPr>
                                <m:jc m:val="centerGroup"/>
                              </m:oMathParaPr>
                              <m:oMath xmlns:m="http://schemas.openxmlformats.org/officeDocument/2006/math">
                                <m:r>
                                  <a:rPr lang="en-US" altLang="zh-CN" sz="1200" b="1" i="1" smtClean="0">
                                    <a:latin typeface="Cambria Math" panose="02040503050406030204" pitchFamily="18" charset="0"/>
                                  </a:rPr>
                                  <m:t>𝟔𝟖</m:t>
                                </m:r>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𝟏𝟕</m:t>
                                </m:r>
                                <m:r>
                                  <a:rPr lang="en-US" altLang="zh-CN" sz="1200" b="1" i="1" smtClean="0">
                                    <a:latin typeface="Cambria Math" panose="02040503050406030204" pitchFamily="18" charset="0"/>
                                    <a:ea typeface="Cambria Math" panose="02040503050406030204" pitchFamily="18" charset="0"/>
                                  </a:rPr>
                                  <m:t>±</m:t>
                                </m:r>
                                <m:r>
                                  <a:rPr lang="en-US" altLang="zh-CN" sz="1200" b="1" i="1" smtClean="0">
                                    <a:latin typeface="Cambria Math" panose="02040503050406030204" pitchFamily="18" charset="0"/>
                                    <a:ea typeface="Cambria Math" panose="02040503050406030204" pitchFamily="18" charset="0"/>
                                  </a:rPr>
                                  <m:t>𝟒𝟒</m:t>
                                </m:r>
                                <m:r>
                                  <a:rPr lang="en-US" altLang="zh-CN" sz="1200" b="1" i="1" smtClean="0">
                                    <a:latin typeface="Cambria Math" panose="02040503050406030204" pitchFamily="18" charset="0"/>
                                    <a:ea typeface="Cambria Math" panose="02040503050406030204" pitchFamily="18" charset="0"/>
                                  </a:rPr>
                                  <m:t>.</m:t>
                                </m:r>
                                <m:r>
                                  <a:rPr lang="en-US" altLang="zh-CN" sz="1200" b="1" i="1" smtClean="0">
                                    <a:latin typeface="Cambria Math" panose="02040503050406030204" pitchFamily="18" charset="0"/>
                                    <a:ea typeface="Cambria Math" panose="02040503050406030204" pitchFamily="18" charset="0"/>
                                  </a:rPr>
                                  <m:t>𝟒𝟓</m:t>
                                </m:r>
                              </m:oMath>
                            </m:oMathPara>
                          </a14:m>
                          <a:endParaRPr lang="zh-CN" altLang="en-US" sz="1200" b="1" dirty="0"/>
                        </a:p>
                      </a:txBody>
                      <a:tcPr/>
                    </a:tc>
                    <a:extLst>
                      <a:ext uri="{0D108BD9-81ED-4DB2-BD59-A6C34878D82A}">
                        <a16:rowId xmlns:a16="http://schemas.microsoft.com/office/drawing/2014/main" val="2063833497"/>
                      </a:ext>
                    </a:extLst>
                  </a:tr>
                  <a:tr h="258204">
                    <a:tc>
                      <a:txBody>
                        <a:bodyPr/>
                        <a:lstStyle/>
                        <a:p>
                          <a:r>
                            <a:rPr lang="en-US" altLang="zh-CN" sz="1200" dirty="0"/>
                            <a:t>RAD-DINO</a:t>
                          </a:r>
                          <a:endParaRPr lang="zh-CN"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200" b="0" i="1" smtClean="0">
                                    <a:latin typeface="Cambria Math" panose="02040503050406030204" pitchFamily="18" charset="0"/>
                                    <a:ea typeface="+mn-ea"/>
                                  </a:rPr>
                                  <m:t>120.28</m:t>
                                </m:r>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150.31</m:t>
                                </m:r>
                              </m:oMath>
                            </m:oMathPara>
                          </a14:m>
                          <a:endParaRPr lang="zh-CN" altLang="en-US" sz="1200" dirty="0"/>
                        </a:p>
                      </a:txBody>
                      <a:tcPr/>
                    </a:tc>
                    <a:extLst>
                      <a:ext uri="{0D108BD9-81ED-4DB2-BD59-A6C34878D82A}">
                        <a16:rowId xmlns:a16="http://schemas.microsoft.com/office/drawing/2014/main" val="2428666504"/>
                      </a:ext>
                    </a:extLst>
                  </a:tr>
                  <a:tr h="258204">
                    <a:tc>
                      <a:txBody>
                        <a:bodyPr/>
                        <a:lstStyle/>
                        <a:p>
                          <a:r>
                            <a:rPr lang="en-US" altLang="zh-CN" sz="1200" dirty="0"/>
                            <a:t>Adam-v2</a:t>
                          </a:r>
                          <a:endParaRPr lang="zh-CN"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200" b="0" i="1" smtClean="0">
                                    <a:latin typeface="Cambria Math" panose="02040503050406030204" pitchFamily="18" charset="0"/>
                                    <a:ea typeface="+mn-ea"/>
                                  </a:rPr>
                                  <m:t>94.03</m:t>
                                </m:r>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131.18</m:t>
                                </m:r>
                              </m:oMath>
                            </m:oMathPara>
                          </a14:m>
                          <a:endParaRPr lang="zh-CN" altLang="en-US" sz="1200" dirty="0"/>
                        </a:p>
                      </a:txBody>
                      <a:tcPr/>
                    </a:tc>
                    <a:extLst>
                      <a:ext uri="{0D108BD9-81ED-4DB2-BD59-A6C34878D82A}">
                        <a16:rowId xmlns:a16="http://schemas.microsoft.com/office/drawing/2014/main" val="739174020"/>
                      </a:ext>
                    </a:extLst>
                  </a:tr>
                  <a:tr h="258204">
                    <a:tc>
                      <a:txBody>
                        <a:bodyPr/>
                        <a:lstStyle/>
                        <a:p>
                          <a:r>
                            <a:rPr lang="en-US" altLang="zh-CN" sz="1200" dirty="0"/>
                            <a:t>KAD</a:t>
                          </a:r>
                          <a:endParaRPr lang="zh-CN"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200" b="0" i="1" smtClean="0">
                                    <a:latin typeface="Cambria Math" panose="02040503050406030204" pitchFamily="18" charset="0"/>
                                  </a:rPr>
                                  <m:t>296.52</m:t>
                                </m:r>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263.65</m:t>
                                </m:r>
                              </m:oMath>
                            </m:oMathPara>
                          </a14:m>
                          <a:endParaRPr lang="zh-CN" altLang="en-US" sz="1200" dirty="0"/>
                        </a:p>
                      </a:txBody>
                      <a:tcPr/>
                    </a:tc>
                    <a:extLst>
                      <a:ext uri="{0D108BD9-81ED-4DB2-BD59-A6C34878D82A}">
                        <a16:rowId xmlns:a16="http://schemas.microsoft.com/office/drawing/2014/main" val="629541588"/>
                      </a:ext>
                    </a:extLst>
                  </a:tr>
                  <a:tr h="258204">
                    <a:tc>
                      <a:txBody>
                        <a:bodyPr/>
                        <a:lstStyle/>
                        <a:p>
                          <a:r>
                            <a:rPr lang="en-US" altLang="zh-CN" sz="1200" dirty="0" err="1"/>
                            <a:t>DeViDe</a:t>
                          </a:r>
                          <a:endParaRPr lang="zh-CN"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200" b="0" i="1" smtClean="0">
                                    <a:latin typeface="Cambria Math" panose="02040503050406030204" pitchFamily="18" charset="0"/>
                                    <a:ea typeface="+mn-ea"/>
                                  </a:rPr>
                                  <m:t>188.21</m:t>
                                </m:r>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226.31</m:t>
                                </m:r>
                              </m:oMath>
                            </m:oMathPara>
                          </a14:m>
                          <a:endParaRPr lang="zh-CN" altLang="en-US" sz="1200" dirty="0"/>
                        </a:p>
                      </a:txBody>
                      <a:tcPr/>
                    </a:tc>
                    <a:extLst>
                      <a:ext uri="{0D108BD9-81ED-4DB2-BD59-A6C34878D82A}">
                        <a16:rowId xmlns:a16="http://schemas.microsoft.com/office/drawing/2014/main" val="3405837625"/>
                      </a:ext>
                    </a:extLst>
                  </a:tr>
                  <a:tr h="258204">
                    <a:tc>
                      <a:txBody>
                        <a:bodyPr/>
                        <a:lstStyle/>
                        <a:p>
                          <a:r>
                            <a:rPr lang="en-US" altLang="zh-CN" sz="1200" dirty="0"/>
                            <a:t>POPAR</a:t>
                          </a:r>
                          <a:endParaRPr lang="zh-CN"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200" b="0" i="1" smtClean="0">
                                    <a:latin typeface="Cambria Math" panose="02040503050406030204" pitchFamily="18" charset="0"/>
                                    <a:ea typeface="+mn-ea"/>
                                  </a:rPr>
                                  <m:t>120.69</m:t>
                                </m:r>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134.32</m:t>
                                </m:r>
                              </m:oMath>
                            </m:oMathPara>
                          </a14:m>
                          <a:endParaRPr lang="zh-CN" altLang="en-US" sz="1200" dirty="0"/>
                        </a:p>
                      </a:txBody>
                      <a:tcPr/>
                    </a:tc>
                    <a:extLst>
                      <a:ext uri="{0D108BD9-81ED-4DB2-BD59-A6C34878D82A}">
                        <a16:rowId xmlns:a16="http://schemas.microsoft.com/office/drawing/2014/main" val="73030921"/>
                      </a:ext>
                    </a:extLst>
                  </a:tr>
                  <a:tr h="258204">
                    <a:tc>
                      <a:txBody>
                        <a:bodyPr/>
                        <a:lstStyle/>
                        <a:p>
                          <a:r>
                            <a:rPr lang="en-US" altLang="zh-CN" sz="1200" dirty="0"/>
                            <a:t>PEAC</a:t>
                          </a:r>
                          <a:endParaRPr lang="zh-CN"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1200" b="0" i="1" smtClean="0">
                                    <a:latin typeface="Cambria Math" panose="02040503050406030204" pitchFamily="18" charset="0"/>
                                    <a:ea typeface="+mn-ea"/>
                                  </a:rPr>
                                  <m:t>95.49</m:t>
                                </m:r>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114.22</m:t>
                                </m:r>
                              </m:oMath>
                            </m:oMathPara>
                          </a14:m>
                          <a:endParaRPr lang="zh-CN" altLang="en-US" sz="1200" dirty="0"/>
                        </a:p>
                      </a:txBody>
                      <a:tcPr/>
                    </a:tc>
                    <a:extLst>
                      <a:ext uri="{0D108BD9-81ED-4DB2-BD59-A6C34878D82A}">
                        <a16:rowId xmlns:a16="http://schemas.microsoft.com/office/drawing/2014/main" val="2549099907"/>
                      </a:ext>
                    </a:extLst>
                  </a:tr>
                </a:tbl>
              </a:graphicData>
            </a:graphic>
          </p:graphicFrame>
        </mc:Choice>
        <mc:Fallback>
          <p:graphicFrame>
            <p:nvGraphicFramePr>
              <p:cNvPr id="24" name="表格 23">
                <a:extLst>
                  <a:ext uri="{FF2B5EF4-FFF2-40B4-BE49-F238E27FC236}">
                    <a16:creationId xmlns:a16="http://schemas.microsoft.com/office/drawing/2014/main" id="{7F41953E-3358-2157-B7E6-F27B7B861E61}"/>
                  </a:ext>
                </a:extLst>
              </p:cNvPr>
              <p:cNvGraphicFramePr>
                <a:graphicFrameLocks noGrp="1"/>
              </p:cNvGraphicFramePr>
              <p:nvPr>
                <p:extLst>
                  <p:ext uri="{D42A27DB-BD31-4B8C-83A1-F6EECF244321}">
                    <p14:modId xmlns:p14="http://schemas.microsoft.com/office/powerpoint/2010/main" val="2998807460"/>
                  </p:ext>
                </p:extLst>
              </p:nvPr>
            </p:nvGraphicFramePr>
            <p:xfrm>
              <a:off x="7099709" y="4306980"/>
              <a:ext cx="2646794" cy="2194560"/>
            </p:xfrm>
            <a:graphic>
              <a:graphicData uri="http://schemas.openxmlformats.org/drawingml/2006/table">
                <a:tbl>
                  <a:tblPr firstRow="1" bandRow="1">
                    <a:tableStyleId>{5C22544A-7EE6-4342-B048-85BDC9FD1C3A}</a:tableStyleId>
                  </a:tblPr>
                  <a:tblGrid>
                    <a:gridCol w="1323397">
                      <a:extLst>
                        <a:ext uri="{9D8B030D-6E8A-4147-A177-3AD203B41FA5}">
                          <a16:colId xmlns:a16="http://schemas.microsoft.com/office/drawing/2014/main" val="2624955566"/>
                        </a:ext>
                      </a:extLst>
                    </a:gridCol>
                    <a:gridCol w="1323397">
                      <a:extLst>
                        <a:ext uri="{9D8B030D-6E8A-4147-A177-3AD203B41FA5}">
                          <a16:colId xmlns:a16="http://schemas.microsoft.com/office/drawing/2014/main" val="2033652117"/>
                        </a:ext>
                      </a:extLst>
                    </a:gridCol>
                  </a:tblGrid>
                  <a:tr h="274320">
                    <a:tc>
                      <a:txBody>
                        <a:bodyPr/>
                        <a:lstStyle/>
                        <a:p>
                          <a:r>
                            <a:rPr lang="en-US" altLang="zh-CN" sz="1200" dirty="0"/>
                            <a:t>Method</a:t>
                          </a:r>
                          <a:endParaRPr lang="zh-CN" altLang="en-US" sz="1200" dirty="0"/>
                        </a:p>
                      </a:txBody>
                      <a:tcPr/>
                    </a:tc>
                    <a:tc>
                      <a:txBody>
                        <a:bodyPr/>
                        <a:lstStyle/>
                        <a:p>
                          <a:r>
                            <a:rPr lang="en-US" altLang="zh-CN" sz="1200" dirty="0"/>
                            <a:t>Error</a:t>
                          </a:r>
                          <a:endParaRPr lang="zh-CN" altLang="en-US" sz="1200" dirty="0"/>
                        </a:p>
                      </a:txBody>
                      <a:tcPr/>
                    </a:tc>
                    <a:extLst>
                      <a:ext uri="{0D108BD9-81ED-4DB2-BD59-A6C34878D82A}">
                        <a16:rowId xmlns:a16="http://schemas.microsoft.com/office/drawing/2014/main" val="3546105528"/>
                      </a:ext>
                    </a:extLst>
                  </a:tr>
                  <a:tr h="274320">
                    <a:tc>
                      <a:txBody>
                        <a:bodyPr/>
                        <a:lstStyle/>
                        <a:p>
                          <a:r>
                            <a:rPr lang="en-US" altLang="zh-CN" sz="1200" dirty="0"/>
                            <a:t>Lamps</a:t>
                          </a:r>
                          <a:endParaRPr lang="zh-CN" altLang="en-US" sz="1200" dirty="0"/>
                        </a:p>
                      </a:txBody>
                      <a:tcPr/>
                    </a:tc>
                    <a:tc>
                      <a:txBody>
                        <a:bodyPr/>
                        <a:lstStyle/>
                        <a:p>
                          <a:endParaRPr lang="zh-CN"/>
                        </a:p>
                      </a:txBody>
                      <a:tcPr>
                        <a:blipFill>
                          <a:blip r:embed="rId13"/>
                          <a:stretch>
                            <a:fillRect l="-101923" t="-109524" r="-1923" b="-638095"/>
                          </a:stretch>
                        </a:blipFill>
                      </a:tcPr>
                    </a:tc>
                    <a:extLst>
                      <a:ext uri="{0D108BD9-81ED-4DB2-BD59-A6C34878D82A}">
                        <a16:rowId xmlns:a16="http://schemas.microsoft.com/office/drawing/2014/main" val="2063833497"/>
                      </a:ext>
                    </a:extLst>
                  </a:tr>
                  <a:tr h="274320">
                    <a:tc>
                      <a:txBody>
                        <a:bodyPr/>
                        <a:lstStyle/>
                        <a:p>
                          <a:r>
                            <a:rPr lang="en-US" altLang="zh-CN" sz="1200" dirty="0"/>
                            <a:t>RAD-DINO</a:t>
                          </a:r>
                          <a:endParaRPr lang="zh-CN" altLang="en-US" sz="1200" dirty="0"/>
                        </a:p>
                      </a:txBody>
                      <a:tcPr/>
                    </a:tc>
                    <a:tc>
                      <a:txBody>
                        <a:bodyPr/>
                        <a:lstStyle/>
                        <a:p>
                          <a:endParaRPr lang="zh-CN"/>
                        </a:p>
                      </a:txBody>
                      <a:tcPr>
                        <a:blipFill>
                          <a:blip r:embed="rId13"/>
                          <a:stretch>
                            <a:fillRect l="-101923" t="-200000" r="-1923" b="-509091"/>
                          </a:stretch>
                        </a:blipFill>
                      </a:tcPr>
                    </a:tc>
                    <a:extLst>
                      <a:ext uri="{0D108BD9-81ED-4DB2-BD59-A6C34878D82A}">
                        <a16:rowId xmlns:a16="http://schemas.microsoft.com/office/drawing/2014/main" val="2428666504"/>
                      </a:ext>
                    </a:extLst>
                  </a:tr>
                  <a:tr h="274320">
                    <a:tc>
                      <a:txBody>
                        <a:bodyPr/>
                        <a:lstStyle/>
                        <a:p>
                          <a:r>
                            <a:rPr lang="en-US" altLang="zh-CN" sz="1200" dirty="0"/>
                            <a:t>Adam-v2</a:t>
                          </a:r>
                          <a:endParaRPr lang="zh-CN" altLang="en-US" sz="1200" dirty="0"/>
                        </a:p>
                      </a:txBody>
                      <a:tcPr/>
                    </a:tc>
                    <a:tc>
                      <a:txBody>
                        <a:bodyPr/>
                        <a:lstStyle/>
                        <a:p>
                          <a:endParaRPr lang="zh-CN"/>
                        </a:p>
                      </a:txBody>
                      <a:tcPr>
                        <a:blipFill>
                          <a:blip r:embed="rId13"/>
                          <a:stretch>
                            <a:fillRect l="-101923" t="-300000" r="-1923" b="-409091"/>
                          </a:stretch>
                        </a:blipFill>
                      </a:tcPr>
                    </a:tc>
                    <a:extLst>
                      <a:ext uri="{0D108BD9-81ED-4DB2-BD59-A6C34878D82A}">
                        <a16:rowId xmlns:a16="http://schemas.microsoft.com/office/drawing/2014/main" val="739174020"/>
                      </a:ext>
                    </a:extLst>
                  </a:tr>
                  <a:tr h="274320">
                    <a:tc>
                      <a:txBody>
                        <a:bodyPr/>
                        <a:lstStyle/>
                        <a:p>
                          <a:r>
                            <a:rPr lang="en-US" altLang="zh-CN" sz="1200" dirty="0"/>
                            <a:t>KAD</a:t>
                          </a:r>
                          <a:endParaRPr lang="zh-CN" altLang="en-US" sz="1200" dirty="0"/>
                        </a:p>
                      </a:txBody>
                      <a:tcPr/>
                    </a:tc>
                    <a:tc>
                      <a:txBody>
                        <a:bodyPr/>
                        <a:lstStyle/>
                        <a:p>
                          <a:endParaRPr lang="zh-CN"/>
                        </a:p>
                      </a:txBody>
                      <a:tcPr>
                        <a:blipFill>
                          <a:blip r:embed="rId13"/>
                          <a:stretch>
                            <a:fillRect l="-101923" t="-419048" r="-1923" b="-328571"/>
                          </a:stretch>
                        </a:blipFill>
                      </a:tcPr>
                    </a:tc>
                    <a:extLst>
                      <a:ext uri="{0D108BD9-81ED-4DB2-BD59-A6C34878D82A}">
                        <a16:rowId xmlns:a16="http://schemas.microsoft.com/office/drawing/2014/main" val="629541588"/>
                      </a:ext>
                    </a:extLst>
                  </a:tr>
                  <a:tr h="274320">
                    <a:tc>
                      <a:txBody>
                        <a:bodyPr/>
                        <a:lstStyle/>
                        <a:p>
                          <a:r>
                            <a:rPr lang="en-US" altLang="zh-CN" sz="1200" dirty="0" err="1"/>
                            <a:t>DeViDe</a:t>
                          </a:r>
                          <a:endParaRPr lang="zh-CN" altLang="en-US" sz="1200" dirty="0"/>
                        </a:p>
                      </a:txBody>
                      <a:tcPr/>
                    </a:tc>
                    <a:tc>
                      <a:txBody>
                        <a:bodyPr/>
                        <a:lstStyle/>
                        <a:p>
                          <a:endParaRPr lang="zh-CN"/>
                        </a:p>
                      </a:txBody>
                      <a:tcPr>
                        <a:blipFill>
                          <a:blip r:embed="rId13"/>
                          <a:stretch>
                            <a:fillRect l="-101923" t="-495455" r="-1923" b="-213636"/>
                          </a:stretch>
                        </a:blipFill>
                      </a:tcPr>
                    </a:tc>
                    <a:extLst>
                      <a:ext uri="{0D108BD9-81ED-4DB2-BD59-A6C34878D82A}">
                        <a16:rowId xmlns:a16="http://schemas.microsoft.com/office/drawing/2014/main" val="3405837625"/>
                      </a:ext>
                    </a:extLst>
                  </a:tr>
                  <a:tr h="274320">
                    <a:tc>
                      <a:txBody>
                        <a:bodyPr/>
                        <a:lstStyle/>
                        <a:p>
                          <a:r>
                            <a:rPr lang="en-US" altLang="zh-CN" sz="1200" dirty="0"/>
                            <a:t>POPAR</a:t>
                          </a:r>
                          <a:endParaRPr lang="zh-CN" altLang="en-US" sz="1200" dirty="0"/>
                        </a:p>
                      </a:txBody>
                      <a:tcPr/>
                    </a:tc>
                    <a:tc>
                      <a:txBody>
                        <a:bodyPr/>
                        <a:lstStyle/>
                        <a:p>
                          <a:endParaRPr lang="zh-CN"/>
                        </a:p>
                      </a:txBody>
                      <a:tcPr>
                        <a:blipFill>
                          <a:blip r:embed="rId13"/>
                          <a:stretch>
                            <a:fillRect l="-101923" t="-623810" r="-1923" b="-123810"/>
                          </a:stretch>
                        </a:blipFill>
                      </a:tcPr>
                    </a:tc>
                    <a:extLst>
                      <a:ext uri="{0D108BD9-81ED-4DB2-BD59-A6C34878D82A}">
                        <a16:rowId xmlns:a16="http://schemas.microsoft.com/office/drawing/2014/main" val="73030921"/>
                      </a:ext>
                    </a:extLst>
                  </a:tr>
                  <a:tr h="274320">
                    <a:tc>
                      <a:txBody>
                        <a:bodyPr/>
                        <a:lstStyle/>
                        <a:p>
                          <a:r>
                            <a:rPr lang="en-US" altLang="zh-CN" sz="1200" dirty="0"/>
                            <a:t>PEAC</a:t>
                          </a:r>
                          <a:endParaRPr lang="zh-CN" altLang="en-US" sz="1200" dirty="0"/>
                        </a:p>
                      </a:txBody>
                      <a:tcPr/>
                    </a:tc>
                    <a:tc>
                      <a:txBody>
                        <a:bodyPr/>
                        <a:lstStyle/>
                        <a:p>
                          <a:endParaRPr lang="zh-CN"/>
                        </a:p>
                      </a:txBody>
                      <a:tcPr>
                        <a:blipFill>
                          <a:blip r:embed="rId13"/>
                          <a:stretch>
                            <a:fillRect l="-101923" t="-690909" r="-1923" b="-18182"/>
                          </a:stretch>
                        </a:blipFill>
                      </a:tcPr>
                    </a:tc>
                    <a:extLst>
                      <a:ext uri="{0D108BD9-81ED-4DB2-BD59-A6C34878D82A}">
                        <a16:rowId xmlns:a16="http://schemas.microsoft.com/office/drawing/2014/main" val="2549099907"/>
                      </a:ext>
                    </a:extLst>
                  </a:tr>
                </a:tbl>
              </a:graphicData>
            </a:graphic>
          </p:graphicFrame>
        </mc:Fallback>
      </mc:AlternateContent>
      <p:sp>
        <p:nvSpPr>
          <p:cNvPr id="25" name="文本框 24">
            <a:extLst>
              <a:ext uri="{FF2B5EF4-FFF2-40B4-BE49-F238E27FC236}">
                <a16:creationId xmlns:a16="http://schemas.microsoft.com/office/drawing/2014/main" id="{B1BAB842-0122-8E22-A1AA-68F61A358A77}"/>
              </a:ext>
            </a:extLst>
          </p:cNvPr>
          <p:cNvSpPr txBox="1"/>
          <p:nvPr/>
        </p:nvSpPr>
        <p:spPr>
          <a:xfrm>
            <a:off x="420894" y="3816591"/>
            <a:ext cx="9685733" cy="369332"/>
          </a:xfrm>
          <a:prstGeom prst="rect">
            <a:avLst/>
          </a:prstGeom>
          <a:noFill/>
        </p:spPr>
        <p:txBody>
          <a:bodyPr wrap="square">
            <a:spAutoFit/>
          </a:bodyPr>
          <a:lstStyle/>
          <a:p>
            <a:r>
              <a:rPr lang="en-US" altLang="zh-CN" dirty="0">
                <a:solidFill>
                  <a:srgbClr val="FF0000"/>
                </a:solidFill>
              </a:rPr>
              <a:t>Emergent property 2</a:t>
            </a:r>
            <a:r>
              <a:rPr lang="en-US" altLang="zh-CN" dirty="0"/>
              <a:t>: Lamps provides unsupervised cross-patient anatomy correspondence</a:t>
            </a:r>
            <a:endParaRPr lang="zh-CN" altLang="en-US" dirty="0"/>
          </a:p>
        </p:txBody>
      </p:sp>
      <p:pic>
        <p:nvPicPr>
          <p:cNvPr id="59" name="音频 58">
            <a:extLst>
              <a:ext uri="{FF2B5EF4-FFF2-40B4-BE49-F238E27FC236}">
                <a16:creationId xmlns:a16="http://schemas.microsoft.com/office/drawing/2014/main" id="{9246CD49-F80E-38CC-1424-6EEBF311E657}"/>
              </a:ext>
            </a:extLst>
          </p:cNvPr>
          <p:cNvPicPr>
            <a:picLocks noChangeAspect="1"/>
          </p:cNvPicPr>
          <p:nvPr>
            <a:audioFile r:link="rId3"/>
            <p:extLst>
              <p:ext uri="{DAA4B4D4-6D71-4841-9C94-3DE7FCFB9230}">
                <p14:media xmlns:p14="http://schemas.microsoft.com/office/powerpoint/2010/main" r:embed="rId2"/>
              </p:ext>
            </p:extLst>
          </p:nvPr>
        </p:nvPicPr>
        <p:blipFill>
          <a:blip r:embed="rId14"/>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4184060588"/>
      </p:ext>
    </p:extLst>
  </p:cSld>
  <p:clrMapOvr>
    <a:masterClrMapping/>
  </p:clrMapOvr>
  <mc:AlternateContent xmlns:mc="http://schemas.openxmlformats.org/markup-compatibility/2006">
    <mc:Choice xmlns:p14="http://schemas.microsoft.com/office/powerpoint/2010/main" Requires="p14">
      <p:transition spd="slow" p14:dur="2000" advTm="54775"/>
    </mc:Choice>
    <mc:Fallback>
      <p:transition spd="slow" advTm="547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9"/>
                                        </p:tgtEl>
                                      </p:cBhvr>
                                    </p:cmd>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blinds(horizontal)">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1" nodeType="clickEffect">
                                  <p:stCondLst>
                                    <p:cond delay="0"/>
                                  </p:stCondLst>
                                  <p:childTnLst>
                                    <p:set>
                                      <p:cBhvr>
                                        <p:cTn id="15" dur="1" fill="hold">
                                          <p:stCondLst>
                                            <p:cond delay="0"/>
                                          </p:stCondLst>
                                        </p:cTn>
                                        <p:tgtEl>
                                          <p:spTgt spid="25"/>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0" fill="hold" display="0">
                  <p:stCondLst>
                    <p:cond delay="indefinite"/>
                  </p:stCondLst>
                  <p:endCondLst>
                    <p:cond evt="onStopAudio" delay="0">
                      <p:tgtEl>
                        <p:sldTgt/>
                      </p:tgtEl>
                    </p:cond>
                  </p:endCondLst>
                </p:cTn>
                <p:tgtEl>
                  <p:spTgt spid="59"/>
                </p:tgtEl>
              </p:cMediaNode>
            </p:audio>
          </p:childTnLst>
        </p:cTn>
      </p:par>
    </p:tnLst>
    <p:bldLst>
      <p:bldP spid="25" grpId="0"/>
      <p:bldP spid="25"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2">
            <a:extLst>
              <a:ext uri="{FF2B5EF4-FFF2-40B4-BE49-F238E27FC236}">
                <a16:creationId xmlns:a16="http://schemas.microsoft.com/office/drawing/2014/main" id="{DB4FC2D4-A0D5-5A4A-5E06-BE6C3E2ED5F0}"/>
              </a:ext>
            </a:extLst>
          </p:cNvPr>
          <p:cNvCxnSpPr/>
          <p:nvPr/>
        </p:nvCxnSpPr>
        <p:spPr>
          <a:xfrm flipH="1">
            <a:off x="0" y="679667"/>
            <a:ext cx="121920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618076AD-686F-3441-B55D-39C1412FEE49}"/>
              </a:ext>
            </a:extLst>
          </p:cNvPr>
          <p:cNvGrpSpPr/>
          <p:nvPr/>
        </p:nvGrpSpPr>
        <p:grpSpPr>
          <a:xfrm>
            <a:off x="7556906" y="1472298"/>
            <a:ext cx="4635094" cy="3551959"/>
            <a:chOff x="1581448" y="396228"/>
            <a:chExt cx="7772400" cy="5819288"/>
          </a:xfrm>
        </p:grpSpPr>
        <p:pic>
          <p:nvPicPr>
            <p:cNvPr id="7" name="图片 6">
              <a:extLst>
                <a:ext uri="{FF2B5EF4-FFF2-40B4-BE49-F238E27FC236}">
                  <a16:creationId xmlns:a16="http://schemas.microsoft.com/office/drawing/2014/main" id="{97D7FF9A-FBDF-1705-9DF5-A6A698F1A02D}"/>
                </a:ext>
              </a:extLst>
            </p:cNvPr>
            <p:cNvPicPr>
              <a:picLocks noChangeAspect="1"/>
            </p:cNvPicPr>
            <p:nvPr/>
          </p:nvPicPr>
          <p:blipFill>
            <a:blip r:embed="rId5"/>
            <a:stretch>
              <a:fillRect/>
            </a:stretch>
          </p:blipFill>
          <p:spPr>
            <a:xfrm>
              <a:off x="1581448" y="396228"/>
              <a:ext cx="7772400" cy="5819288"/>
            </a:xfrm>
            <a:prstGeom prst="rect">
              <a:avLst/>
            </a:prstGeom>
          </p:spPr>
        </p:pic>
        <p:sp>
          <p:nvSpPr>
            <p:cNvPr id="8" name="文本框 7">
              <a:extLst>
                <a:ext uri="{FF2B5EF4-FFF2-40B4-BE49-F238E27FC236}">
                  <a16:creationId xmlns:a16="http://schemas.microsoft.com/office/drawing/2014/main" id="{049567AD-BF06-9B67-C1FD-866FA4B1BF04}"/>
                </a:ext>
              </a:extLst>
            </p:cNvPr>
            <p:cNvSpPr txBox="1"/>
            <p:nvPr/>
          </p:nvSpPr>
          <p:spPr>
            <a:xfrm>
              <a:off x="4787153" y="2911589"/>
              <a:ext cx="543739" cy="338554"/>
            </a:xfrm>
            <a:prstGeom prst="rect">
              <a:avLst/>
            </a:prstGeom>
            <a:noFill/>
          </p:spPr>
          <p:txBody>
            <a:bodyPr wrap="none" rtlCol="0">
              <a:spAutoFit/>
            </a:bodyPr>
            <a:lstStyle/>
            <a:p>
              <a:r>
                <a:rPr kumimoji="1" lang="en-US" altLang="zh-CN" sz="1600" dirty="0">
                  <a:solidFill>
                    <a:schemeClr val="tx1">
                      <a:lumMod val="50000"/>
                      <a:lumOff val="50000"/>
                    </a:schemeClr>
                  </a:solidFill>
                  <a:latin typeface="Times New Roman" panose="02020603050405020304" pitchFamily="18" charset="0"/>
                  <a:cs typeface="Times New Roman" panose="02020603050405020304" pitchFamily="18" charset="0"/>
                </a:rPr>
                <a:t>0.35</a:t>
              </a:r>
              <a:endParaRPr kumimoji="1" lang="zh-CN" alt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A5DD67C8-5F54-FEC7-67D9-14D88248DF1B}"/>
                </a:ext>
              </a:extLst>
            </p:cNvPr>
            <p:cNvSpPr txBox="1"/>
            <p:nvPr/>
          </p:nvSpPr>
          <p:spPr>
            <a:xfrm>
              <a:off x="4323274" y="2169460"/>
              <a:ext cx="543739" cy="338554"/>
            </a:xfrm>
            <a:prstGeom prst="rect">
              <a:avLst/>
            </a:prstGeom>
            <a:noFill/>
          </p:spPr>
          <p:txBody>
            <a:bodyPr wrap="none" rtlCol="0">
              <a:spAutoFit/>
            </a:bodyPr>
            <a:lstStyle/>
            <a:p>
              <a:r>
                <a:rPr kumimoji="1" lang="en-US" altLang="zh-CN" sz="1600" dirty="0">
                  <a:solidFill>
                    <a:schemeClr val="tx1">
                      <a:lumMod val="50000"/>
                      <a:lumOff val="50000"/>
                    </a:schemeClr>
                  </a:solidFill>
                  <a:latin typeface="Times New Roman" panose="02020603050405020304" pitchFamily="18" charset="0"/>
                  <a:cs typeface="Times New Roman" panose="02020603050405020304" pitchFamily="18" charset="0"/>
                </a:rPr>
                <a:t>0.40</a:t>
              </a:r>
              <a:endParaRPr kumimoji="1" lang="zh-CN" alt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A00B1130-CF5E-D636-D00C-245E8BF1654A}"/>
                </a:ext>
              </a:extLst>
            </p:cNvPr>
            <p:cNvSpPr txBox="1"/>
            <p:nvPr/>
          </p:nvSpPr>
          <p:spPr>
            <a:xfrm>
              <a:off x="4323274" y="1113567"/>
              <a:ext cx="543739" cy="338554"/>
            </a:xfrm>
            <a:prstGeom prst="rect">
              <a:avLst/>
            </a:prstGeom>
            <a:noFill/>
          </p:spPr>
          <p:txBody>
            <a:bodyPr wrap="none" rtlCol="0">
              <a:spAutoFit/>
            </a:bodyPr>
            <a:lstStyle/>
            <a:p>
              <a:r>
                <a:rPr kumimoji="1" lang="en-US" altLang="zh-CN" sz="1600" dirty="0">
                  <a:solidFill>
                    <a:schemeClr val="tx1">
                      <a:lumMod val="50000"/>
                      <a:lumOff val="50000"/>
                    </a:schemeClr>
                  </a:solidFill>
                  <a:latin typeface="Times New Roman" panose="02020603050405020304" pitchFamily="18" charset="0"/>
                  <a:cs typeface="Times New Roman" panose="02020603050405020304" pitchFamily="18" charset="0"/>
                </a:rPr>
                <a:t>0.45</a:t>
              </a:r>
              <a:endParaRPr kumimoji="1" lang="zh-CN" altLang="en-US" sz="16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pic>
        <p:nvPicPr>
          <p:cNvPr id="12" name="图片 11">
            <a:extLst>
              <a:ext uri="{FF2B5EF4-FFF2-40B4-BE49-F238E27FC236}">
                <a16:creationId xmlns:a16="http://schemas.microsoft.com/office/drawing/2014/main" id="{8CD73084-D587-96A5-C7EB-E4521E0FE7FE}"/>
              </a:ext>
            </a:extLst>
          </p:cNvPr>
          <p:cNvPicPr>
            <a:picLocks noChangeAspect="1"/>
          </p:cNvPicPr>
          <p:nvPr/>
        </p:nvPicPr>
        <p:blipFill>
          <a:blip r:embed="rId6"/>
          <a:stretch>
            <a:fillRect/>
          </a:stretch>
        </p:blipFill>
        <p:spPr>
          <a:xfrm>
            <a:off x="80437" y="1775876"/>
            <a:ext cx="6869930" cy="1965732"/>
          </a:xfrm>
          <a:prstGeom prst="rect">
            <a:avLst/>
          </a:prstGeom>
        </p:spPr>
      </p:pic>
      <p:sp>
        <p:nvSpPr>
          <p:cNvPr id="13" name="文本框 12">
            <a:extLst>
              <a:ext uri="{FF2B5EF4-FFF2-40B4-BE49-F238E27FC236}">
                <a16:creationId xmlns:a16="http://schemas.microsoft.com/office/drawing/2014/main" id="{997A3CAA-13DC-2BB9-8283-C2B7FB06E928}"/>
              </a:ext>
            </a:extLst>
          </p:cNvPr>
          <p:cNvSpPr txBox="1"/>
          <p:nvPr/>
        </p:nvSpPr>
        <p:spPr>
          <a:xfrm>
            <a:off x="187629" y="1287632"/>
            <a:ext cx="3796543" cy="369332"/>
          </a:xfrm>
          <a:prstGeom prst="rect">
            <a:avLst/>
          </a:prstGeom>
          <a:noFill/>
        </p:spPr>
        <p:txBody>
          <a:bodyPr wrap="square">
            <a:spAutoFit/>
          </a:bodyPr>
          <a:lstStyle/>
          <a:p>
            <a:r>
              <a:rPr lang="en-US" altLang="zh-CN" dirty="0">
                <a:solidFill>
                  <a:srgbClr val="FF0000"/>
                </a:solidFill>
              </a:rPr>
              <a:t>Emergent property 3</a:t>
            </a:r>
            <a:r>
              <a:rPr lang="en-US" altLang="zh-CN" dirty="0"/>
              <a:t>: DNA-test</a:t>
            </a:r>
            <a:endParaRPr lang="zh-CN" altLang="en-US" dirty="0"/>
          </a:p>
        </p:txBody>
      </p:sp>
      <p:sp>
        <p:nvSpPr>
          <p:cNvPr id="14" name="文本框 13">
            <a:extLst>
              <a:ext uri="{FF2B5EF4-FFF2-40B4-BE49-F238E27FC236}">
                <a16:creationId xmlns:a16="http://schemas.microsoft.com/office/drawing/2014/main" id="{2F5F6A03-F8D3-8E74-4507-419FEB6446BC}"/>
              </a:ext>
            </a:extLst>
          </p:cNvPr>
          <p:cNvSpPr txBox="1"/>
          <p:nvPr/>
        </p:nvSpPr>
        <p:spPr>
          <a:xfrm>
            <a:off x="443902" y="145198"/>
            <a:ext cx="7393812" cy="523220"/>
          </a:xfrm>
          <a:prstGeom prst="rect">
            <a:avLst/>
          </a:prstGeom>
          <a:noFill/>
        </p:spPr>
        <p:txBody>
          <a:bodyPr wrap="square" rtlCol="0">
            <a:spAutoFit/>
          </a:bodyPr>
          <a:lstStyle/>
          <a:p>
            <a:r>
              <a:rPr lang="en-US" altLang="zh-CN" sz="2800" b="1" dirty="0"/>
              <a:t>Evaluations</a:t>
            </a:r>
            <a:endParaRPr lang="zh-CN" altLang="en-US" sz="2800" b="1" dirty="0"/>
          </a:p>
        </p:txBody>
      </p:sp>
      <p:sp>
        <p:nvSpPr>
          <p:cNvPr id="15" name="文本框 14">
            <a:extLst>
              <a:ext uri="{FF2B5EF4-FFF2-40B4-BE49-F238E27FC236}">
                <a16:creationId xmlns:a16="http://schemas.microsoft.com/office/drawing/2014/main" id="{E471050D-193F-04E3-477C-F70B70ED929B}"/>
              </a:ext>
            </a:extLst>
          </p:cNvPr>
          <p:cNvSpPr txBox="1"/>
          <p:nvPr/>
        </p:nvSpPr>
        <p:spPr>
          <a:xfrm>
            <a:off x="7076731" y="1287632"/>
            <a:ext cx="3796543" cy="369332"/>
          </a:xfrm>
          <a:prstGeom prst="rect">
            <a:avLst/>
          </a:prstGeom>
          <a:noFill/>
        </p:spPr>
        <p:txBody>
          <a:bodyPr wrap="square">
            <a:spAutoFit/>
          </a:bodyPr>
          <a:lstStyle/>
          <a:p>
            <a:r>
              <a:rPr lang="en-US" altLang="zh-CN" dirty="0">
                <a:solidFill>
                  <a:srgbClr val="FF0000"/>
                </a:solidFill>
              </a:rPr>
              <a:t>Transferability</a:t>
            </a:r>
            <a:r>
              <a:rPr lang="en-US" altLang="zh-CN" dirty="0"/>
              <a:t>: report generation</a:t>
            </a:r>
            <a:endParaRPr lang="zh-CN" altLang="en-US" dirty="0"/>
          </a:p>
        </p:txBody>
      </p:sp>
      <p:pic>
        <p:nvPicPr>
          <p:cNvPr id="42" name="音频 41">
            <a:extLst>
              <a:ext uri="{FF2B5EF4-FFF2-40B4-BE49-F238E27FC236}">
                <a16:creationId xmlns:a16="http://schemas.microsoft.com/office/drawing/2014/main" id="{58DC1C0D-CD49-B4DB-8EF2-931D0E8EA2E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249107008"/>
      </p:ext>
    </p:extLst>
  </p:cSld>
  <p:clrMapOvr>
    <a:masterClrMapping/>
  </p:clrMapOvr>
  <mc:AlternateContent xmlns:mc="http://schemas.openxmlformats.org/markup-compatibility/2006">
    <mc:Choice xmlns:p14="http://schemas.microsoft.com/office/powerpoint/2010/main" Requires="p14">
      <p:transition spd="slow" p14:dur="2000" advTm="57353"/>
    </mc:Choice>
    <mc:Fallback>
      <p:transition spd="slow" advTm="573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2"/>
                                        </p:tgtEl>
                                      </p:cBhvr>
                                    </p:cmd>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linds(horizontal)">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blinds(horizontal)">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42"/>
                </p:tgtEl>
              </p:cMediaNode>
            </p:audio>
          </p:childTnLst>
        </p:cTn>
      </p:par>
    </p:tnLst>
    <p:bldLst>
      <p:bldP spid="13"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B2EF345-FAA4-089A-E1EE-2FF80DDA7C69}"/>
              </a:ext>
            </a:extLst>
          </p:cNvPr>
          <p:cNvSpPr txBox="1"/>
          <p:nvPr/>
        </p:nvSpPr>
        <p:spPr>
          <a:xfrm>
            <a:off x="443902" y="145198"/>
            <a:ext cx="7487118" cy="523220"/>
          </a:xfrm>
          <a:prstGeom prst="rect">
            <a:avLst/>
          </a:prstGeom>
          <a:noFill/>
        </p:spPr>
        <p:txBody>
          <a:bodyPr wrap="square" rtlCol="0">
            <a:spAutoFit/>
          </a:bodyPr>
          <a:lstStyle/>
          <a:p>
            <a:r>
              <a:rPr lang="en-US" altLang="zh-CN" sz="2800" b="1" dirty="0"/>
              <a:t>Evaluations—— Downstream Transferability</a:t>
            </a:r>
            <a:endParaRPr lang="zh-CN" altLang="en-US" sz="2800" b="1" dirty="0"/>
          </a:p>
        </p:txBody>
      </p:sp>
      <p:cxnSp>
        <p:nvCxnSpPr>
          <p:cNvPr id="3" name="Straight Connector 2">
            <a:extLst>
              <a:ext uri="{FF2B5EF4-FFF2-40B4-BE49-F238E27FC236}">
                <a16:creationId xmlns:a16="http://schemas.microsoft.com/office/drawing/2014/main" id="{88A78A14-ECA0-563F-6A94-0A769B16E031}"/>
              </a:ext>
            </a:extLst>
          </p:cNvPr>
          <p:cNvCxnSpPr/>
          <p:nvPr/>
        </p:nvCxnSpPr>
        <p:spPr>
          <a:xfrm flipH="1">
            <a:off x="0" y="679667"/>
            <a:ext cx="121920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4" name="组合 73">
            <a:extLst>
              <a:ext uri="{FF2B5EF4-FFF2-40B4-BE49-F238E27FC236}">
                <a16:creationId xmlns:a16="http://schemas.microsoft.com/office/drawing/2014/main" id="{89CD6783-C32E-B51F-A053-4F06B867E583}"/>
              </a:ext>
            </a:extLst>
          </p:cNvPr>
          <p:cNvGrpSpPr/>
          <p:nvPr/>
        </p:nvGrpSpPr>
        <p:grpSpPr>
          <a:xfrm>
            <a:off x="443902" y="1544516"/>
            <a:ext cx="10983561" cy="4235738"/>
            <a:chOff x="324351" y="2137641"/>
            <a:chExt cx="10983561" cy="4235738"/>
          </a:xfrm>
        </p:grpSpPr>
        <p:sp>
          <p:nvSpPr>
            <p:cNvPr id="7" name="矩形 6">
              <a:extLst>
                <a:ext uri="{FF2B5EF4-FFF2-40B4-BE49-F238E27FC236}">
                  <a16:creationId xmlns:a16="http://schemas.microsoft.com/office/drawing/2014/main" id="{8201F2FE-0947-B8AD-F6EE-31CC9E68BD43}"/>
                </a:ext>
              </a:extLst>
            </p:cNvPr>
            <p:cNvSpPr/>
            <p:nvPr/>
          </p:nvSpPr>
          <p:spPr>
            <a:xfrm>
              <a:off x="9155043" y="4114477"/>
              <a:ext cx="2152869" cy="2050452"/>
            </a:xfrm>
            <a:prstGeom prst="rect">
              <a:avLst/>
            </a:prstGeom>
            <a:solidFill>
              <a:srgbClr val="E7E6E6">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8" name="图片 7">
              <a:extLst>
                <a:ext uri="{FF2B5EF4-FFF2-40B4-BE49-F238E27FC236}">
                  <a16:creationId xmlns:a16="http://schemas.microsoft.com/office/drawing/2014/main" id="{0AFA3773-D22F-E1B3-0640-0C65A96B1A10}"/>
                </a:ext>
              </a:extLst>
            </p:cNvPr>
            <p:cNvPicPr>
              <a:picLocks noChangeAspect="1"/>
            </p:cNvPicPr>
            <p:nvPr/>
          </p:nvPicPr>
          <p:blipFill rotWithShape="1">
            <a:blip r:embed="rId5"/>
            <a:srcRect l="10749" t="9243" r="16282" b="12423"/>
            <a:stretch/>
          </p:blipFill>
          <p:spPr>
            <a:xfrm>
              <a:off x="2724361" y="4504393"/>
              <a:ext cx="2057401" cy="1690149"/>
            </a:xfrm>
            <a:prstGeom prst="rect">
              <a:avLst/>
            </a:prstGeom>
          </p:spPr>
        </p:pic>
        <p:pic>
          <p:nvPicPr>
            <p:cNvPr id="9" name="图片 8">
              <a:extLst>
                <a:ext uri="{FF2B5EF4-FFF2-40B4-BE49-F238E27FC236}">
                  <a16:creationId xmlns:a16="http://schemas.microsoft.com/office/drawing/2014/main" id="{4D200248-BD36-2713-D694-FF7FA52BEE68}"/>
                </a:ext>
              </a:extLst>
            </p:cNvPr>
            <p:cNvPicPr>
              <a:picLocks noChangeAspect="1"/>
            </p:cNvPicPr>
            <p:nvPr/>
          </p:nvPicPr>
          <p:blipFill rotWithShape="1">
            <a:blip r:embed="rId6"/>
            <a:srcRect l="10609" t="9425" r="16422" b="12862"/>
            <a:stretch/>
          </p:blipFill>
          <p:spPr>
            <a:xfrm>
              <a:off x="471144" y="4504393"/>
              <a:ext cx="2052868" cy="1673051"/>
            </a:xfrm>
            <a:prstGeom prst="rect">
              <a:avLst/>
            </a:prstGeom>
          </p:spPr>
        </p:pic>
        <p:pic>
          <p:nvPicPr>
            <p:cNvPr id="10" name="图片 9">
              <a:extLst>
                <a:ext uri="{FF2B5EF4-FFF2-40B4-BE49-F238E27FC236}">
                  <a16:creationId xmlns:a16="http://schemas.microsoft.com/office/drawing/2014/main" id="{6137CF6D-E02E-93AE-C718-EBFEAE19F655}"/>
                </a:ext>
              </a:extLst>
            </p:cNvPr>
            <p:cNvPicPr>
              <a:picLocks noChangeAspect="1"/>
            </p:cNvPicPr>
            <p:nvPr/>
          </p:nvPicPr>
          <p:blipFill rotWithShape="1">
            <a:blip r:embed="rId7"/>
            <a:srcRect l="9069" t="9792" r="16561" b="12913"/>
            <a:stretch/>
          </p:blipFill>
          <p:spPr>
            <a:xfrm>
              <a:off x="4785049" y="4504393"/>
              <a:ext cx="2125036" cy="1690149"/>
            </a:xfrm>
            <a:prstGeom prst="rect">
              <a:avLst/>
            </a:prstGeom>
          </p:spPr>
        </p:pic>
        <p:pic>
          <p:nvPicPr>
            <p:cNvPr id="11" name="图片 10">
              <a:extLst>
                <a:ext uri="{FF2B5EF4-FFF2-40B4-BE49-F238E27FC236}">
                  <a16:creationId xmlns:a16="http://schemas.microsoft.com/office/drawing/2014/main" id="{3EA0F29B-5219-3A64-6705-AA6A62EE2E30}"/>
                </a:ext>
              </a:extLst>
            </p:cNvPr>
            <p:cNvPicPr>
              <a:picLocks noChangeAspect="1"/>
            </p:cNvPicPr>
            <p:nvPr/>
          </p:nvPicPr>
          <p:blipFill rotWithShape="1">
            <a:blip r:embed="rId8"/>
            <a:srcRect l="10571" t="8704" r="16790" b="12673"/>
            <a:stretch/>
          </p:blipFill>
          <p:spPr>
            <a:xfrm>
              <a:off x="7007109" y="4504393"/>
              <a:ext cx="2040527" cy="1690149"/>
            </a:xfrm>
            <a:prstGeom prst="rect">
              <a:avLst/>
            </a:prstGeom>
          </p:spPr>
        </p:pic>
        <p:pic>
          <p:nvPicPr>
            <p:cNvPr id="12" name="图片 11">
              <a:extLst>
                <a:ext uri="{FF2B5EF4-FFF2-40B4-BE49-F238E27FC236}">
                  <a16:creationId xmlns:a16="http://schemas.microsoft.com/office/drawing/2014/main" id="{FB862F66-728A-1FD4-AFE4-AC4A61F6E41D}"/>
                </a:ext>
              </a:extLst>
            </p:cNvPr>
            <p:cNvPicPr>
              <a:picLocks noChangeAspect="1"/>
            </p:cNvPicPr>
            <p:nvPr/>
          </p:nvPicPr>
          <p:blipFill rotWithShape="1">
            <a:blip r:embed="rId9"/>
            <a:srcRect l="10571" t="11242" r="16574" b="12532"/>
            <a:stretch/>
          </p:blipFill>
          <p:spPr>
            <a:xfrm>
              <a:off x="471144" y="2399251"/>
              <a:ext cx="2110996" cy="1690149"/>
            </a:xfrm>
            <a:prstGeom prst="rect">
              <a:avLst/>
            </a:prstGeom>
          </p:spPr>
        </p:pic>
        <p:pic>
          <p:nvPicPr>
            <p:cNvPr id="13" name="图片 12">
              <a:extLst>
                <a:ext uri="{FF2B5EF4-FFF2-40B4-BE49-F238E27FC236}">
                  <a16:creationId xmlns:a16="http://schemas.microsoft.com/office/drawing/2014/main" id="{AAAE0DE3-807E-259F-C1FA-C342EAF74B7F}"/>
                </a:ext>
              </a:extLst>
            </p:cNvPr>
            <p:cNvPicPr>
              <a:picLocks noChangeAspect="1"/>
            </p:cNvPicPr>
            <p:nvPr/>
          </p:nvPicPr>
          <p:blipFill rotWithShape="1">
            <a:blip r:embed="rId10"/>
            <a:srcRect l="10787" t="9550" r="16898" b="14091"/>
            <a:stretch/>
          </p:blipFill>
          <p:spPr>
            <a:xfrm>
              <a:off x="4818383" y="2399251"/>
              <a:ext cx="2091702" cy="1690149"/>
            </a:xfrm>
            <a:prstGeom prst="rect">
              <a:avLst/>
            </a:prstGeom>
          </p:spPr>
        </p:pic>
        <p:pic>
          <p:nvPicPr>
            <p:cNvPr id="14" name="图片 13">
              <a:extLst>
                <a:ext uri="{FF2B5EF4-FFF2-40B4-BE49-F238E27FC236}">
                  <a16:creationId xmlns:a16="http://schemas.microsoft.com/office/drawing/2014/main" id="{17D800D5-18B4-BA35-9929-3E3725A7739F}"/>
                </a:ext>
              </a:extLst>
            </p:cNvPr>
            <p:cNvPicPr>
              <a:picLocks noChangeAspect="1"/>
            </p:cNvPicPr>
            <p:nvPr/>
          </p:nvPicPr>
          <p:blipFill rotWithShape="1">
            <a:blip r:embed="rId11"/>
            <a:srcRect l="7118" t="7294" r="13120" b="10884"/>
            <a:stretch/>
          </p:blipFill>
          <p:spPr>
            <a:xfrm>
              <a:off x="2617810" y="2399251"/>
              <a:ext cx="2153056" cy="1690149"/>
            </a:xfrm>
            <a:prstGeom prst="rect">
              <a:avLst/>
            </a:prstGeom>
          </p:spPr>
        </p:pic>
        <p:pic>
          <p:nvPicPr>
            <p:cNvPr id="16" name="图片 15">
              <a:extLst>
                <a:ext uri="{FF2B5EF4-FFF2-40B4-BE49-F238E27FC236}">
                  <a16:creationId xmlns:a16="http://schemas.microsoft.com/office/drawing/2014/main" id="{FBF74A17-21F9-72F8-81FB-A2EA218D69AA}"/>
                </a:ext>
              </a:extLst>
            </p:cNvPr>
            <p:cNvPicPr>
              <a:picLocks noChangeAspect="1"/>
            </p:cNvPicPr>
            <p:nvPr/>
          </p:nvPicPr>
          <p:blipFill rotWithShape="1">
            <a:blip r:embed="rId12"/>
            <a:srcRect l="10463" t="10677" r="16466" b="12697"/>
            <a:stretch/>
          </p:blipFill>
          <p:spPr>
            <a:xfrm>
              <a:off x="6965958" y="2399251"/>
              <a:ext cx="2106203" cy="1690149"/>
            </a:xfrm>
            <a:prstGeom prst="rect">
              <a:avLst/>
            </a:prstGeom>
          </p:spPr>
        </p:pic>
        <p:pic>
          <p:nvPicPr>
            <p:cNvPr id="17" name="图片 16">
              <a:extLst>
                <a:ext uri="{FF2B5EF4-FFF2-40B4-BE49-F238E27FC236}">
                  <a16:creationId xmlns:a16="http://schemas.microsoft.com/office/drawing/2014/main" id="{2C5C387F-71AB-55E4-B933-8C3F63EFAC4A}"/>
                </a:ext>
              </a:extLst>
            </p:cNvPr>
            <p:cNvPicPr>
              <a:picLocks noChangeAspect="1"/>
            </p:cNvPicPr>
            <p:nvPr/>
          </p:nvPicPr>
          <p:blipFill rotWithShape="1">
            <a:blip r:embed="rId13"/>
            <a:srcRect l="10323" t="7095" r="16261" b="13107"/>
            <a:stretch/>
          </p:blipFill>
          <p:spPr>
            <a:xfrm>
              <a:off x="9146328" y="2399251"/>
              <a:ext cx="2032060" cy="1690149"/>
            </a:xfrm>
            <a:prstGeom prst="rect">
              <a:avLst/>
            </a:prstGeom>
          </p:spPr>
        </p:pic>
        <p:sp>
          <p:nvSpPr>
            <p:cNvPr id="18" name="文本框 17">
              <a:extLst>
                <a:ext uri="{FF2B5EF4-FFF2-40B4-BE49-F238E27FC236}">
                  <a16:creationId xmlns:a16="http://schemas.microsoft.com/office/drawing/2014/main" id="{5F5E5CE1-367C-705A-609C-E076AD791553}"/>
                </a:ext>
              </a:extLst>
            </p:cNvPr>
            <p:cNvSpPr txBox="1"/>
            <p:nvPr/>
          </p:nvSpPr>
          <p:spPr>
            <a:xfrm>
              <a:off x="701685" y="2137641"/>
              <a:ext cx="1802096" cy="253916"/>
            </a:xfrm>
            <a:prstGeom prst="rect">
              <a:avLst/>
            </a:prstGeom>
            <a:noFill/>
          </p:spPr>
          <p:txBody>
            <a:bodyPr wrap="none" rtlCol="0">
              <a:spAutoFit/>
            </a:bodyPr>
            <a:lstStyle/>
            <a:p>
              <a:r>
                <a:rPr kumimoji="1" lang="en-US" altLang="zh-CN" sz="1050" dirty="0">
                  <a:latin typeface="Times New Roman" panose="02020603050405020304" pitchFamily="18" charset="0"/>
                  <a:cs typeface="Times New Roman" panose="02020603050405020304" pitchFamily="18" charset="0"/>
                </a:rPr>
                <a:t>Clavicle segmentation [JSRT]</a:t>
              </a:r>
              <a:endParaRPr kumimoji="1" lang="zh-CN" altLang="en-US" sz="1050"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0E10F158-0DFD-45F1-11ED-8CB3382D9032}"/>
                </a:ext>
              </a:extLst>
            </p:cNvPr>
            <p:cNvSpPr txBox="1"/>
            <p:nvPr/>
          </p:nvSpPr>
          <p:spPr>
            <a:xfrm>
              <a:off x="2891286" y="2137641"/>
              <a:ext cx="1654620" cy="253916"/>
            </a:xfrm>
            <a:prstGeom prst="rect">
              <a:avLst/>
            </a:prstGeom>
            <a:noFill/>
          </p:spPr>
          <p:txBody>
            <a:bodyPr wrap="none" rtlCol="0">
              <a:spAutoFit/>
            </a:bodyPr>
            <a:lstStyle/>
            <a:p>
              <a:r>
                <a:rPr kumimoji="1" lang="en-US" altLang="zh-CN" sz="1050" dirty="0">
                  <a:latin typeface="Times New Roman" panose="02020603050405020304" pitchFamily="18" charset="0"/>
                  <a:cs typeface="Times New Roman" panose="02020603050405020304" pitchFamily="18" charset="0"/>
                </a:rPr>
                <a:t>Heart segmentation [JSRT]</a:t>
              </a:r>
              <a:endParaRPr kumimoji="1" lang="zh-CN" altLang="en-US" sz="1050"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006CD2DA-E806-FAE4-2BE1-F4372FE2E0E7}"/>
                </a:ext>
              </a:extLst>
            </p:cNvPr>
            <p:cNvSpPr txBox="1"/>
            <p:nvPr/>
          </p:nvSpPr>
          <p:spPr>
            <a:xfrm>
              <a:off x="4991999" y="2137641"/>
              <a:ext cx="1887055" cy="253916"/>
            </a:xfrm>
            <a:prstGeom prst="rect">
              <a:avLst/>
            </a:prstGeom>
            <a:noFill/>
          </p:spPr>
          <p:txBody>
            <a:bodyPr wrap="none" rtlCol="0">
              <a:spAutoFit/>
            </a:bodyPr>
            <a:lstStyle/>
            <a:p>
              <a:r>
                <a:rPr kumimoji="1" lang="en-US" altLang="zh-CN" sz="1050" dirty="0">
                  <a:latin typeface="Times New Roman" panose="02020603050405020304" pitchFamily="18" charset="0"/>
                  <a:cs typeface="Times New Roman" panose="02020603050405020304" pitchFamily="18" charset="0"/>
                </a:rPr>
                <a:t>Ribs segmentation [</a:t>
              </a:r>
              <a:r>
                <a:rPr kumimoji="1" lang="en-US" altLang="zh-CN" sz="1050" dirty="0" err="1">
                  <a:latin typeface="Times New Roman" panose="02020603050405020304" pitchFamily="18" charset="0"/>
                  <a:cs typeface="Times New Roman" panose="02020603050405020304" pitchFamily="18" charset="0"/>
                </a:rPr>
                <a:t>VinDr</a:t>
              </a:r>
              <a:r>
                <a:rPr kumimoji="1" lang="en-US" altLang="zh-CN" sz="1050" dirty="0">
                  <a:latin typeface="Times New Roman" panose="02020603050405020304" pitchFamily="18" charset="0"/>
                  <a:cs typeface="Times New Roman" panose="02020603050405020304" pitchFamily="18" charset="0"/>
                </a:rPr>
                <a:t>-Rib]</a:t>
              </a:r>
              <a:endParaRPr kumimoji="1" lang="zh-CN" altLang="en-US" sz="1050"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E86EDF34-D7D9-830B-6C52-25E968D61B35}"/>
                </a:ext>
              </a:extLst>
            </p:cNvPr>
            <p:cNvSpPr txBox="1"/>
            <p:nvPr/>
          </p:nvSpPr>
          <p:spPr>
            <a:xfrm>
              <a:off x="6946012" y="2137641"/>
              <a:ext cx="2125903" cy="253916"/>
            </a:xfrm>
            <a:prstGeom prst="rect">
              <a:avLst/>
            </a:prstGeom>
            <a:noFill/>
          </p:spPr>
          <p:txBody>
            <a:bodyPr wrap="none" rtlCol="0">
              <a:spAutoFit/>
            </a:bodyPr>
            <a:lstStyle/>
            <a:p>
              <a:r>
                <a:rPr kumimoji="1" lang="en-US" altLang="zh-CN" sz="1050" dirty="0">
                  <a:latin typeface="Times New Roman" panose="02020603050405020304" pitchFamily="18" charset="0"/>
                  <a:cs typeface="Times New Roman" panose="02020603050405020304" pitchFamily="18" charset="0"/>
                </a:rPr>
                <a:t>Pneumothorax segmentation [SIIM]</a:t>
              </a:r>
              <a:endParaRPr kumimoji="1" lang="zh-CN" altLang="en-US" sz="1050"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9ECF0808-2692-9C30-7900-89C6BD2B251B}"/>
                </a:ext>
              </a:extLst>
            </p:cNvPr>
            <p:cNvSpPr txBox="1"/>
            <p:nvPr/>
          </p:nvSpPr>
          <p:spPr>
            <a:xfrm>
              <a:off x="9023264" y="2147728"/>
              <a:ext cx="2278188" cy="253916"/>
            </a:xfrm>
            <a:prstGeom prst="rect">
              <a:avLst/>
            </a:prstGeom>
            <a:noFill/>
          </p:spPr>
          <p:txBody>
            <a:bodyPr wrap="none" rtlCol="0">
              <a:spAutoFit/>
            </a:bodyPr>
            <a:lstStyle/>
            <a:p>
              <a:r>
                <a:rPr kumimoji="1" lang="en-US" altLang="zh-CN" sz="1050" dirty="0">
                  <a:latin typeface="Times New Roman" panose="02020603050405020304" pitchFamily="18" charset="0"/>
                  <a:cs typeface="Times New Roman" panose="02020603050405020304" pitchFamily="18" charset="0"/>
                </a:rPr>
                <a:t>Covid segmentation [COVID-QU-EX]</a:t>
              </a:r>
              <a:endParaRPr kumimoji="1" lang="zh-CN" altLang="en-US" sz="1050"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28EF43B4-10BB-BB8A-0BA1-6FD121C6217E}"/>
                </a:ext>
              </a:extLst>
            </p:cNvPr>
            <p:cNvSpPr txBox="1"/>
            <p:nvPr/>
          </p:nvSpPr>
          <p:spPr>
            <a:xfrm>
              <a:off x="324351" y="4250477"/>
              <a:ext cx="2412840" cy="253916"/>
            </a:xfrm>
            <a:prstGeom prst="rect">
              <a:avLst/>
            </a:prstGeom>
            <a:noFill/>
          </p:spPr>
          <p:txBody>
            <a:bodyPr wrap="none" rtlCol="0">
              <a:spAutoFit/>
            </a:bodyPr>
            <a:lstStyle/>
            <a:p>
              <a:r>
                <a:rPr kumimoji="1" lang="en-US" altLang="zh-CN" sz="1050" dirty="0">
                  <a:latin typeface="Times New Roman" panose="02020603050405020304" pitchFamily="18" charset="0"/>
                  <a:cs typeface="Times New Roman" panose="02020603050405020304" pitchFamily="18" charset="0"/>
                </a:rPr>
                <a:t>14 diseases classification [ChestX-ray14]</a:t>
              </a:r>
              <a:endParaRPr kumimoji="1" lang="zh-CN" altLang="en-US" sz="1050"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8692D621-E58A-9BAA-5B57-1706F314D9D8}"/>
                </a:ext>
              </a:extLst>
            </p:cNvPr>
            <p:cNvSpPr txBox="1"/>
            <p:nvPr/>
          </p:nvSpPr>
          <p:spPr>
            <a:xfrm>
              <a:off x="2844774" y="4250477"/>
              <a:ext cx="1951175" cy="253916"/>
            </a:xfrm>
            <a:prstGeom prst="rect">
              <a:avLst/>
            </a:prstGeom>
            <a:noFill/>
          </p:spPr>
          <p:txBody>
            <a:bodyPr wrap="none" rtlCol="0">
              <a:spAutoFit/>
            </a:bodyPr>
            <a:lstStyle/>
            <a:p>
              <a:r>
                <a:rPr kumimoji="1" lang="en-US" altLang="zh-CN" sz="1050" dirty="0">
                  <a:latin typeface="Times New Roman" panose="02020603050405020304" pitchFamily="18" charset="0"/>
                  <a:cs typeface="Times New Roman" panose="02020603050405020304" pitchFamily="18" charset="0"/>
                </a:rPr>
                <a:t>2 diseases classification [RSNA]</a:t>
              </a:r>
              <a:endParaRPr kumimoji="1" lang="zh-CN" altLang="en-US" sz="1050" dirty="0">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2FA0C506-67A6-D46B-6396-25BA5088CA15}"/>
                </a:ext>
              </a:extLst>
            </p:cNvPr>
            <p:cNvSpPr txBox="1"/>
            <p:nvPr/>
          </p:nvSpPr>
          <p:spPr>
            <a:xfrm>
              <a:off x="4818383" y="4252649"/>
              <a:ext cx="2265364" cy="253916"/>
            </a:xfrm>
            <a:prstGeom prst="rect">
              <a:avLst/>
            </a:prstGeom>
            <a:noFill/>
          </p:spPr>
          <p:txBody>
            <a:bodyPr wrap="none" rtlCol="0">
              <a:spAutoFit/>
            </a:bodyPr>
            <a:lstStyle/>
            <a:p>
              <a:r>
                <a:rPr kumimoji="1" lang="en-US" altLang="zh-CN" sz="1050" dirty="0">
                  <a:latin typeface="Times New Roman" panose="02020603050405020304" pitchFamily="18" charset="0"/>
                  <a:cs typeface="Times New Roman" panose="02020603050405020304" pitchFamily="18" charset="0"/>
                </a:rPr>
                <a:t>Tuberculosis classification [Shenzhen]</a:t>
              </a:r>
              <a:endParaRPr kumimoji="1" lang="zh-CN" altLang="en-US" sz="1050" dirty="0">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9E05ADA7-EA36-0BAF-2F18-DBB79D8107FE}"/>
                </a:ext>
              </a:extLst>
            </p:cNvPr>
            <p:cNvSpPr txBox="1"/>
            <p:nvPr/>
          </p:nvSpPr>
          <p:spPr>
            <a:xfrm>
              <a:off x="7012499" y="4262736"/>
              <a:ext cx="2180405" cy="253916"/>
            </a:xfrm>
            <a:prstGeom prst="rect">
              <a:avLst/>
            </a:prstGeom>
            <a:noFill/>
          </p:spPr>
          <p:txBody>
            <a:bodyPr wrap="none" rtlCol="0">
              <a:spAutoFit/>
            </a:bodyPr>
            <a:lstStyle/>
            <a:p>
              <a:r>
                <a:rPr kumimoji="1" lang="en-US" altLang="zh-CN" sz="1050" dirty="0">
                  <a:latin typeface="Times New Roman" panose="02020603050405020304" pitchFamily="18" charset="0"/>
                  <a:cs typeface="Times New Roman" panose="02020603050405020304" pitchFamily="18" charset="0"/>
                </a:rPr>
                <a:t>14 diseases classification [</a:t>
              </a:r>
              <a:r>
                <a:rPr kumimoji="1" lang="en-US" altLang="zh-CN" sz="1050" dirty="0" err="1">
                  <a:latin typeface="Times New Roman" panose="02020603050405020304" pitchFamily="18" charset="0"/>
                  <a:cs typeface="Times New Roman" panose="02020603050405020304" pitchFamily="18" charset="0"/>
                </a:rPr>
                <a:t>CheXpert</a:t>
              </a:r>
              <a:r>
                <a:rPr kumimoji="1" lang="en-US" altLang="zh-CN" sz="1050" dirty="0">
                  <a:latin typeface="Times New Roman" panose="02020603050405020304" pitchFamily="18" charset="0"/>
                  <a:cs typeface="Times New Roman" panose="02020603050405020304" pitchFamily="18" charset="0"/>
                </a:rPr>
                <a:t>]</a:t>
              </a:r>
              <a:endParaRPr kumimoji="1" lang="zh-CN" altLang="en-US" sz="1050" dirty="0">
                <a:latin typeface="Times New Roman" panose="02020603050405020304" pitchFamily="18" charset="0"/>
                <a:cs typeface="Times New Roman" panose="02020603050405020304" pitchFamily="18" charset="0"/>
              </a:endParaRPr>
            </a:p>
          </p:txBody>
        </p:sp>
        <p:sp>
          <p:nvSpPr>
            <p:cNvPr id="27" name="矩形 26">
              <a:extLst>
                <a:ext uri="{FF2B5EF4-FFF2-40B4-BE49-F238E27FC236}">
                  <a16:creationId xmlns:a16="http://schemas.microsoft.com/office/drawing/2014/main" id="{03039543-E294-F0B1-7DFD-1B8776F1AE75}"/>
                </a:ext>
              </a:extLst>
            </p:cNvPr>
            <p:cNvSpPr/>
            <p:nvPr/>
          </p:nvSpPr>
          <p:spPr>
            <a:xfrm>
              <a:off x="9207915" y="4181402"/>
              <a:ext cx="132272" cy="132271"/>
            </a:xfrm>
            <a:prstGeom prst="rect">
              <a:avLst/>
            </a:prstGeom>
            <a:solidFill>
              <a:srgbClr val="F9F9F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本框 27">
              <a:extLst>
                <a:ext uri="{FF2B5EF4-FFF2-40B4-BE49-F238E27FC236}">
                  <a16:creationId xmlns:a16="http://schemas.microsoft.com/office/drawing/2014/main" id="{79A3A714-87E9-51A1-23BF-949CB07AC160}"/>
                </a:ext>
              </a:extLst>
            </p:cNvPr>
            <p:cNvSpPr txBox="1"/>
            <p:nvPr/>
          </p:nvSpPr>
          <p:spPr>
            <a:xfrm>
              <a:off x="9186886" y="4135303"/>
              <a:ext cx="132272" cy="215444"/>
            </a:xfrm>
            <a:prstGeom prst="rect">
              <a:avLst/>
            </a:prstGeom>
            <a:noFill/>
          </p:spPr>
          <p:txBody>
            <a:bodyPr wrap="square" rtlCol="0">
              <a:spAutoFit/>
            </a:bodyPr>
            <a:lstStyle/>
            <a:p>
              <a:r>
                <a:rPr kumimoji="1" lang="en-US" altLang="zh-CN" sz="800" dirty="0"/>
                <a:t>1</a:t>
              </a:r>
              <a:endParaRPr kumimoji="1" lang="zh-CN" altLang="en-US" sz="800" dirty="0"/>
            </a:p>
          </p:txBody>
        </p:sp>
        <p:sp>
          <p:nvSpPr>
            <p:cNvPr id="29" name="文本框 28">
              <a:extLst>
                <a:ext uri="{FF2B5EF4-FFF2-40B4-BE49-F238E27FC236}">
                  <a16:creationId xmlns:a16="http://schemas.microsoft.com/office/drawing/2014/main" id="{05BE5689-3146-A6C6-9A64-4630C6A9F924}"/>
                </a:ext>
              </a:extLst>
            </p:cNvPr>
            <p:cNvSpPr txBox="1"/>
            <p:nvPr/>
          </p:nvSpPr>
          <p:spPr>
            <a:xfrm>
              <a:off x="9307757" y="4125216"/>
              <a:ext cx="720069" cy="215444"/>
            </a:xfrm>
            <a:prstGeom prst="rect">
              <a:avLst/>
            </a:prstGeom>
            <a:noFill/>
          </p:spPr>
          <p:txBody>
            <a:bodyPr wrap="none" rtlCol="0">
              <a:spAutoFit/>
            </a:bodyPr>
            <a:lstStyle/>
            <a:p>
              <a:r>
                <a:rPr kumimoji="1" lang="en-US" altLang="zh-CN" sz="800" dirty="0"/>
                <a:t>Random </a:t>
              </a:r>
              <a:r>
                <a:rPr kumimoji="1" lang="en-US" altLang="zh-CN" sz="800" dirty="0" err="1"/>
                <a:t>init.</a:t>
              </a:r>
              <a:endParaRPr kumimoji="1" lang="zh-CN" altLang="en-US" sz="800" dirty="0"/>
            </a:p>
          </p:txBody>
        </p:sp>
        <p:sp>
          <p:nvSpPr>
            <p:cNvPr id="30" name="文本框 29">
              <a:extLst>
                <a:ext uri="{FF2B5EF4-FFF2-40B4-BE49-F238E27FC236}">
                  <a16:creationId xmlns:a16="http://schemas.microsoft.com/office/drawing/2014/main" id="{D637F3A2-F243-EA26-16C3-04CABEDC614F}"/>
                </a:ext>
              </a:extLst>
            </p:cNvPr>
            <p:cNvSpPr txBox="1"/>
            <p:nvPr/>
          </p:nvSpPr>
          <p:spPr>
            <a:xfrm>
              <a:off x="9114999" y="4301356"/>
              <a:ext cx="800219" cy="253916"/>
            </a:xfrm>
            <a:prstGeom prst="rect">
              <a:avLst/>
            </a:prstGeom>
            <a:noFill/>
          </p:spPr>
          <p:txBody>
            <a:bodyPr wrap="none" rtlCol="0">
              <a:spAutoFit/>
            </a:bodyPr>
            <a:lstStyle/>
            <a:p>
              <a:r>
                <a:rPr kumimoji="1" lang="en-US" altLang="zh-CN" sz="1000" b="1" dirty="0"/>
                <a:t>Supervised</a:t>
              </a:r>
              <a:endParaRPr kumimoji="1" lang="zh-CN" altLang="en-US" sz="1000" b="1" dirty="0"/>
            </a:p>
          </p:txBody>
        </p:sp>
        <p:sp>
          <p:nvSpPr>
            <p:cNvPr id="31" name="矩形 30">
              <a:extLst>
                <a:ext uri="{FF2B5EF4-FFF2-40B4-BE49-F238E27FC236}">
                  <a16:creationId xmlns:a16="http://schemas.microsoft.com/office/drawing/2014/main" id="{A1E157DF-2C2B-C812-6E83-C5548FBDD93B}"/>
                </a:ext>
              </a:extLst>
            </p:cNvPr>
            <p:cNvSpPr/>
            <p:nvPr/>
          </p:nvSpPr>
          <p:spPr>
            <a:xfrm>
              <a:off x="9203062" y="4545999"/>
              <a:ext cx="132272" cy="132271"/>
            </a:xfrm>
            <a:prstGeom prst="rect">
              <a:avLst/>
            </a:prstGeom>
            <a:solidFill>
              <a:srgbClr val="E7E7E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文本框 31">
              <a:extLst>
                <a:ext uri="{FF2B5EF4-FFF2-40B4-BE49-F238E27FC236}">
                  <a16:creationId xmlns:a16="http://schemas.microsoft.com/office/drawing/2014/main" id="{6A29DB2A-482B-A0FB-F400-0004FA4AB03D}"/>
                </a:ext>
              </a:extLst>
            </p:cNvPr>
            <p:cNvSpPr txBox="1"/>
            <p:nvPr/>
          </p:nvSpPr>
          <p:spPr>
            <a:xfrm>
              <a:off x="9182033" y="4499900"/>
              <a:ext cx="132272" cy="215444"/>
            </a:xfrm>
            <a:prstGeom prst="rect">
              <a:avLst/>
            </a:prstGeom>
            <a:noFill/>
          </p:spPr>
          <p:txBody>
            <a:bodyPr wrap="square" rtlCol="0">
              <a:spAutoFit/>
            </a:bodyPr>
            <a:lstStyle/>
            <a:p>
              <a:r>
                <a:rPr kumimoji="1" lang="en-US" altLang="zh-CN" sz="800" dirty="0"/>
                <a:t>2</a:t>
              </a:r>
              <a:endParaRPr kumimoji="1" lang="zh-CN" altLang="en-US" sz="800" dirty="0"/>
            </a:p>
          </p:txBody>
        </p:sp>
        <p:sp>
          <p:nvSpPr>
            <p:cNvPr id="33" name="文本框 32">
              <a:extLst>
                <a:ext uri="{FF2B5EF4-FFF2-40B4-BE49-F238E27FC236}">
                  <a16:creationId xmlns:a16="http://schemas.microsoft.com/office/drawing/2014/main" id="{21D81250-CF6D-6CBB-ACE5-49040792306A}"/>
                </a:ext>
              </a:extLst>
            </p:cNvPr>
            <p:cNvSpPr txBox="1"/>
            <p:nvPr/>
          </p:nvSpPr>
          <p:spPr>
            <a:xfrm>
              <a:off x="9302904" y="4489813"/>
              <a:ext cx="591829" cy="215444"/>
            </a:xfrm>
            <a:prstGeom prst="rect">
              <a:avLst/>
            </a:prstGeom>
            <a:noFill/>
          </p:spPr>
          <p:txBody>
            <a:bodyPr wrap="none" rtlCol="0">
              <a:spAutoFit/>
            </a:bodyPr>
            <a:lstStyle/>
            <a:p>
              <a:r>
                <a:rPr kumimoji="1" lang="en-US" altLang="zh-CN" sz="800" dirty="0"/>
                <a:t>ImageNet</a:t>
              </a:r>
              <a:endParaRPr kumimoji="1" lang="zh-CN" altLang="en-US" sz="800" dirty="0"/>
            </a:p>
          </p:txBody>
        </p:sp>
        <p:sp>
          <p:nvSpPr>
            <p:cNvPr id="34" name="文本框 33">
              <a:extLst>
                <a:ext uri="{FF2B5EF4-FFF2-40B4-BE49-F238E27FC236}">
                  <a16:creationId xmlns:a16="http://schemas.microsoft.com/office/drawing/2014/main" id="{C99BB016-743D-D733-C892-BA0EFA4116BF}"/>
                </a:ext>
              </a:extLst>
            </p:cNvPr>
            <p:cNvSpPr txBox="1"/>
            <p:nvPr/>
          </p:nvSpPr>
          <p:spPr>
            <a:xfrm>
              <a:off x="9114999" y="4676040"/>
              <a:ext cx="718466" cy="246221"/>
            </a:xfrm>
            <a:prstGeom prst="rect">
              <a:avLst/>
            </a:prstGeom>
            <a:noFill/>
          </p:spPr>
          <p:txBody>
            <a:bodyPr wrap="none" rtlCol="0">
              <a:spAutoFit/>
            </a:bodyPr>
            <a:lstStyle/>
            <a:p>
              <a:r>
                <a:rPr kumimoji="1" lang="en-US" altLang="zh-CN" sz="1000" b="1" dirty="0"/>
                <a:t>Vision SSL</a:t>
              </a:r>
              <a:endParaRPr kumimoji="1" lang="zh-CN" altLang="en-US" sz="1000" b="1" dirty="0"/>
            </a:p>
          </p:txBody>
        </p:sp>
        <p:sp>
          <p:nvSpPr>
            <p:cNvPr id="35" name="矩形 34">
              <a:extLst>
                <a:ext uri="{FF2B5EF4-FFF2-40B4-BE49-F238E27FC236}">
                  <a16:creationId xmlns:a16="http://schemas.microsoft.com/office/drawing/2014/main" id="{4D4EFB6A-F005-5BBF-50F2-980EFA483140}"/>
                </a:ext>
              </a:extLst>
            </p:cNvPr>
            <p:cNvSpPr/>
            <p:nvPr/>
          </p:nvSpPr>
          <p:spPr>
            <a:xfrm>
              <a:off x="9203062" y="4920683"/>
              <a:ext cx="132272" cy="132271"/>
            </a:xfrm>
            <a:prstGeom prst="rect">
              <a:avLst/>
            </a:prstGeom>
            <a:solidFill>
              <a:srgbClr val="E7DEE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2792F13F-CD57-9084-3FDB-D7459C8D120C}"/>
                </a:ext>
              </a:extLst>
            </p:cNvPr>
            <p:cNvSpPr txBox="1"/>
            <p:nvPr/>
          </p:nvSpPr>
          <p:spPr>
            <a:xfrm>
              <a:off x="9182033" y="4874584"/>
              <a:ext cx="132272" cy="215444"/>
            </a:xfrm>
            <a:prstGeom prst="rect">
              <a:avLst/>
            </a:prstGeom>
            <a:noFill/>
          </p:spPr>
          <p:txBody>
            <a:bodyPr wrap="square" rtlCol="0">
              <a:spAutoFit/>
            </a:bodyPr>
            <a:lstStyle/>
            <a:p>
              <a:r>
                <a:rPr kumimoji="1" lang="en-US" altLang="zh-CN" sz="800" dirty="0"/>
                <a:t>3</a:t>
              </a:r>
              <a:endParaRPr kumimoji="1" lang="zh-CN" altLang="en-US" sz="800" dirty="0"/>
            </a:p>
          </p:txBody>
        </p:sp>
        <p:sp>
          <p:nvSpPr>
            <p:cNvPr id="37" name="文本框 36">
              <a:extLst>
                <a:ext uri="{FF2B5EF4-FFF2-40B4-BE49-F238E27FC236}">
                  <a16:creationId xmlns:a16="http://schemas.microsoft.com/office/drawing/2014/main" id="{4F580DD5-D12A-002A-60C5-2F10A7D34EB0}"/>
                </a:ext>
              </a:extLst>
            </p:cNvPr>
            <p:cNvSpPr txBox="1"/>
            <p:nvPr/>
          </p:nvSpPr>
          <p:spPr>
            <a:xfrm>
              <a:off x="9302904" y="4864497"/>
              <a:ext cx="572593" cy="215444"/>
            </a:xfrm>
            <a:prstGeom prst="rect">
              <a:avLst/>
            </a:prstGeom>
            <a:noFill/>
          </p:spPr>
          <p:txBody>
            <a:bodyPr wrap="none" rtlCol="0">
              <a:spAutoFit/>
            </a:bodyPr>
            <a:lstStyle/>
            <a:p>
              <a:r>
                <a:rPr kumimoji="1" lang="en-US" altLang="zh-CN" sz="800" dirty="0" err="1"/>
                <a:t>SelfPatch</a:t>
              </a:r>
              <a:endParaRPr kumimoji="1" lang="zh-CN" altLang="en-US" sz="800" dirty="0"/>
            </a:p>
          </p:txBody>
        </p:sp>
        <p:sp>
          <p:nvSpPr>
            <p:cNvPr id="38" name="矩形 37">
              <a:extLst>
                <a:ext uri="{FF2B5EF4-FFF2-40B4-BE49-F238E27FC236}">
                  <a16:creationId xmlns:a16="http://schemas.microsoft.com/office/drawing/2014/main" id="{2F42D611-FEDE-03D2-4EC5-DB135B967AED}"/>
                </a:ext>
              </a:extLst>
            </p:cNvPr>
            <p:cNvSpPr/>
            <p:nvPr/>
          </p:nvSpPr>
          <p:spPr>
            <a:xfrm>
              <a:off x="9203062" y="5114573"/>
              <a:ext cx="132272" cy="132271"/>
            </a:xfrm>
            <a:prstGeom prst="rect">
              <a:avLst/>
            </a:prstGeom>
            <a:solidFill>
              <a:srgbClr val="DECEE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文本框 38">
              <a:extLst>
                <a:ext uri="{FF2B5EF4-FFF2-40B4-BE49-F238E27FC236}">
                  <a16:creationId xmlns:a16="http://schemas.microsoft.com/office/drawing/2014/main" id="{7AE4DD2E-AF0A-603A-7295-37F9DA31524E}"/>
                </a:ext>
              </a:extLst>
            </p:cNvPr>
            <p:cNvSpPr txBox="1"/>
            <p:nvPr/>
          </p:nvSpPr>
          <p:spPr>
            <a:xfrm>
              <a:off x="9182033" y="5068474"/>
              <a:ext cx="132272" cy="215444"/>
            </a:xfrm>
            <a:prstGeom prst="rect">
              <a:avLst/>
            </a:prstGeom>
            <a:noFill/>
          </p:spPr>
          <p:txBody>
            <a:bodyPr wrap="square" rtlCol="0">
              <a:spAutoFit/>
            </a:bodyPr>
            <a:lstStyle/>
            <a:p>
              <a:r>
                <a:rPr kumimoji="1" lang="en-US" altLang="zh-CN" sz="800" dirty="0"/>
                <a:t>4</a:t>
              </a:r>
              <a:endParaRPr kumimoji="1" lang="zh-CN" altLang="en-US" sz="800" dirty="0"/>
            </a:p>
          </p:txBody>
        </p:sp>
        <p:sp>
          <p:nvSpPr>
            <p:cNvPr id="40" name="文本框 39">
              <a:extLst>
                <a:ext uri="{FF2B5EF4-FFF2-40B4-BE49-F238E27FC236}">
                  <a16:creationId xmlns:a16="http://schemas.microsoft.com/office/drawing/2014/main" id="{D93946F1-1942-0B00-7443-13BBDCE49ACD}"/>
                </a:ext>
              </a:extLst>
            </p:cNvPr>
            <p:cNvSpPr txBox="1"/>
            <p:nvPr/>
          </p:nvSpPr>
          <p:spPr>
            <a:xfrm>
              <a:off x="9302904" y="5075805"/>
              <a:ext cx="380232" cy="215444"/>
            </a:xfrm>
            <a:prstGeom prst="rect">
              <a:avLst/>
            </a:prstGeom>
            <a:noFill/>
          </p:spPr>
          <p:txBody>
            <a:bodyPr wrap="none" rtlCol="0">
              <a:spAutoFit/>
            </a:bodyPr>
            <a:lstStyle/>
            <a:p>
              <a:r>
                <a:rPr kumimoji="1" lang="en-US" altLang="zh-CN" sz="800" dirty="0"/>
                <a:t>Dino</a:t>
              </a:r>
              <a:endParaRPr kumimoji="1" lang="zh-CN" altLang="en-US" sz="800" dirty="0"/>
            </a:p>
          </p:txBody>
        </p:sp>
        <p:sp>
          <p:nvSpPr>
            <p:cNvPr id="41" name="矩形 40">
              <a:extLst>
                <a:ext uri="{FF2B5EF4-FFF2-40B4-BE49-F238E27FC236}">
                  <a16:creationId xmlns:a16="http://schemas.microsoft.com/office/drawing/2014/main" id="{BD808777-C1E8-8432-BBC9-35E1662BEBF2}"/>
                </a:ext>
              </a:extLst>
            </p:cNvPr>
            <p:cNvSpPr/>
            <p:nvPr/>
          </p:nvSpPr>
          <p:spPr>
            <a:xfrm>
              <a:off x="9203062" y="5290016"/>
              <a:ext cx="132272" cy="132271"/>
            </a:xfrm>
            <a:prstGeom prst="rect">
              <a:avLst/>
            </a:prstGeom>
            <a:solidFill>
              <a:srgbClr val="CEBED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文本框 41">
              <a:extLst>
                <a:ext uri="{FF2B5EF4-FFF2-40B4-BE49-F238E27FC236}">
                  <a16:creationId xmlns:a16="http://schemas.microsoft.com/office/drawing/2014/main" id="{2829F29E-E88A-8CBB-C5A4-1263BCD37490}"/>
                </a:ext>
              </a:extLst>
            </p:cNvPr>
            <p:cNvSpPr txBox="1"/>
            <p:nvPr/>
          </p:nvSpPr>
          <p:spPr>
            <a:xfrm>
              <a:off x="9182033" y="5243917"/>
              <a:ext cx="132272" cy="215444"/>
            </a:xfrm>
            <a:prstGeom prst="rect">
              <a:avLst/>
            </a:prstGeom>
            <a:noFill/>
          </p:spPr>
          <p:txBody>
            <a:bodyPr wrap="square" rtlCol="0">
              <a:spAutoFit/>
            </a:bodyPr>
            <a:lstStyle/>
            <a:p>
              <a:r>
                <a:rPr kumimoji="1" lang="en-US" altLang="zh-CN" sz="800" dirty="0"/>
                <a:t>5</a:t>
              </a:r>
              <a:endParaRPr kumimoji="1" lang="zh-CN" altLang="en-US" sz="800" dirty="0"/>
            </a:p>
          </p:txBody>
        </p:sp>
        <p:sp>
          <p:nvSpPr>
            <p:cNvPr id="43" name="文本框 42">
              <a:extLst>
                <a:ext uri="{FF2B5EF4-FFF2-40B4-BE49-F238E27FC236}">
                  <a16:creationId xmlns:a16="http://schemas.microsoft.com/office/drawing/2014/main" id="{DFA14989-9F40-BF22-A403-98C3940BC775}"/>
                </a:ext>
              </a:extLst>
            </p:cNvPr>
            <p:cNvSpPr txBox="1"/>
            <p:nvPr/>
          </p:nvSpPr>
          <p:spPr>
            <a:xfrm>
              <a:off x="9302904" y="5259957"/>
              <a:ext cx="401072" cy="215444"/>
            </a:xfrm>
            <a:prstGeom prst="rect">
              <a:avLst/>
            </a:prstGeom>
            <a:noFill/>
          </p:spPr>
          <p:txBody>
            <a:bodyPr wrap="none" rtlCol="0">
              <a:spAutoFit/>
            </a:bodyPr>
            <a:lstStyle/>
            <a:p>
              <a:r>
                <a:rPr kumimoji="1" lang="en-US" altLang="zh-CN" sz="800" dirty="0"/>
                <a:t>BYOL</a:t>
              </a:r>
              <a:endParaRPr kumimoji="1" lang="zh-CN" altLang="en-US" sz="800" dirty="0"/>
            </a:p>
          </p:txBody>
        </p:sp>
        <p:sp>
          <p:nvSpPr>
            <p:cNvPr id="44" name="矩形 43">
              <a:extLst>
                <a:ext uri="{FF2B5EF4-FFF2-40B4-BE49-F238E27FC236}">
                  <a16:creationId xmlns:a16="http://schemas.microsoft.com/office/drawing/2014/main" id="{5CDCADE4-6261-C972-B754-3328C0DA4F0A}"/>
                </a:ext>
              </a:extLst>
            </p:cNvPr>
            <p:cNvSpPr/>
            <p:nvPr/>
          </p:nvSpPr>
          <p:spPr>
            <a:xfrm>
              <a:off x="9205754" y="5492761"/>
              <a:ext cx="132272" cy="132271"/>
            </a:xfrm>
            <a:prstGeom prst="rect">
              <a:avLst/>
            </a:prstGeom>
            <a:solidFill>
              <a:srgbClr val="DDEB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8609BFFB-BF8E-74CA-BEA0-B41A3FC472F0}"/>
                </a:ext>
              </a:extLst>
            </p:cNvPr>
            <p:cNvSpPr txBox="1"/>
            <p:nvPr/>
          </p:nvSpPr>
          <p:spPr>
            <a:xfrm>
              <a:off x="9184725" y="5446662"/>
              <a:ext cx="132272" cy="215444"/>
            </a:xfrm>
            <a:prstGeom prst="rect">
              <a:avLst/>
            </a:prstGeom>
            <a:noFill/>
          </p:spPr>
          <p:txBody>
            <a:bodyPr wrap="square" rtlCol="0">
              <a:spAutoFit/>
            </a:bodyPr>
            <a:lstStyle/>
            <a:p>
              <a:r>
                <a:rPr kumimoji="1" lang="en-US" altLang="zh-CN" sz="800" dirty="0"/>
                <a:t>6</a:t>
              </a:r>
              <a:endParaRPr kumimoji="1" lang="zh-CN" altLang="en-US" sz="800" dirty="0"/>
            </a:p>
          </p:txBody>
        </p:sp>
        <p:sp>
          <p:nvSpPr>
            <p:cNvPr id="46" name="文本框 45">
              <a:extLst>
                <a:ext uri="{FF2B5EF4-FFF2-40B4-BE49-F238E27FC236}">
                  <a16:creationId xmlns:a16="http://schemas.microsoft.com/office/drawing/2014/main" id="{B695F30B-EAF4-29A6-ABD6-06914C98F7E4}"/>
                </a:ext>
              </a:extLst>
            </p:cNvPr>
            <p:cNvSpPr txBox="1"/>
            <p:nvPr/>
          </p:nvSpPr>
          <p:spPr>
            <a:xfrm>
              <a:off x="9305596" y="5453993"/>
              <a:ext cx="401072" cy="215444"/>
            </a:xfrm>
            <a:prstGeom prst="rect">
              <a:avLst/>
            </a:prstGeom>
            <a:noFill/>
          </p:spPr>
          <p:txBody>
            <a:bodyPr wrap="none" rtlCol="0">
              <a:spAutoFit/>
            </a:bodyPr>
            <a:lstStyle/>
            <a:p>
              <a:r>
                <a:rPr kumimoji="1" lang="en-US" altLang="zh-CN" sz="800" dirty="0"/>
                <a:t>PEAC</a:t>
              </a:r>
              <a:endParaRPr kumimoji="1" lang="zh-CN" altLang="en-US" sz="800" dirty="0"/>
            </a:p>
          </p:txBody>
        </p:sp>
        <p:sp>
          <p:nvSpPr>
            <p:cNvPr id="47" name="矩形 46">
              <a:extLst>
                <a:ext uri="{FF2B5EF4-FFF2-40B4-BE49-F238E27FC236}">
                  <a16:creationId xmlns:a16="http://schemas.microsoft.com/office/drawing/2014/main" id="{0B919D7F-A365-1634-646F-94438FB21AF8}"/>
                </a:ext>
              </a:extLst>
            </p:cNvPr>
            <p:cNvSpPr/>
            <p:nvPr/>
          </p:nvSpPr>
          <p:spPr>
            <a:xfrm>
              <a:off x="9205754" y="5668204"/>
              <a:ext cx="132272" cy="132271"/>
            </a:xfrm>
            <a:prstGeom prst="rect">
              <a:avLst/>
            </a:prstGeom>
            <a:solidFill>
              <a:srgbClr val="DDEB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文本框 47">
              <a:extLst>
                <a:ext uri="{FF2B5EF4-FFF2-40B4-BE49-F238E27FC236}">
                  <a16:creationId xmlns:a16="http://schemas.microsoft.com/office/drawing/2014/main" id="{74FD5F27-FD8E-D2A5-0F86-AE572C2F4C97}"/>
                </a:ext>
              </a:extLst>
            </p:cNvPr>
            <p:cNvSpPr txBox="1"/>
            <p:nvPr/>
          </p:nvSpPr>
          <p:spPr>
            <a:xfrm>
              <a:off x="9184725" y="5622105"/>
              <a:ext cx="132272" cy="215444"/>
            </a:xfrm>
            <a:prstGeom prst="rect">
              <a:avLst/>
            </a:prstGeom>
            <a:noFill/>
          </p:spPr>
          <p:txBody>
            <a:bodyPr wrap="square" rtlCol="0">
              <a:spAutoFit/>
            </a:bodyPr>
            <a:lstStyle/>
            <a:p>
              <a:r>
                <a:rPr kumimoji="1" lang="en-US" altLang="zh-CN" sz="800" dirty="0"/>
                <a:t>7</a:t>
              </a:r>
              <a:endParaRPr kumimoji="1" lang="zh-CN" altLang="en-US" sz="800" dirty="0"/>
            </a:p>
          </p:txBody>
        </p:sp>
        <p:sp>
          <p:nvSpPr>
            <p:cNvPr id="49" name="文本框 48">
              <a:extLst>
                <a:ext uri="{FF2B5EF4-FFF2-40B4-BE49-F238E27FC236}">
                  <a16:creationId xmlns:a16="http://schemas.microsoft.com/office/drawing/2014/main" id="{8EAD95DF-EC5F-D313-FFB2-F558DA8C467D}"/>
                </a:ext>
              </a:extLst>
            </p:cNvPr>
            <p:cNvSpPr txBox="1"/>
            <p:nvPr/>
          </p:nvSpPr>
          <p:spPr>
            <a:xfrm>
              <a:off x="9305596" y="5629436"/>
              <a:ext cx="473206" cy="215444"/>
            </a:xfrm>
            <a:prstGeom prst="rect">
              <a:avLst/>
            </a:prstGeom>
            <a:noFill/>
          </p:spPr>
          <p:txBody>
            <a:bodyPr wrap="none" rtlCol="0">
              <a:spAutoFit/>
            </a:bodyPr>
            <a:lstStyle/>
            <a:p>
              <a:r>
                <a:rPr kumimoji="1" lang="en-US" altLang="zh-CN" sz="800" dirty="0"/>
                <a:t>POPAR</a:t>
              </a:r>
              <a:endParaRPr kumimoji="1" lang="zh-CN" altLang="en-US" sz="800" dirty="0"/>
            </a:p>
          </p:txBody>
        </p:sp>
        <p:sp>
          <p:nvSpPr>
            <p:cNvPr id="50" name="文本框 49">
              <a:extLst>
                <a:ext uri="{FF2B5EF4-FFF2-40B4-BE49-F238E27FC236}">
                  <a16:creationId xmlns:a16="http://schemas.microsoft.com/office/drawing/2014/main" id="{4D025875-B3EC-7756-4A30-B9AFCDA57A90}"/>
                </a:ext>
              </a:extLst>
            </p:cNvPr>
            <p:cNvSpPr txBox="1"/>
            <p:nvPr/>
          </p:nvSpPr>
          <p:spPr>
            <a:xfrm>
              <a:off x="10205576" y="4114477"/>
              <a:ext cx="1045479" cy="246221"/>
            </a:xfrm>
            <a:prstGeom prst="rect">
              <a:avLst/>
            </a:prstGeom>
            <a:noFill/>
          </p:spPr>
          <p:txBody>
            <a:bodyPr wrap="none" rtlCol="0">
              <a:spAutoFit/>
            </a:bodyPr>
            <a:lstStyle/>
            <a:p>
              <a:r>
                <a:rPr kumimoji="1" lang="en-US" altLang="zh-CN" sz="1000" b="1" dirty="0"/>
                <a:t>Vision Language</a:t>
              </a:r>
              <a:endParaRPr kumimoji="1" lang="zh-CN" altLang="en-US" sz="1000" b="1" dirty="0"/>
            </a:p>
          </p:txBody>
        </p:sp>
        <p:sp>
          <p:nvSpPr>
            <p:cNvPr id="51" name="矩形 50">
              <a:extLst>
                <a:ext uri="{FF2B5EF4-FFF2-40B4-BE49-F238E27FC236}">
                  <a16:creationId xmlns:a16="http://schemas.microsoft.com/office/drawing/2014/main" id="{7EA6F964-1346-5F68-22E1-8EE149093216}"/>
                </a:ext>
              </a:extLst>
            </p:cNvPr>
            <p:cNvSpPr/>
            <p:nvPr/>
          </p:nvSpPr>
          <p:spPr>
            <a:xfrm>
              <a:off x="10285326" y="4359120"/>
              <a:ext cx="132272" cy="132271"/>
            </a:xfrm>
            <a:prstGeom prst="rect">
              <a:avLst/>
            </a:prstGeom>
            <a:solidFill>
              <a:srgbClr val="E7EFD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文本框 51">
              <a:extLst>
                <a:ext uri="{FF2B5EF4-FFF2-40B4-BE49-F238E27FC236}">
                  <a16:creationId xmlns:a16="http://schemas.microsoft.com/office/drawing/2014/main" id="{E9A76E4D-A39B-53C1-4B32-23BCFE65F207}"/>
                </a:ext>
              </a:extLst>
            </p:cNvPr>
            <p:cNvSpPr txBox="1"/>
            <p:nvPr/>
          </p:nvSpPr>
          <p:spPr>
            <a:xfrm>
              <a:off x="10264297" y="4313021"/>
              <a:ext cx="132272" cy="215444"/>
            </a:xfrm>
            <a:prstGeom prst="rect">
              <a:avLst/>
            </a:prstGeom>
            <a:noFill/>
          </p:spPr>
          <p:txBody>
            <a:bodyPr wrap="square" rtlCol="0">
              <a:spAutoFit/>
            </a:bodyPr>
            <a:lstStyle/>
            <a:p>
              <a:r>
                <a:rPr kumimoji="1" lang="en-US" altLang="zh-CN" sz="800" dirty="0"/>
                <a:t>8</a:t>
              </a:r>
              <a:endParaRPr kumimoji="1" lang="zh-CN" altLang="en-US" sz="800" dirty="0"/>
            </a:p>
          </p:txBody>
        </p:sp>
        <p:sp>
          <p:nvSpPr>
            <p:cNvPr id="53" name="文本框 52">
              <a:extLst>
                <a:ext uri="{FF2B5EF4-FFF2-40B4-BE49-F238E27FC236}">
                  <a16:creationId xmlns:a16="http://schemas.microsoft.com/office/drawing/2014/main" id="{10D33401-6BC5-9317-5500-C48604447607}"/>
                </a:ext>
              </a:extLst>
            </p:cNvPr>
            <p:cNvSpPr txBox="1"/>
            <p:nvPr/>
          </p:nvSpPr>
          <p:spPr>
            <a:xfrm>
              <a:off x="10385168" y="4302934"/>
              <a:ext cx="359394" cy="215444"/>
            </a:xfrm>
            <a:prstGeom prst="rect">
              <a:avLst/>
            </a:prstGeom>
            <a:noFill/>
          </p:spPr>
          <p:txBody>
            <a:bodyPr wrap="none" rtlCol="0">
              <a:spAutoFit/>
            </a:bodyPr>
            <a:lstStyle/>
            <a:p>
              <a:r>
                <a:rPr kumimoji="1" lang="en-US" altLang="zh-CN" sz="800" dirty="0"/>
                <a:t>KAD</a:t>
              </a:r>
              <a:endParaRPr kumimoji="1" lang="zh-CN" altLang="en-US" sz="800" dirty="0"/>
            </a:p>
          </p:txBody>
        </p:sp>
        <p:sp>
          <p:nvSpPr>
            <p:cNvPr id="54" name="矩形 53">
              <a:extLst>
                <a:ext uri="{FF2B5EF4-FFF2-40B4-BE49-F238E27FC236}">
                  <a16:creationId xmlns:a16="http://schemas.microsoft.com/office/drawing/2014/main" id="{7E9C1C96-BC5B-B944-27A8-1274CBC59EDD}"/>
                </a:ext>
              </a:extLst>
            </p:cNvPr>
            <p:cNvSpPr/>
            <p:nvPr/>
          </p:nvSpPr>
          <p:spPr>
            <a:xfrm>
              <a:off x="10285326" y="4534563"/>
              <a:ext cx="132272" cy="132271"/>
            </a:xfrm>
            <a:prstGeom prst="rect">
              <a:avLst/>
            </a:prstGeom>
            <a:solidFill>
              <a:srgbClr val="D6DEC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文本框 54">
              <a:extLst>
                <a:ext uri="{FF2B5EF4-FFF2-40B4-BE49-F238E27FC236}">
                  <a16:creationId xmlns:a16="http://schemas.microsoft.com/office/drawing/2014/main" id="{4E586152-E931-5615-6D96-11842CBA867D}"/>
                </a:ext>
              </a:extLst>
            </p:cNvPr>
            <p:cNvSpPr txBox="1"/>
            <p:nvPr/>
          </p:nvSpPr>
          <p:spPr>
            <a:xfrm>
              <a:off x="10264297" y="4488464"/>
              <a:ext cx="132272" cy="215444"/>
            </a:xfrm>
            <a:prstGeom prst="rect">
              <a:avLst/>
            </a:prstGeom>
            <a:noFill/>
          </p:spPr>
          <p:txBody>
            <a:bodyPr wrap="square" rtlCol="0">
              <a:spAutoFit/>
            </a:bodyPr>
            <a:lstStyle/>
            <a:p>
              <a:r>
                <a:rPr kumimoji="1" lang="en-US" altLang="zh-CN" sz="800" dirty="0"/>
                <a:t>9</a:t>
              </a:r>
              <a:endParaRPr kumimoji="1" lang="zh-CN" altLang="en-US" sz="800" dirty="0"/>
            </a:p>
          </p:txBody>
        </p:sp>
        <p:sp>
          <p:nvSpPr>
            <p:cNvPr id="56" name="文本框 55">
              <a:extLst>
                <a:ext uri="{FF2B5EF4-FFF2-40B4-BE49-F238E27FC236}">
                  <a16:creationId xmlns:a16="http://schemas.microsoft.com/office/drawing/2014/main" id="{7D096BB6-0450-8034-96A0-290BC03666AB}"/>
                </a:ext>
              </a:extLst>
            </p:cNvPr>
            <p:cNvSpPr txBox="1"/>
            <p:nvPr/>
          </p:nvSpPr>
          <p:spPr>
            <a:xfrm>
              <a:off x="10385168" y="4478377"/>
              <a:ext cx="494046" cy="215444"/>
            </a:xfrm>
            <a:prstGeom prst="rect">
              <a:avLst/>
            </a:prstGeom>
            <a:noFill/>
          </p:spPr>
          <p:txBody>
            <a:bodyPr wrap="none" rtlCol="0">
              <a:spAutoFit/>
            </a:bodyPr>
            <a:lstStyle/>
            <a:p>
              <a:r>
                <a:rPr kumimoji="1" lang="en-US" altLang="zh-CN" sz="800" dirty="0" err="1"/>
                <a:t>DeViDe</a:t>
              </a:r>
              <a:endParaRPr kumimoji="1" lang="zh-CN" altLang="en-US" sz="800" dirty="0"/>
            </a:p>
          </p:txBody>
        </p:sp>
        <p:sp>
          <p:nvSpPr>
            <p:cNvPr id="57" name="文本框 56">
              <a:extLst>
                <a:ext uri="{FF2B5EF4-FFF2-40B4-BE49-F238E27FC236}">
                  <a16:creationId xmlns:a16="http://schemas.microsoft.com/office/drawing/2014/main" id="{34171657-716E-F984-0014-2F25A9566DC4}"/>
                </a:ext>
              </a:extLst>
            </p:cNvPr>
            <p:cNvSpPr txBox="1"/>
            <p:nvPr/>
          </p:nvSpPr>
          <p:spPr>
            <a:xfrm>
              <a:off x="10183725" y="4639065"/>
              <a:ext cx="772969" cy="246221"/>
            </a:xfrm>
            <a:prstGeom prst="rect">
              <a:avLst/>
            </a:prstGeom>
            <a:noFill/>
          </p:spPr>
          <p:txBody>
            <a:bodyPr wrap="none" rtlCol="0">
              <a:spAutoFit/>
            </a:bodyPr>
            <a:lstStyle/>
            <a:p>
              <a:r>
                <a:rPr kumimoji="1" lang="en-US" altLang="zh-CN" sz="1000" b="1" dirty="0"/>
                <a:t>Large-scale</a:t>
              </a:r>
              <a:endParaRPr kumimoji="1" lang="zh-CN" altLang="en-US" sz="1000" b="1" dirty="0"/>
            </a:p>
          </p:txBody>
        </p:sp>
        <p:sp>
          <p:nvSpPr>
            <p:cNvPr id="58" name="矩形 57">
              <a:extLst>
                <a:ext uri="{FF2B5EF4-FFF2-40B4-BE49-F238E27FC236}">
                  <a16:creationId xmlns:a16="http://schemas.microsoft.com/office/drawing/2014/main" id="{96BF808A-00BB-61CE-CC5E-CD28B51FD6BC}"/>
                </a:ext>
              </a:extLst>
            </p:cNvPr>
            <p:cNvSpPr/>
            <p:nvPr/>
          </p:nvSpPr>
          <p:spPr>
            <a:xfrm>
              <a:off x="10271788" y="4883708"/>
              <a:ext cx="132272" cy="132271"/>
            </a:xfrm>
            <a:prstGeom prst="rect">
              <a:avLst/>
            </a:prstGeom>
            <a:solidFill>
              <a:srgbClr val="DEF8F8"/>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文本框 58">
              <a:extLst>
                <a:ext uri="{FF2B5EF4-FFF2-40B4-BE49-F238E27FC236}">
                  <a16:creationId xmlns:a16="http://schemas.microsoft.com/office/drawing/2014/main" id="{F40D038F-7CA5-A35D-7956-C02970A3C177}"/>
                </a:ext>
              </a:extLst>
            </p:cNvPr>
            <p:cNvSpPr txBox="1"/>
            <p:nvPr/>
          </p:nvSpPr>
          <p:spPr>
            <a:xfrm>
              <a:off x="10189741" y="4845423"/>
              <a:ext cx="344965" cy="215444"/>
            </a:xfrm>
            <a:prstGeom prst="rect">
              <a:avLst/>
            </a:prstGeom>
            <a:noFill/>
          </p:spPr>
          <p:txBody>
            <a:bodyPr wrap="square" rtlCol="0">
              <a:spAutoFit/>
            </a:bodyPr>
            <a:lstStyle/>
            <a:p>
              <a:r>
                <a:rPr kumimoji="1" lang="en-US" altLang="zh-CN" sz="800" dirty="0"/>
                <a:t>10</a:t>
              </a:r>
              <a:endParaRPr kumimoji="1" lang="zh-CN" altLang="en-US" sz="800" dirty="0"/>
            </a:p>
          </p:txBody>
        </p:sp>
        <p:sp>
          <p:nvSpPr>
            <p:cNvPr id="60" name="文本框 59">
              <a:extLst>
                <a:ext uri="{FF2B5EF4-FFF2-40B4-BE49-F238E27FC236}">
                  <a16:creationId xmlns:a16="http://schemas.microsoft.com/office/drawing/2014/main" id="{91A4EE20-DF8C-2ABB-E767-EFE7819EC3E5}"/>
                </a:ext>
              </a:extLst>
            </p:cNvPr>
            <p:cNvSpPr txBox="1"/>
            <p:nvPr/>
          </p:nvSpPr>
          <p:spPr>
            <a:xfrm>
              <a:off x="10371630" y="4827522"/>
              <a:ext cx="325730" cy="215444"/>
            </a:xfrm>
            <a:prstGeom prst="rect">
              <a:avLst/>
            </a:prstGeom>
            <a:noFill/>
          </p:spPr>
          <p:txBody>
            <a:bodyPr wrap="none" rtlCol="0">
              <a:spAutoFit/>
            </a:bodyPr>
            <a:lstStyle/>
            <a:p>
              <a:r>
                <a:rPr kumimoji="1" lang="en-US" altLang="zh-CN" sz="800" dirty="0"/>
                <a:t>Ark</a:t>
              </a:r>
              <a:endParaRPr kumimoji="1" lang="zh-CN" altLang="en-US" sz="800" dirty="0"/>
            </a:p>
          </p:txBody>
        </p:sp>
        <p:sp>
          <p:nvSpPr>
            <p:cNvPr id="61" name="矩形 60">
              <a:extLst>
                <a:ext uri="{FF2B5EF4-FFF2-40B4-BE49-F238E27FC236}">
                  <a16:creationId xmlns:a16="http://schemas.microsoft.com/office/drawing/2014/main" id="{AB5EBBD9-92F1-3984-3E73-375F18E95300}"/>
                </a:ext>
              </a:extLst>
            </p:cNvPr>
            <p:cNvSpPr/>
            <p:nvPr/>
          </p:nvSpPr>
          <p:spPr>
            <a:xfrm>
              <a:off x="10271788" y="5059151"/>
              <a:ext cx="132272" cy="132271"/>
            </a:xfrm>
            <a:prstGeom prst="rect">
              <a:avLst/>
            </a:prstGeom>
            <a:solidFill>
              <a:srgbClr val="CEEFF8"/>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文本框 61">
              <a:extLst>
                <a:ext uri="{FF2B5EF4-FFF2-40B4-BE49-F238E27FC236}">
                  <a16:creationId xmlns:a16="http://schemas.microsoft.com/office/drawing/2014/main" id="{13591573-FF61-48FD-946D-7462EE2C2846}"/>
                </a:ext>
              </a:extLst>
            </p:cNvPr>
            <p:cNvSpPr txBox="1"/>
            <p:nvPr/>
          </p:nvSpPr>
          <p:spPr>
            <a:xfrm>
              <a:off x="10197859" y="5013052"/>
              <a:ext cx="328735" cy="215444"/>
            </a:xfrm>
            <a:prstGeom prst="rect">
              <a:avLst/>
            </a:prstGeom>
            <a:noFill/>
          </p:spPr>
          <p:txBody>
            <a:bodyPr wrap="square" rtlCol="0">
              <a:spAutoFit/>
            </a:bodyPr>
            <a:lstStyle/>
            <a:p>
              <a:r>
                <a:rPr kumimoji="1" lang="en-US" altLang="zh-CN" sz="800" dirty="0"/>
                <a:t>11</a:t>
              </a:r>
              <a:endParaRPr kumimoji="1" lang="zh-CN" altLang="en-US" sz="800" dirty="0"/>
            </a:p>
          </p:txBody>
        </p:sp>
        <p:sp>
          <p:nvSpPr>
            <p:cNvPr id="63" name="文本框 62">
              <a:extLst>
                <a:ext uri="{FF2B5EF4-FFF2-40B4-BE49-F238E27FC236}">
                  <a16:creationId xmlns:a16="http://schemas.microsoft.com/office/drawing/2014/main" id="{2C10B302-AD35-5395-AE38-0D9DD0BF3166}"/>
                </a:ext>
              </a:extLst>
            </p:cNvPr>
            <p:cNvSpPr txBox="1"/>
            <p:nvPr/>
          </p:nvSpPr>
          <p:spPr>
            <a:xfrm>
              <a:off x="10371630" y="5002965"/>
              <a:ext cx="598241" cy="215444"/>
            </a:xfrm>
            <a:prstGeom prst="rect">
              <a:avLst/>
            </a:prstGeom>
            <a:noFill/>
          </p:spPr>
          <p:txBody>
            <a:bodyPr wrap="none" rtlCol="0">
              <a:spAutoFit/>
            </a:bodyPr>
            <a:lstStyle/>
            <a:p>
              <a:r>
                <a:rPr kumimoji="1" lang="en-US" altLang="zh-CN" sz="800" dirty="0"/>
                <a:t>Rad-DINO</a:t>
              </a:r>
              <a:endParaRPr kumimoji="1" lang="zh-CN" altLang="en-US" sz="800" dirty="0"/>
            </a:p>
          </p:txBody>
        </p:sp>
        <p:sp>
          <p:nvSpPr>
            <p:cNvPr id="64" name="文本框 63">
              <a:extLst>
                <a:ext uri="{FF2B5EF4-FFF2-40B4-BE49-F238E27FC236}">
                  <a16:creationId xmlns:a16="http://schemas.microsoft.com/office/drawing/2014/main" id="{FE23C8FA-448B-2661-123B-9A1B99B52867}"/>
                </a:ext>
              </a:extLst>
            </p:cNvPr>
            <p:cNvSpPr txBox="1"/>
            <p:nvPr/>
          </p:nvSpPr>
          <p:spPr>
            <a:xfrm>
              <a:off x="10195126" y="5158708"/>
              <a:ext cx="436338" cy="246221"/>
            </a:xfrm>
            <a:prstGeom prst="rect">
              <a:avLst/>
            </a:prstGeom>
            <a:noFill/>
          </p:spPr>
          <p:txBody>
            <a:bodyPr wrap="none" rtlCol="0">
              <a:spAutoFit/>
            </a:bodyPr>
            <a:lstStyle/>
            <a:p>
              <a:r>
                <a:rPr kumimoji="1" lang="en-US" altLang="zh-CN" sz="1000" b="1" dirty="0"/>
                <a:t>Ours</a:t>
              </a:r>
              <a:endParaRPr kumimoji="1" lang="zh-CN" altLang="en-US" sz="1000" b="1" dirty="0"/>
            </a:p>
          </p:txBody>
        </p:sp>
        <p:sp>
          <p:nvSpPr>
            <p:cNvPr id="65" name="矩形 64">
              <a:extLst>
                <a:ext uri="{FF2B5EF4-FFF2-40B4-BE49-F238E27FC236}">
                  <a16:creationId xmlns:a16="http://schemas.microsoft.com/office/drawing/2014/main" id="{00999800-CC3B-EE55-A3D7-C2D3F7B702C9}"/>
                </a:ext>
              </a:extLst>
            </p:cNvPr>
            <p:cNvSpPr/>
            <p:nvPr/>
          </p:nvSpPr>
          <p:spPr>
            <a:xfrm>
              <a:off x="10283189" y="5371821"/>
              <a:ext cx="132272" cy="132271"/>
            </a:xfrm>
            <a:prstGeom prst="rect">
              <a:avLst/>
            </a:prstGeom>
            <a:solidFill>
              <a:srgbClr val="FFCEA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6" name="文本框 65">
              <a:extLst>
                <a:ext uri="{FF2B5EF4-FFF2-40B4-BE49-F238E27FC236}">
                  <a16:creationId xmlns:a16="http://schemas.microsoft.com/office/drawing/2014/main" id="{B1169E28-3F1B-9959-2DC9-AA5E9AA5F682}"/>
                </a:ext>
              </a:extLst>
            </p:cNvPr>
            <p:cNvSpPr txBox="1"/>
            <p:nvPr/>
          </p:nvSpPr>
          <p:spPr>
            <a:xfrm>
              <a:off x="10209260" y="5325722"/>
              <a:ext cx="392877" cy="215444"/>
            </a:xfrm>
            <a:prstGeom prst="rect">
              <a:avLst/>
            </a:prstGeom>
            <a:noFill/>
          </p:spPr>
          <p:txBody>
            <a:bodyPr wrap="square" rtlCol="0">
              <a:spAutoFit/>
            </a:bodyPr>
            <a:lstStyle/>
            <a:p>
              <a:r>
                <a:rPr kumimoji="1" lang="en-US" altLang="zh-CN" sz="800" dirty="0"/>
                <a:t>12</a:t>
              </a:r>
              <a:endParaRPr kumimoji="1" lang="zh-CN" altLang="en-US" sz="800" dirty="0"/>
            </a:p>
          </p:txBody>
        </p:sp>
        <p:sp>
          <p:nvSpPr>
            <p:cNvPr id="67" name="文本框 66">
              <a:extLst>
                <a:ext uri="{FF2B5EF4-FFF2-40B4-BE49-F238E27FC236}">
                  <a16:creationId xmlns:a16="http://schemas.microsoft.com/office/drawing/2014/main" id="{A3226F50-4454-48D6-5CB1-10602A9CF1FF}"/>
                </a:ext>
              </a:extLst>
            </p:cNvPr>
            <p:cNvSpPr txBox="1"/>
            <p:nvPr/>
          </p:nvSpPr>
          <p:spPr>
            <a:xfrm>
              <a:off x="10355407" y="5325016"/>
              <a:ext cx="952505" cy="215444"/>
            </a:xfrm>
            <a:prstGeom prst="rect">
              <a:avLst/>
            </a:prstGeom>
            <a:noFill/>
          </p:spPr>
          <p:txBody>
            <a:bodyPr wrap="none" rtlCol="0">
              <a:spAutoFit/>
            </a:bodyPr>
            <a:lstStyle/>
            <a:p>
              <a:r>
                <a:rPr kumimoji="1" lang="en-US" altLang="zh-CN" sz="800" b="1" dirty="0"/>
                <a:t>Lamps </a:t>
              </a:r>
              <a:r>
                <a:rPr kumimoji="1" lang="en-US" altLang="zh-CN" sz="600" b="1" dirty="0"/>
                <a:t>(ChestX-ray14)</a:t>
              </a:r>
              <a:endParaRPr kumimoji="1" lang="zh-CN" altLang="en-US" sz="800" b="1" dirty="0"/>
            </a:p>
          </p:txBody>
        </p:sp>
        <p:sp>
          <p:nvSpPr>
            <p:cNvPr id="68" name="矩形 67">
              <a:extLst>
                <a:ext uri="{FF2B5EF4-FFF2-40B4-BE49-F238E27FC236}">
                  <a16:creationId xmlns:a16="http://schemas.microsoft.com/office/drawing/2014/main" id="{14CCE355-0777-E718-BA71-6814B5E72CEB}"/>
                </a:ext>
              </a:extLst>
            </p:cNvPr>
            <p:cNvSpPr/>
            <p:nvPr/>
          </p:nvSpPr>
          <p:spPr>
            <a:xfrm>
              <a:off x="10283189" y="5547264"/>
              <a:ext cx="132272" cy="132271"/>
            </a:xfrm>
            <a:prstGeom prst="rect">
              <a:avLst/>
            </a:prstGeom>
            <a:solidFill>
              <a:srgbClr val="FF840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 name="文本框 68">
              <a:extLst>
                <a:ext uri="{FF2B5EF4-FFF2-40B4-BE49-F238E27FC236}">
                  <a16:creationId xmlns:a16="http://schemas.microsoft.com/office/drawing/2014/main" id="{E5F0C357-1CD4-C193-D889-E7F2993A1442}"/>
                </a:ext>
              </a:extLst>
            </p:cNvPr>
            <p:cNvSpPr txBox="1"/>
            <p:nvPr/>
          </p:nvSpPr>
          <p:spPr>
            <a:xfrm>
              <a:off x="10209260" y="5501165"/>
              <a:ext cx="339977" cy="215444"/>
            </a:xfrm>
            <a:prstGeom prst="rect">
              <a:avLst/>
            </a:prstGeom>
            <a:noFill/>
          </p:spPr>
          <p:txBody>
            <a:bodyPr wrap="square" rtlCol="0">
              <a:spAutoFit/>
            </a:bodyPr>
            <a:lstStyle/>
            <a:p>
              <a:r>
                <a:rPr kumimoji="1" lang="en-US" altLang="zh-CN" sz="800" dirty="0"/>
                <a:t>13</a:t>
              </a:r>
              <a:endParaRPr kumimoji="1" lang="zh-CN" altLang="en-US" sz="800" dirty="0"/>
            </a:p>
          </p:txBody>
        </p:sp>
        <p:sp>
          <p:nvSpPr>
            <p:cNvPr id="70" name="文本框 69">
              <a:extLst>
                <a:ext uri="{FF2B5EF4-FFF2-40B4-BE49-F238E27FC236}">
                  <a16:creationId xmlns:a16="http://schemas.microsoft.com/office/drawing/2014/main" id="{BBD8DA91-0804-C5A8-3EB2-7EAC7451B158}"/>
                </a:ext>
              </a:extLst>
            </p:cNvPr>
            <p:cNvSpPr txBox="1"/>
            <p:nvPr/>
          </p:nvSpPr>
          <p:spPr>
            <a:xfrm>
              <a:off x="10352374" y="5497235"/>
              <a:ext cx="872355" cy="215444"/>
            </a:xfrm>
            <a:prstGeom prst="rect">
              <a:avLst/>
            </a:prstGeom>
            <a:noFill/>
          </p:spPr>
          <p:txBody>
            <a:bodyPr wrap="none" rtlCol="0">
              <a:spAutoFit/>
            </a:bodyPr>
            <a:lstStyle/>
            <a:p>
              <a:r>
                <a:rPr kumimoji="1" lang="en-US" altLang="zh-CN" sz="800" b="1" dirty="0"/>
                <a:t>Lamps </a:t>
              </a:r>
              <a:r>
                <a:rPr kumimoji="1" lang="en-US" altLang="zh-CN" sz="600" b="1" dirty="0"/>
                <a:t>(large-scale)</a:t>
              </a:r>
              <a:endParaRPr kumimoji="1" lang="zh-CN" altLang="en-US" sz="800" b="1" dirty="0"/>
            </a:p>
          </p:txBody>
        </p:sp>
        <p:sp>
          <p:nvSpPr>
            <p:cNvPr id="71" name="文本框 70">
              <a:extLst>
                <a:ext uri="{FF2B5EF4-FFF2-40B4-BE49-F238E27FC236}">
                  <a16:creationId xmlns:a16="http://schemas.microsoft.com/office/drawing/2014/main" id="{9C76EEA7-A375-2DF6-AE37-F2CCC22904EB}"/>
                </a:ext>
              </a:extLst>
            </p:cNvPr>
            <p:cNvSpPr txBox="1"/>
            <p:nvPr/>
          </p:nvSpPr>
          <p:spPr>
            <a:xfrm>
              <a:off x="9574957" y="5765788"/>
              <a:ext cx="1319592" cy="200055"/>
            </a:xfrm>
            <a:prstGeom prst="rect">
              <a:avLst/>
            </a:prstGeom>
            <a:noFill/>
          </p:spPr>
          <p:txBody>
            <a:bodyPr wrap="none" rtlCol="0">
              <a:spAutoFit/>
            </a:bodyPr>
            <a:lstStyle/>
            <a:p>
              <a:r>
                <a:rPr kumimoji="1" lang="en-US" altLang="zh-CN" sz="700" b="1" dirty="0"/>
                <a:t>Statistical significance analysis</a:t>
              </a:r>
              <a:endParaRPr kumimoji="1" lang="zh-CN" altLang="en-US" sz="700" b="1" dirty="0"/>
            </a:p>
          </p:txBody>
        </p:sp>
        <p:sp>
          <p:nvSpPr>
            <p:cNvPr id="72" name="文本框 71">
              <a:extLst>
                <a:ext uri="{FF2B5EF4-FFF2-40B4-BE49-F238E27FC236}">
                  <a16:creationId xmlns:a16="http://schemas.microsoft.com/office/drawing/2014/main" id="{E1A1F866-4B70-FB71-E2A5-FAFC6D3A1742}"/>
                </a:ext>
              </a:extLst>
            </p:cNvPr>
            <p:cNvSpPr txBox="1"/>
            <p:nvPr/>
          </p:nvSpPr>
          <p:spPr>
            <a:xfrm>
              <a:off x="9218387" y="5945818"/>
              <a:ext cx="782587" cy="184666"/>
            </a:xfrm>
            <a:prstGeom prst="rect">
              <a:avLst/>
            </a:prstGeom>
            <a:noFill/>
          </p:spPr>
          <p:txBody>
            <a:bodyPr wrap="none" rtlCol="0">
              <a:spAutoFit/>
            </a:bodyPr>
            <a:lstStyle/>
            <a:p>
              <a:r>
                <a:rPr kumimoji="1" lang="en-US" altLang="zh-CN" sz="600" dirty="0" err="1"/>
                <a:t>n.s</a:t>
              </a:r>
              <a:r>
                <a:rPr kumimoji="1" lang="en-US" altLang="zh-CN" sz="600" dirty="0"/>
                <a:t>. No significance</a:t>
              </a:r>
              <a:endParaRPr kumimoji="1" lang="zh-CN" altLang="en-US" sz="600" dirty="0"/>
            </a:p>
          </p:txBody>
        </p:sp>
        <mc:AlternateContent xmlns:mc="http://schemas.openxmlformats.org/markup-compatibility/2006">
          <mc:Choice xmlns:a14="http://schemas.microsoft.com/office/drawing/2010/main" Requires="a14">
            <p:sp>
              <p:nvSpPr>
                <p:cNvPr id="73" name="文本框 72">
                  <a:extLst>
                    <a:ext uri="{FF2B5EF4-FFF2-40B4-BE49-F238E27FC236}">
                      <a16:creationId xmlns:a16="http://schemas.microsoft.com/office/drawing/2014/main" id="{3D4B41F8-60E1-C2DF-49BC-21E44043A23E}"/>
                    </a:ext>
                  </a:extLst>
                </p:cNvPr>
                <p:cNvSpPr txBox="1"/>
                <p:nvPr/>
              </p:nvSpPr>
              <p:spPr>
                <a:xfrm>
                  <a:off x="10020380" y="5911714"/>
                  <a:ext cx="1287532" cy="461665"/>
                </a:xfrm>
                <a:prstGeom prst="rect">
                  <a:avLst/>
                </a:prstGeom>
                <a:noFill/>
              </p:spPr>
              <p:txBody>
                <a:bodyPr wrap="none" rtlCol="0">
                  <a:spAutoFit/>
                </a:bodyPr>
                <a:lstStyle/>
                <a:p>
                  <a14:m>
                    <m:oMath xmlns:m="http://schemas.openxmlformats.org/officeDocument/2006/math">
                      <m:r>
                        <a:rPr kumimoji="1" lang="en-US" altLang="zh-CN" sz="600" i="1" smtClean="0">
                          <a:latin typeface="Cambria Math" panose="02040503050406030204" pitchFamily="18" charset="0"/>
                          <a:ea typeface="Cambria Math" panose="02040503050406030204" pitchFamily="18" charset="0"/>
                        </a:rPr>
                        <m:t>∗</m:t>
                      </m:r>
                    </m:oMath>
                  </a14:m>
                  <a:r>
                    <a:rPr kumimoji="1" lang="en-US" altLang="zh-CN" sz="600" dirty="0"/>
                    <a:t> p&lt;0.05            </a:t>
                  </a:r>
                  <a14:m>
                    <m:oMath xmlns:m="http://schemas.openxmlformats.org/officeDocument/2006/math">
                      <m:r>
                        <a:rPr kumimoji="1" lang="en-US" altLang="zh-CN" sz="600" b="0" i="1" smtClean="0">
                          <a:latin typeface="Cambria Math" panose="02040503050406030204" pitchFamily="18" charset="0"/>
                        </a:rPr>
                        <m:t>∗∗</m:t>
                      </m:r>
                    </m:oMath>
                  </a14:m>
                  <a:r>
                    <a:rPr kumimoji="1" lang="en-US" altLang="zh-CN" sz="600" dirty="0"/>
                    <a:t> p&lt;0.01       </a:t>
                  </a:r>
                </a:p>
                <a:p>
                  <a14:m>
                    <m:oMath xmlns:m="http://schemas.openxmlformats.org/officeDocument/2006/math">
                      <m:r>
                        <a:rPr kumimoji="1" lang="en-US" altLang="zh-CN" sz="600" i="1" smtClean="0">
                          <a:latin typeface="Cambria Math" panose="02040503050406030204" pitchFamily="18" charset="0"/>
                          <a:ea typeface="Cambria Math" panose="02040503050406030204" pitchFamily="18" charset="0"/>
                        </a:rPr>
                        <m:t>∗</m:t>
                      </m:r>
                      <m:r>
                        <a:rPr kumimoji="1" lang="en-US" altLang="zh-CN" sz="600" b="0" i="1" smtClean="0">
                          <a:latin typeface="Cambria Math" panose="02040503050406030204" pitchFamily="18" charset="0"/>
                          <a:ea typeface="Cambria Math" panose="02040503050406030204" pitchFamily="18" charset="0"/>
                        </a:rPr>
                        <m:t>∗∗</m:t>
                      </m:r>
                    </m:oMath>
                  </a14:m>
                  <a:r>
                    <a:rPr kumimoji="1" lang="en-US" altLang="zh-CN" sz="600" dirty="0"/>
                    <a:t> p&lt;0.001      </a:t>
                  </a:r>
                  <a14:m>
                    <m:oMath xmlns:m="http://schemas.openxmlformats.org/officeDocument/2006/math">
                      <m:r>
                        <a:rPr kumimoji="1" lang="en-US" altLang="zh-CN" sz="600" b="0" i="0" smtClean="0">
                          <a:latin typeface="Cambria Math" panose="02040503050406030204" pitchFamily="18" charset="0"/>
                        </a:rPr>
                        <m:t>&gt;∗</m:t>
                      </m:r>
                      <m:r>
                        <a:rPr kumimoji="1" lang="en-US" altLang="zh-CN" sz="600" b="0" i="1" smtClean="0">
                          <a:latin typeface="Cambria Math" panose="02040503050406030204" pitchFamily="18" charset="0"/>
                        </a:rPr>
                        <m:t>∗∗</m:t>
                      </m:r>
                    </m:oMath>
                  </a14:m>
                  <a:r>
                    <a:rPr kumimoji="1" lang="en-US" altLang="zh-CN" sz="600" dirty="0"/>
                    <a:t> p&lt;0.0001        </a:t>
                  </a:r>
                  <a:endParaRPr kumimoji="1" lang="zh-CN" altLang="en-US" sz="600" dirty="0"/>
                </a:p>
                <a:p>
                  <a:r>
                    <a:rPr kumimoji="1" lang="en-US" altLang="zh-CN" sz="600" dirty="0"/>
                    <a:t> </a:t>
                  </a:r>
                  <a:endParaRPr kumimoji="1" lang="zh-CN" altLang="en-US" sz="600" dirty="0"/>
                </a:p>
                <a:p>
                  <a:r>
                    <a:rPr kumimoji="1" lang="en-US" altLang="zh-CN" sz="600" dirty="0"/>
                    <a:t>  </a:t>
                  </a:r>
                  <a:endParaRPr kumimoji="1" lang="zh-CN" altLang="en-US" sz="600" dirty="0"/>
                </a:p>
              </p:txBody>
            </p:sp>
          </mc:Choice>
          <mc:Fallback>
            <p:sp>
              <p:nvSpPr>
                <p:cNvPr id="73" name="文本框 72">
                  <a:extLst>
                    <a:ext uri="{FF2B5EF4-FFF2-40B4-BE49-F238E27FC236}">
                      <a16:creationId xmlns:a16="http://schemas.microsoft.com/office/drawing/2014/main" id="{3D4B41F8-60E1-C2DF-49BC-21E44043A23E}"/>
                    </a:ext>
                  </a:extLst>
                </p:cNvPr>
                <p:cNvSpPr txBox="1">
                  <a:spLocks noRot="1" noChangeAspect="1" noMove="1" noResize="1" noEditPoints="1" noAdjustHandles="1" noChangeArrowheads="1" noChangeShapeType="1" noTextEdit="1"/>
                </p:cNvSpPr>
                <p:nvPr/>
              </p:nvSpPr>
              <p:spPr>
                <a:xfrm>
                  <a:off x="10020380" y="5911714"/>
                  <a:ext cx="1287532" cy="461665"/>
                </a:xfrm>
                <a:prstGeom prst="rect">
                  <a:avLst/>
                </a:prstGeom>
                <a:blipFill>
                  <a:blip r:embed="rId14"/>
                  <a:stretch>
                    <a:fillRect r="-1942"/>
                  </a:stretch>
                </a:blipFill>
              </p:spPr>
              <p:txBody>
                <a:bodyPr/>
                <a:lstStyle/>
                <a:p>
                  <a:r>
                    <a:rPr lang="zh-CN" altLang="en-US">
                      <a:noFill/>
                    </a:rPr>
                    <a:t> </a:t>
                  </a:r>
                </a:p>
              </p:txBody>
            </p:sp>
          </mc:Fallback>
        </mc:AlternateContent>
      </p:grpSp>
      <p:pic>
        <p:nvPicPr>
          <p:cNvPr id="94" name="音频 93">
            <a:extLst>
              <a:ext uri="{FF2B5EF4-FFF2-40B4-BE49-F238E27FC236}">
                <a16:creationId xmlns:a16="http://schemas.microsoft.com/office/drawing/2014/main" id="{32D2447A-F040-4685-C185-56A45329282C}"/>
              </a:ext>
            </a:extLst>
          </p:cNvPr>
          <p:cNvPicPr>
            <a:picLocks noChangeAspect="1"/>
          </p:cNvPicPr>
          <p:nvPr>
            <a:audioFile r:link="rId2"/>
            <p:extLst>
              <p:ext uri="{DAA4B4D4-6D71-4841-9C94-3DE7FCFB9230}">
                <p14:media xmlns:p14="http://schemas.microsoft.com/office/powerpoint/2010/main" r:embed="rId1"/>
              </p:ext>
            </p:extLst>
          </p:nvPr>
        </p:nvPicPr>
        <p:blipFill>
          <a:blip r:embed="rId1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362783483"/>
      </p:ext>
    </p:extLst>
  </p:cSld>
  <p:clrMapOvr>
    <a:masterClrMapping/>
  </p:clrMapOvr>
  <mc:AlternateContent xmlns:mc="http://schemas.openxmlformats.org/markup-compatibility/2006">
    <mc:Choice xmlns:p14="http://schemas.microsoft.com/office/powerpoint/2010/main" Requires="p14">
      <p:transition spd="slow" p14:dur="2000" advTm="35247"/>
    </mc:Choice>
    <mc:Fallback>
      <p:transition spd="slow" advTm="3524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E0D9629-F7F9-82BE-0077-5B6CDC3BD80F}"/>
              </a:ext>
            </a:extLst>
          </p:cNvPr>
          <p:cNvSpPr txBox="1"/>
          <p:nvPr/>
        </p:nvSpPr>
        <p:spPr>
          <a:xfrm>
            <a:off x="443902" y="145198"/>
            <a:ext cx="5408258" cy="523220"/>
          </a:xfrm>
          <a:prstGeom prst="rect">
            <a:avLst/>
          </a:prstGeom>
          <a:noFill/>
        </p:spPr>
        <p:txBody>
          <a:bodyPr wrap="square" rtlCol="0">
            <a:spAutoFit/>
          </a:bodyPr>
          <a:lstStyle/>
          <a:p>
            <a:r>
              <a:rPr lang="en-US" altLang="zh-CN" sz="2800" b="1" dirty="0"/>
              <a:t>Contributions</a:t>
            </a:r>
            <a:endParaRPr lang="zh-CN" altLang="en-US" sz="2800" b="1" dirty="0"/>
          </a:p>
        </p:txBody>
      </p:sp>
      <p:cxnSp>
        <p:nvCxnSpPr>
          <p:cNvPr id="3" name="Straight Connector 2">
            <a:extLst>
              <a:ext uri="{FF2B5EF4-FFF2-40B4-BE49-F238E27FC236}">
                <a16:creationId xmlns:a16="http://schemas.microsoft.com/office/drawing/2014/main" id="{5ED60413-0AA1-C45A-8923-D7FFBC33A9B8}"/>
              </a:ext>
            </a:extLst>
          </p:cNvPr>
          <p:cNvCxnSpPr/>
          <p:nvPr/>
        </p:nvCxnSpPr>
        <p:spPr>
          <a:xfrm flipH="1">
            <a:off x="0" y="679667"/>
            <a:ext cx="121920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9CA71CA8-D737-C1BD-A669-43EFED6AC887}"/>
              </a:ext>
            </a:extLst>
          </p:cNvPr>
          <p:cNvSpPr txBox="1"/>
          <p:nvPr/>
        </p:nvSpPr>
        <p:spPr>
          <a:xfrm>
            <a:off x="944549" y="3596403"/>
            <a:ext cx="11031551" cy="630364"/>
          </a:xfrm>
          <a:prstGeom prst="rect">
            <a:avLst/>
          </a:prstGeom>
        </p:spPr>
        <p:txBody>
          <a:bodyPr vert="horz" lIns="91440" tIns="45720" rIns="91440" bIns="45720" rtlCol="0" anchor="ctr">
            <a:normAutofit/>
          </a:bodyPr>
          <a:lstStyle/>
          <a:p>
            <a:pPr marL="285750" indent="-285750">
              <a:buFont typeface="Arial" panose="020B0604020202020204" pitchFamily="34" charset="0"/>
              <a:buChar char="•"/>
            </a:pPr>
            <a:r>
              <a:rPr lang="en" altLang="zh-CN" dirty="0">
                <a:latin typeface="Arial" panose="020B0604020202020204" pitchFamily="34" charset="0"/>
                <a:cs typeface="Arial" panose="020B0604020202020204" pitchFamily="34" charset="0"/>
              </a:rPr>
              <a:t>A novel approach for learning anatomical structures from multiple perspectives using unlabeled CXRs</a:t>
            </a:r>
            <a:r>
              <a:rPr lang="en-US" altLang="zh-CN" b="0" i="0" dirty="0">
                <a:effectLst/>
                <a:latin typeface="Arial" panose="020B0604020202020204" pitchFamily="34" charset="0"/>
                <a:cs typeface="Arial" panose="020B0604020202020204" pitchFamily="34" charset="0"/>
              </a:rPr>
              <a:t>;</a:t>
            </a:r>
          </a:p>
        </p:txBody>
      </p:sp>
      <p:sp>
        <p:nvSpPr>
          <p:cNvPr id="5" name="TextBox 1">
            <a:extLst>
              <a:ext uri="{FF2B5EF4-FFF2-40B4-BE49-F238E27FC236}">
                <a16:creationId xmlns:a16="http://schemas.microsoft.com/office/drawing/2014/main" id="{BBE1079E-B2F9-BBF1-8F29-8150BA6D9685}"/>
              </a:ext>
            </a:extLst>
          </p:cNvPr>
          <p:cNvSpPr txBox="1"/>
          <p:nvPr/>
        </p:nvSpPr>
        <p:spPr>
          <a:xfrm>
            <a:off x="599575" y="918747"/>
            <a:ext cx="10992850" cy="267765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800" b="0" i="0" u="none" strike="noStrike" kern="1200" cap="none" spc="0" normalizeH="0" baseline="0" noProof="0" dirty="0">
                <a:ln>
                  <a:noFill/>
                </a:ln>
                <a:solidFill>
                  <a:prstClr val="black"/>
                </a:solidFill>
                <a:effectLst/>
                <a:uLnTx/>
                <a:uFillTx/>
                <a:latin typeface="等线" panose="020F0502020204030204"/>
                <a:ea typeface="+mn-ea"/>
                <a:cs typeface="+mn-cs"/>
              </a:rPr>
              <a:t>Lamps:</a:t>
            </a:r>
            <a:r>
              <a:rPr kumimoji="0" lang="en-US" altLang="zh-CN" sz="6000" b="0" i="0" u="none" strike="noStrike" kern="1200" cap="none" spc="0" normalizeH="0" baseline="0" noProof="0" dirty="0">
                <a:ln>
                  <a:noFill/>
                </a:ln>
                <a:solidFill>
                  <a:prstClr val="black"/>
                </a:solidFill>
                <a:effectLst/>
                <a:uLnTx/>
                <a:uFillTx/>
                <a:latin typeface="等线"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solidFill>
                <a:effectLst/>
                <a:uLnTx/>
                <a:uFillTx/>
                <a:latin typeface="等线" panose="020F0502020204030204"/>
                <a:ea typeface="+mn-ea"/>
                <a:cs typeface="+mn-cs"/>
              </a:rPr>
              <a:t>Learning Anatomy from Multiple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solidFill>
                <a:effectLst/>
                <a:uLnTx/>
                <a:uFillTx/>
                <a:latin typeface="等线" panose="020F0502020204030204"/>
                <a:ea typeface="+mn-ea"/>
                <a:cs typeface="+mn-cs"/>
              </a:rPr>
              <a:t>Perspectives via Self-supervision in Chest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solidFill>
                <a:effectLst/>
                <a:uLnTx/>
                <a:uFillTx/>
                <a:latin typeface="等线" panose="020F0502020204030204"/>
                <a:ea typeface="+mn-ea"/>
                <a:cs typeface="+mn-cs"/>
              </a:rPr>
              <a:t>Radiographs</a:t>
            </a:r>
          </a:p>
        </p:txBody>
      </p:sp>
      <p:pic>
        <p:nvPicPr>
          <p:cNvPr id="31" name="音频 30">
            <a:extLst>
              <a:ext uri="{FF2B5EF4-FFF2-40B4-BE49-F238E27FC236}">
                <a16:creationId xmlns:a16="http://schemas.microsoft.com/office/drawing/2014/main" id="{C8D5658D-B75A-1F21-2333-ADDC0EC8C5B4}"/>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2382811185"/>
      </p:ext>
    </p:extLst>
  </p:cSld>
  <p:clrMapOvr>
    <a:masterClrMapping/>
  </p:clrMapOvr>
  <mc:AlternateContent xmlns:mc="http://schemas.openxmlformats.org/markup-compatibility/2006">
    <mc:Choice xmlns:p14="http://schemas.microsoft.com/office/powerpoint/2010/main" Requires="p14">
      <p:transition spd="slow" p14:dur="2000" advTm="28583"/>
    </mc:Choice>
    <mc:Fallback>
      <p:transition spd="slow" advTm="285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
                                        </p:tgtEl>
                                      </p:cBhvr>
                                    </p:cmd>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4" fill="hold" display="0">
                  <p:stCondLst>
                    <p:cond delay="indefinite"/>
                  </p:stCondLst>
                  <p:endCondLst>
                    <p:cond evt="onStopAudio" delay="0">
                      <p:tgtEl>
                        <p:sldTgt/>
                      </p:tgtEl>
                    </p:cond>
                  </p:endCondLst>
                </p:cTn>
                <p:tgtEl>
                  <p:spTgt spid="31"/>
                </p:tgtEl>
              </p:cMediaNode>
            </p:audio>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E0D9629-F7F9-82BE-0077-5B6CDC3BD80F}"/>
              </a:ext>
            </a:extLst>
          </p:cNvPr>
          <p:cNvSpPr txBox="1"/>
          <p:nvPr/>
        </p:nvSpPr>
        <p:spPr>
          <a:xfrm>
            <a:off x="443902" y="145198"/>
            <a:ext cx="5408258" cy="523220"/>
          </a:xfrm>
          <a:prstGeom prst="rect">
            <a:avLst/>
          </a:prstGeom>
          <a:noFill/>
        </p:spPr>
        <p:txBody>
          <a:bodyPr wrap="square" rtlCol="0">
            <a:spAutoFit/>
          </a:bodyPr>
          <a:lstStyle/>
          <a:p>
            <a:r>
              <a:rPr lang="en-US" altLang="zh-CN" sz="2800" b="1" dirty="0"/>
              <a:t>Contributions</a:t>
            </a:r>
            <a:endParaRPr lang="zh-CN" altLang="en-US" sz="2800" b="1" dirty="0"/>
          </a:p>
        </p:txBody>
      </p:sp>
      <p:cxnSp>
        <p:nvCxnSpPr>
          <p:cNvPr id="3" name="Straight Connector 2">
            <a:extLst>
              <a:ext uri="{FF2B5EF4-FFF2-40B4-BE49-F238E27FC236}">
                <a16:creationId xmlns:a16="http://schemas.microsoft.com/office/drawing/2014/main" id="{5ED60413-0AA1-C45A-8923-D7FFBC33A9B8}"/>
              </a:ext>
            </a:extLst>
          </p:cNvPr>
          <p:cNvCxnSpPr/>
          <p:nvPr/>
        </p:nvCxnSpPr>
        <p:spPr>
          <a:xfrm flipH="1">
            <a:off x="0" y="679667"/>
            <a:ext cx="121920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1">
            <a:extLst>
              <a:ext uri="{FF2B5EF4-FFF2-40B4-BE49-F238E27FC236}">
                <a16:creationId xmlns:a16="http://schemas.microsoft.com/office/drawing/2014/main" id="{BBE1079E-B2F9-BBF1-8F29-8150BA6D9685}"/>
              </a:ext>
            </a:extLst>
          </p:cNvPr>
          <p:cNvSpPr txBox="1"/>
          <p:nvPr/>
        </p:nvSpPr>
        <p:spPr>
          <a:xfrm>
            <a:off x="599575" y="918747"/>
            <a:ext cx="10992850" cy="2123658"/>
          </a:xfrm>
          <a:prstGeom prst="rect">
            <a:avLst/>
          </a:prstGeom>
          <a:noFill/>
        </p:spPr>
        <p:txBody>
          <a:bodyPr wrap="square" rtlCol="0">
            <a:spAutoFit/>
          </a:bodyPr>
          <a:lstStyle/>
          <a:p>
            <a:pPr algn="ctr"/>
            <a:r>
              <a:rPr lang="en-US" sz="6000" dirty="0"/>
              <a:t>ACE:</a:t>
            </a:r>
            <a:r>
              <a:rPr lang="en-US" sz="3600" dirty="0"/>
              <a:t> </a:t>
            </a:r>
          </a:p>
          <a:p>
            <a:pPr algn="ctr"/>
            <a:r>
              <a:rPr lang="en-US" sz="3600" dirty="0"/>
              <a:t>Anatomically Consistent Embeddings in Composition and Decomposition</a:t>
            </a:r>
          </a:p>
        </p:txBody>
      </p:sp>
      <p:sp>
        <p:nvSpPr>
          <p:cNvPr id="6" name="文本框 5">
            <a:extLst>
              <a:ext uri="{FF2B5EF4-FFF2-40B4-BE49-F238E27FC236}">
                <a16:creationId xmlns:a16="http://schemas.microsoft.com/office/drawing/2014/main" id="{B07934E1-92A6-810C-8E44-E4564A300944}"/>
              </a:ext>
            </a:extLst>
          </p:cNvPr>
          <p:cNvSpPr txBox="1"/>
          <p:nvPr/>
        </p:nvSpPr>
        <p:spPr>
          <a:xfrm>
            <a:off x="919838" y="3878441"/>
            <a:ext cx="10992850" cy="341632"/>
          </a:xfrm>
          <a:prstGeom prst="rect">
            <a:avLst/>
          </a:prstGeom>
          <a:noFill/>
        </p:spPr>
        <p:txBody>
          <a:bodyPr wrap="square" rtlCol="0">
            <a:spAutoFit/>
          </a:bodyPr>
          <a:lstStyle/>
          <a:p>
            <a:pPr indent="-228600">
              <a:lnSpc>
                <a:spcPct val="90000"/>
              </a:lnSpc>
              <a:spcAft>
                <a:spcPts val="600"/>
              </a:spcAft>
              <a:buFont typeface="Arial" panose="020B0604020202020204" pitchFamily="34" charset="0"/>
              <a:buChar char="•"/>
            </a:pPr>
            <a:r>
              <a:rPr lang="en" altLang="zh-CN" dirty="0">
                <a:latin typeface="Arial" panose="020B0604020202020204" pitchFamily="34" charset="0"/>
                <a:cs typeface="Arial" panose="020B0604020202020204" pitchFamily="34" charset="0"/>
              </a:rPr>
              <a:t>A new exploration of the emergent properties of pretrained models</a:t>
            </a:r>
            <a:r>
              <a:rPr lang="en-US" altLang="zh-CN" b="0" i="0" dirty="0">
                <a:effectLst/>
                <a:latin typeface="Arial" panose="020B0604020202020204" pitchFamily="34" charset="0"/>
                <a:cs typeface="Arial" panose="020B0604020202020204" pitchFamily="34" charset="0"/>
              </a:rPr>
              <a:t>;</a:t>
            </a:r>
          </a:p>
        </p:txBody>
      </p:sp>
      <p:sp>
        <p:nvSpPr>
          <p:cNvPr id="7" name="文本框 6">
            <a:extLst>
              <a:ext uri="{FF2B5EF4-FFF2-40B4-BE49-F238E27FC236}">
                <a16:creationId xmlns:a16="http://schemas.microsoft.com/office/drawing/2014/main" id="{6725EB83-5E75-2866-087D-AD6BE1EA328B}"/>
              </a:ext>
            </a:extLst>
          </p:cNvPr>
          <p:cNvSpPr txBox="1"/>
          <p:nvPr/>
        </p:nvSpPr>
        <p:spPr>
          <a:xfrm>
            <a:off x="919838" y="3185232"/>
            <a:ext cx="11031551" cy="630364"/>
          </a:xfrm>
          <a:prstGeom prst="rect">
            <a:avLst/>
          </a:prstGeom>
        </p:spPr>
        <p:txBody>
          <a:bodyPr vert="horz" lIns="91440" tIns="45720" rIns="91440" bIns="45720" rtlCol="0" anchor="ctr">
            <a:normAutofit/>
          </a:bodyPr>
          <a:lstStyle/>
          <a:p>
            <a:pPr marL="285750" indent="-285750">
              <a:buFont typeface="Arial" panose="020B0604020202020204" pitchFamily="34" charset="0"/>
              <a:buChar char="•"/>
            </a:pPr>
            <a:r>
              <a:rPr lang="en" altLang="zh-CN" dirty="0">
                <a:solidFill>
                  <a:schemeClr val="tx1">
                    <a:lumMod val="50000"/>
                    <a:lumOff val="50000"/>
                  </a:schemeClr>
                </a:solidFill>
                <a:latin typeface="Arial" panose="020B0604020202020204" pitchFamily="34" charset="0"/>
                <a:cs typeface="Arial" panose="020B0604020202020204" pitchFamily="34" charset="0"/>
              </a:rPr>
              <a:t>A novel approach for learning anatomical structures from multiple perspectives using unlabeled CXRs</a:t>
            </a:r>
            <a:r>
              <a:rPr lang="en-US" altLang="zh-CN" b="0" i="0" dirty="0">
                <a:solidFill>
                  <a:schemeClr val="tx1">
                    <a:lumMod val="50000"/>
                    <a:lumOff val="50000"/>
                  </a:schemeClr>
                </a:solidFill>
                <a:effectLst/>
                <a:latin typeface="Arial" panose="020B0604020202020204" pitchFamily="34" charset="0"/>
                <a:cs typeface="Arial" panose="020B0604020202020204" pitchFamily="34" charset="0"/>
              </a:rPr>
              <a:t>;</a:t>
            </a:r>
          </a:p>
        </p:txBody>
      </p:sp>
      <p:pic>
        <p:nvPicPr>
          <p:cNvPr id="39" name="音频 38">
            <a:extLst>
              <a:ext uri="{FF2B5EF4-FFF2-40B4-BE49-F238E27FC236}">
                <a16:creationId xmlns:a16="http://schemas.microsoft.com/office/drawing/2014/main" id="{6BE9C60D-4206-E8DC-6C00-440CBAEACDE8}"/>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2483774740"/>
      </p:ext>
    </p:extLst>
  </p:cSld>
  <p:clrMapOvr>
    <a:masterClrMapping/>
  </p:clrMapOvr>
  <mc:AlternateContent xmlns:mc="http://schemas.openxmlformats.org/markup-compatibility/2006">
    <mc:Choice xmlns:p14="http://schemas.microsoft.com/office/powerpoint/2010/main" Requires="p14">
      <p:transition spd="slow" p14:dur="2000" advTm="12770"/>
    </mc:Choice>
    <mc:Fallback>
      <p:transition spd="slow" advTm="12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9"/>
                                        </p:tgtEl>
                                      </p:cBhvr>
                                    </p:cmd>
                                  </p:childTnLst>
                                </p:cTn>
                              </p:par>
                              <p:par>
                                <p:cTn id="7" presetID="42"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1000"/>
                                        <p:tgtEl>
                                          <p:spTgt spid="6"/>
                                        </p:tgtEl>
                                      </p:cBhvr>
                                    </p:animEffect>
                                    <p:anim calcmode="lin" valueType="num">
                                      <p:cBhvr>
                                        <p:cTn id="10" dur="1000" fill="hold"/>
                                        <p:tgtEl>
                                          <p:spTgt spid="6"/>
                                        </p:tgtEl>
                                        <p:attrNameLst>
                                          <p:attrName>ppt_x</p:attrName>
                                        </p:attrNameLst>
                                      </p:cBhvr>
                                      <p:tavLst>
                                        <p:tav tm="0">
                                          <p:val>
                                            <p:strVal val="#ppt_x"/>
                                          </p:val>
                                        </p:tav>
                                        <p:tav tm="100000">
                                          <p:val>
                                            <p:strVal val="#ppt_x"/>
                                          </p:val>
                                        </p:tav>
                                      </p:tavLst>
                                    </p:anim>
                                    <p:anim calcmode="lin" valueType="num">
                                      <p:cBhvr>
                                        <p:cTn id="1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2" fill="hold" display="0">
                  <p:stCondLst>
                    <p:cond delay="indefinite"/>
                  </p:stCondLst>
                  <p:endCondLst>
                    <p:cond evt="onStopAudio" delay="0">
                      <p:tgtEl>
                        <p:sldTgt/>
                      </p:tgtEl>
                    </p:cond>
                  </p:endCondLst>
                </p:cTn>
                <p:tgtEl>
                  <p:spTgt spid="39"/>
                </p:tgtEl>
              </p:cMediaNode>
            </p:audio>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E0D9629-F7F9-82BE-0077-5B6CDC3BD80F}"/>
              </a:ext>
            </a:extLst>
          </p:cNvPr>
          <p:cNvSpPr txBox="1"/>
          <p:nvPr/>
        </p:nvSpPr>
        <p:spPr>
          <a:xfrm>
            <a:off x="443902" y="145198"/>
            <a:ext cx="5408258" cy="523220"/>
          </a:xfrm>
          <a:prstGeom prst="rect">
            <a:avLst/>
          </a:prstGeom>
          <a:noFill/>
        </p:spPr>
        <p:txBody>
          <a:bodyPr wrap="square" rtlCol="0">
            <a:spAutoFit/>
          </a:bodyPr>
          <a:lstStyle/>
          <a:p>
            <a:r>
              <a:rPr lang="en-US" altLang="zh-CN" sz="2800" b="1" dirty="0"/>
              <a:t>Contributions</a:t>
            </a:r>
            <a:endParaRPr lang="zh-CN" altLang="en-US" sz="2800" b="1" dirty="0"/>
          </a:p>
        </p:txBody>
      </p:sp>
      <p:cxnSp>
        <p:nvCxnSpPr>
          <p:cNvPr id="3" name="Straight Connector 2">
            <a:extLst>
              <a:ext uri="{FF2B5EF4-FFF2-40B4-BE49-F238E27FC236}">
                <a16:creationId xmlns:a16="http://schemas.microsoft.com/office/drawing/2014/main" id="{5ED60413-0AA1-C45A-8923-D7FFBC33A9B8}"/>
              </a:ext>
            </a:extLst>
          </p:cNvPr>
          <p:cNvCxnSpPr/>
          <p:nvPr/>
        </p:nvCxnSpPr>
        <p:spPr>
          <a:xfrm flipH="1">
            <a:off x="0" y="679667"/>
            <a:ext cx="121920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Box 1">
            <a:extLst>
              <a:ext uri="{FF2B5EF4-FFF2-40B4-BE49-F238E27FC236}">
                <a16:creationId xmlns:a16="http://schemas.microsoft.com/office/drawing/2014/main" id="{BBE1079E-B2F9-BBF1-8F29-8150BA6D9685}"/>
              </a:ext>
            </a:extLst>
          </p:cNvPr>
          <p:cNvSpPr txBox="1"/>
          <p:nvPr/>
        </p:nvSpPr>
        <p:spPr>
          <a:xfrm>
            <a:off x="599575" y="918747"/>
            <a:ext cx="10992850" cy="2123658"/>
          </a:xfrm>
          <a:prstGeom prst="rect">
            <a:avLst/>
          </a:prstGeom>
          <a:noFill/>
        </p:spPr>
        <p:txBody>
          <a:bodyPr wrap="square" rtlCol="0">
            <a:spAutoFit/>
          </a:bodyPr>
          <a:lstStyle/>
          <a:p>
            <a:pPr algn="ctr"/>
            <a:r>
              <a:rPr lang="en-US" sz="6000" dirty="0"/>
              <a:t>ACE:</a:t>
            </a:r>
            <a:r>
              <a:rPr lang="en-US" sz="3600" dirty="0"/>
              <a:t> </a:t>
            </a:r>
          </a:p>
          <a:p>
            <a:pPr algn="ctr"/>
            <a:r>
              <a:rPr lang="en-US" sz="3600" dirty="0"/>
              <a:t>Anatomically Consistent Embeddings in Composition and Decomposition</a:t>
            </a:r>
          </a:p>
        </p:txBody>
      </p:sp>
      <p:sp>
        <p:nvSpPr>
          <p:cNvPr id="7" name="文本框 6">
            <a:extLst>
              <a:ext uri="{FF2B5EF4-FFF2-40B4-BE49-F238E27FC236}">
                <a16:creationId xmlns:a16="http://schemas.microsoft.com/office/drawing/2014/main" id="{5CA2ED8A-B2DC-A73D-DEEB-5AFBE0E7DBAA}"/>
              </a:ext>
            </a:extLst>
          </p:cNvPr>
          <p:cNvSpPr txBox="1"/>
          <p:nvPr/>
        </p:nvSpPr>
        <p:spPr>
          <a:xfrm>
            <a:off x="919838" y="4457106"/>
            <a:ext cx="10992850" cy="590931"/>
          </a:xfrm>
          <a:prstGeom prst="rect">
            <a:avLst/>
          </a:prstGeom>
          <a:noFill/>
        </p:spPr>
        <p:txBody>
          <a:bodyPr wrap="square" rtlCol="0">
            <a:spAutoFit/>
          </a:bodyPr>
          <a:lstStyle/>
          <a:p>
            <a:pPr indent="-228600">
              <a:lnSpc>
                <a:spcPct val="90000"/>
              </a:lnSpc>
              <a:spcAft>
                <a:spcPts val="600"/>
              </a:spcAft>
              <a:buFont typeface="Arial" panose="020B0604020202020204" pitchFamily="34" charset="0"/>
              <a:buChar char="•"/>
            </a:pPr>
            <a:r>
              <a:rPr lang="en-US" altLang="zh-CN" dirty="0">
                <a:latin typeface="Arial" panose="020B0604020202020204" pitchFamily="34" charset="0"/>
              </a:rPr>
              <a:t>A new SSL pretraining method on large-scale data, showing exceptional transferability to various target tasks in medical image analysis.</a:t>
            </a:r>
          </a:p>
        </p:txBody>
      </p:sp>
      <p:sp>
        <p:nvSpPr>
          <p:cNvPr id="8" name="文本框 7">
            <a:extLst>
              <a:ext uri="{FF2B5EF4-FFF2-40B4-BE49-F238E27FC236}">
                <a16:creationId xmlns:a16="http://schemas.microsoft.com/office/drawing/2014/main" id="{E5817FB5-51DF-E23B-320F-CE2CA489EC5D}"/>
              </a:ext>
            </a:extLst>
          </p:cNvPr>
          <p:cNvSpPr txBox="1"/>
          <p:nvPr/>
        </p:nvSpPr>
        <p:spPr>
          <a:xfrm>
            <a:off x="919838" y="3925544"/>
            <a:ext cx="10992850" cy="341632"/>
          </a:xfrm>
          <a:prstGeom prst="rect">
            <a:avLst/>
          </a:prstGeom>
          <a:noFill/>
        </p:spPr>
        <p:txBody>
          <a:bodyPr wrap="square" rtlCol="0">
            <a:spAutoFit/>
          </a:bodyPr>
          <a:lstStyle/>
          <a:p>
            <a:pPr indent="-228600">
              <a:lnSpc>
                <a:spcPct val="90000"/>
              </a:lnSpc>
              <a:spcAft>
                <a:spcPts val="600"/>
              </a:spcAft>
              <a:buFont typeface="Arial" panose="020B0604020202020204" pitchFamily="34" charset="0"/>
              <a:buChar char="•"/>
            </a:pPr>
            <a:r>
              <a:rPr lang="en" altLang="zh-CN" dirty="0">
                <a:solidFill>
                  <a:schemeClr val="tx1">
                    <a:lumMod val="50000"/>
                    <a:lumOff val="50000"/>
                  </a:schemeClr>
                </a:solidFill>
                <a:latin typeface="Arial" panose="020B0604020202020204" pitchFamily="34" charset="0"/>
                <a:cs typeface="Arial" panose="020B0604020202020204" pitchFamily="34" charset="0"/>
              </a:rPr>
              <a:t>A new exploration of the emergent properties of pretrained models</a:t>
            </a:r>
            <a:r>
              <a:rPr lang="en-US" altLang="zh-CN" b="0" i="0" dirty="0">
                <a:solidFill>
                  <a:schemeClr val="tx1">
                    <a:lumMod val="50000"/>
                    <a:lumOff val="50000"/>
                  </a:schemeClr>
                </a:solidFill>
                <a:effectLst/>
                <a:latin typeface="Arial" panose="020B0604020202020204" pitchFamily="34" charset="0"/>
                <a:cs typeface="Arial" panose="020B0604020202020204" pitchFamily="34" charset="0"/>
              </a:rPr>
              <a:t>;</a:t>
            </a:r>
          </a:p>
        </p:txBody>
      </p:sp>
      <p:sp>
        <p:nvSpPr>
          <p:cNvPr id="9" name="文本框 8">
            <a:extLst>
              <a:ext uri="{FF2B5EF4-FFF2-40B4-BE49-F238E27FC236}">
                <a16:creationId xmlns:a16="http://schemas.microsoft.com/office/drawing/2014/main" id="{7F206BB4-2078-215D-E3E4-65F4C2BCAA06}"/>
              </a:ext>
            </a:extLst>
          </p:cNvPr>
          <p:cNvSpPr txBox="1"/>
          <p:nvPr/>
        </p:nvSpPr>
        <p:spPr>
          <a:xfrm>
            <a:off x="919838" y="3232335"/>
            <a:ext cx="11031551" cy="630364"/>
          </a:xfrm>
          <a:prstGeom prst="rect">
            <a:avLst/>
          </a:prstGeom>
        </p:spPr>
        <p:txBody>
          <a:bodyPr vert="horz" lIns="91440" tIns="45720" rIns="91440" bIns="45720" rtlCol="0" anchor="ctr">
            <a:normAutofit/>
          </a:bodyPr>
          <a:lstStyle/>
          <a:p>
            <a:pPr marL="285750" indent="-285750">
              <a:buFont typeface="Arial" panose="020B0604020202020204" pitchFamily="34" charset="0"/>
              <a:buChar char="•"/>
            </a:pPr>
            <a:r>
              <a:rPr lang="en" altLang="zh-CN" dirty="0">
                <a:solidFill>
                  <a:schemeClr val="tx1">
                    <a:lumMod val="50000"/>
                    <a:lumOff val="50000"/>
                  </a:schemeClr>
                </a:solidFill>
                <a:latin typeface="Arial" panose="020B0604020202020204" pitchFamily="34" charset="0"/>
                <a:cs typeface="Arial" panose="020B0604020202020204" pitchFamily="34" charset="0"/>
              </a:rPr>
              <a:t>A novel approach for learning anatomical structures from multiple perspectives using unlabeled CXRs</a:t>
            </a:r>
            <a:r>
              <a:rPr lang="en-US" altLang="zh-CN" b="0" i="0" dirty="0">
                <a:solidFill>
                  <a:schemeClr val="tx1">
                    <a:lumMod val="50000"/>
                    <a:lumOff val="50000"/>
                  </a:schemeClr>
                </a:solidFill>
                <a:effectLst/>
                <a:latin typeface="Arial" panose="020B0604020202020204" pitchFamily="34" charset="0"/>
                <a:cs typeface="Arial" panose="020B0604020202020204" pitchFamily="34" charset="0"/>
              </a:rPr>
              <a:t>;</a:t>
            </a:r>
          </a:p>
        </p:txBody>
      </p:sp>
      <p:pic>
        <p:nvPicPr>
          <p:cNvPr id="52" name="音频 51">
            <a:extLst>
              <a:ext uri="{FF2B5EF4-FFF2-40B4-BE49-F238E27FC236}">
                <a16:creationId xmlns:a16="http://schemas.microsoft.com/office/drawing/2014/main" id="{3FF9C7AD-F323-BE6A-7E02-9CF8BFB0251F}"/>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2539319331"/>
      </p:ext>
    </p:extLst>
  </p:cSld>
  <p:clrMapOvr>
    <a:masterClrMapping/>
  </p:clrMapOvr>
  <mc:AlternateContent xmlns:mc="http://schemas.openxmlformats.org/markup-compatibility/2006">
    <mc:Choice xmlns:p14="http://schemas.microsoft.com/office/powerpoint/2010/main" Requires="p14">
      <p:transition spd="slow" p14:dur="2000" advTm="12585"/>
    </mc:Choice>
    <mc:Fallback>
      <p:transition spd="slow" advTm="125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2"/>
                                        </p:tgtEl>
                                      </p:cBhvr>
                                    </p:cmd>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1000" fill="hold"/>
                                        <p:tgtEl>
                                          <p:spTgt spid="7"/>
                                        </p:tgtEl>
                                        <p:attrNameLst>
                                          <p:attrName>ppt_x</p:attrName>
                                        </p:attrNameLst>
                                      </p:cBhvr>
                                      <p:tavLst>
                                        <p:tav tm="0">
                                          <p:val>
                                            <p:strVal val="#ppt_x"/>
                                          </p:val>
                                        </p:tav>
                                        <p:tav tm="100000">
                                          <p:val>
                                            <p:strVal val="#ppt_x"/>
                                          </p:val>
                                        </p:tav>
                                      </p:tavLst>
                                    </p:anim>
                                    <p:anim calcmode="lin" valueType="num">
                                      <p:cBhvr additive="base">
                                        <p:cTn id="12"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3" fill="hold" display="0">
                  <p:stCondLst>
                    <p:cond delay="indefinite"/>
                  </p:stCondLst>
                  <p:endCondLst>
                    <p:cond evt="onStopAudio" delay="0">
                      <p:tgtEl>
                        <p:sldTgt/>
                      </p:tgtEl>
                    </p:cond>
                  </p:endCondLst>
                </p:cTn>
                <p:tgtEl>
                  <p:spTgt spid="52"/>
                </p:tgtEl>
              </p:cMediaNode>
            </p:audio>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64FF37-CA2E-C0F6-BF90-4650BA75E3EA}"/>
              </a:ext>
            </a:extLst>
          </p:cNvPr>
          <p:cNvGrpSpPr/>
          <p:nvPr/>
        </p:nvGrpSpPr>
        <p:grpSpPr>
          <a:xfrm>
            <a:off x="445107" y="179144"/>
            <a:ext cx="11455875" cy="6499712"/>
            <a:chOff x="2344795" y="-504863"/>
            <a:chExt cx="11455875" cy="6499712"/>
          </a:xfrm>
        </p:grpSpPr>
        <p:pic>
          <p:nvPicPr>
            <p:cNvPr id="5" name="Picture 16" descr="Calendar&#10;&#10;Description automatically generated">
              <a:extLst>
                <a:ext uri="{FF2B5EF4-FFF2-40B4-BE49-F238E27FC236}">
                  <a16:creationId xmlns:a16="http://schemas.microsoft.com/office/drawing/2014/main" id="{773DF4B2-AABF-82FD-C7D8-40FD92A477D5}"/>
                </a:ext>
              </a:extLst>
            </p:cNvPr>
            <p:cNvPicPr>
              <a:picLocks noChangeAspect="1"/>
            </p:cNvPicPr>
            <p:nvPr/>
          </p:nvPicPr>
          <p:blipFill>
            <a:blip r:embed="rId5">
              <a:alphaModFix amt="30000"/>
            </a:blip>
            <a:stretch>
              <a:fillRect/>
            </a:stretch>
          </p:blipFill>
          <p:spPr>
            <a:xfrm>
              <a:off x="2344795" y="-504863"/>
              <a:ext cx="2253338" cy="2253338"/>
            </a:xfrm>
            <a:prstGeom prst="rect">
              <a:avLst/>
            </a:prstGeom>
          </p:spPr>
        </p:pic>
        <p:pic>
          <p:nvPicPr>
            <p:cNvPr id="6" name="Picture 17" descr="A picture containing whiteboard&#10;&#10;Description automatically generated">
              <a:extLst>
                <a:ext uri="{FF2B5EF4-FFF2-40B4-BE49-F238E27FC236}">
                  <a16:creationId xmlns:a16="http://schemas.microsoft.com/office/drawing/2014/main" id="{FC1B477F-ACBD-6997-335D-67E65CFFE550}"/>
                </a:ext>
              </a:extLst>
            </p:cNvPr>
            <p:cNvPicPr>
              <a:picLocks noChangeAspect="1"/>
            </p:cNvPicPr>
            <p:nvPr/>
          </p:nvPicPr>
          <p:blipFill rotWithShape="1">
            <a:blip r:embed="rId6">
              <a:alphaModFix amt="30000"/>
            </a:blip>
            <a:srcRect l="20355" t="17004" r="21488" b="18105"/>
            <a:stretch/>
          </p:blipFill>
          <p:spPr>
            <a:xfrm>
              <a:off x="11587964" y="3525935"/>
              <a:ext cx="2212706" cy="2468914"/>
            </a:xfrm>
            <a:prstGeom prst="rect">
              <a:avLst/>
            </a:prstGeom>
          </p:spPr>
        </p:pic>
      </p:grpSp>
      <p:pic>
        <p:nvPicPr>
          <p:cNvPr id="7" name="Picture 2" descr="上海交通大学- 维基百科，自由的百科全书">
            <a:extLst>
              <a:ext uri="{FF2B5EF4-FFF2-40B4-BE49-F238E27FC236}">
                <a16:creationId xmlns:a16="http://schemas.microsoft.com/office/drawing/2014/main" id="{EE6289D6-F512-F5C2-47A9-65AC14E37113}"/>
              </a:ext>
            </a:extLst>
          </p:cNvPr>
          <p:cNvPicPr>
            <a:picLocks noChangeAspect="1" noChangeArrowheads="1"/>
          </p:cNvPicPr>
          <p:nvPr/>
        </p:nvPicPr>
        <p:blipFill>
          <a:blip r:embed="rId7">
            <a:alphaModFix amt="30000"/>
            <a:extLst>
              <a:ext uri="{28A0092B-C50C-407E-A947-70E740481C1C}">
                <a14:useLocalDpi xmlns:a14="http://schemas.microsoft.com/office/drawing/2010/main" val="0"/>
              </a:ext>
            </a:extLst>
          </a:blip>
          <a:srcRect/>
          <a:stretch>
            <a:fillRect/>
          </a:stretch>
        </p:blipFill>
        <p:spPr bwMode="auto">
          <a:xfrm>
            <a:off x="229531" y="4258601"/>
            <a:ext cx="2143125" cy="2143125"/>
          </a:xfrm>
          <a:prstGeom prst="rect">
            <a:avLst/>
          </a:prstGeom>
          <a:extLst>
            <a:ext uri="{909E8E84-426E-40DD-AFC4-6F175D3DCCD1}">
              <a14:hiddenFill xmlns:a14="http://schemas.microsoft.com/office/drawing/2010/main">
                <a:solidFill>
                  <a:srgbClr val="FFFFFF"/>
                </a:solidFill>
              </a14:hiddenFill>
            </a:ext>
          </a:extLst>
        </p:spPr>
      </p:pic>
      <p:sp>
        <p:nvSpPr>
          <p:cNvPr id="9" name="TextBox 2">
            <a:extLst>
              <a:ext uri="{FF2B5EF4-FFF2-40B4-BE49-F238E27FC236}">
                <a16:creationId xmlns:a16="http://schemas.microsoft.com/office/drawing/2014/main" id="{5D85083C-86F8-85AC-6068-A025417FA574}"/>
              </a:ext>
            </a:extLst>
          </p:cNvPr>
          <p:cNvSpPr txBox="1"/>
          <p:nvPr/>
        </p:nvSpPr>
        <p:spPr>
          <a:xfrm>
            <a:off x="2675817" y="4258601"/>
            <a:ext cx="7062764" cy="1716111"/>
          </a:xfrm>
          <a:prstGeom prst="rect">
            <a:avLst/>
          </a:prstGeom>
          <a:noFill/>
        </p:spPr>
        <p:txBody>
          <a:bodyPr wrap="square" rtlCol="0">
            <a:spAutoFit/>
          </a:bodyPr>
          <a:lstStyle/>
          <a:p>
            <a:pPr lvl="0" algn="ctr"/>
            <a:r>
              <a:rPr lang="en-US" sz="2000" dirty="0" err="1">
                <a:solidFill>
                  <a:prstClr val="black"/>
                </a:solidFill>
                <a:latin typeface="Calibri Light" panose="020F0302020204030204"/>
                <a:ea typeface="Segoe UI Historic" panose="020B0502040204020203" pitchFamily="34" charset="0"/>
                <a:cs typeface="Segoe UI Historic" panose="020B0502040204020203" pitchFamily="34" charset="0"/>
              </a:rPr>
              <a:t>Ziyu</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Zhou</a:t>
            </a:r>
            <a:r>
              <a:rPr lang="en-US"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a:t>
            </a:r>
            <a:r>
              <a:rPr lang="en-US" altLang="zh-CN"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1</a:t>
            </a:r>
            <a:r>
              <a:rPr lang="en-US"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,2</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Haozhe Luo</a:t>
            </a:r>
            <a:r>
              <a:rPr lang="en-US" altLang="zh-CN"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*2,3</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Mohammad Reza </a:t>
            </a:r>
            <a:r>
              <a:rPr lang="en-US" sz="2000" dirty="0" err="1">
                <a:solidFill>
                  <a:prstClr val="black"/>
                </a:solidFill>
                <a:latin typeface="Calibri Light" panose="020F0302020204030204"/>
                <a:ea typeface="Segoe UI Historic" panose="020B0502040204020203" pitchFamily="34" charset="0"/>
                <a:cs typeface="Segoe UI Historic" panose="020B0502040204020203" pitchFamily="34" charset="0"/>
              </a:rPr>
              <a:t>Hosseinzadeh</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Taher</a:t>
            </a:r>
            <a:r>
              <a:rPr lang="en-US" altLang="zh-CN"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2</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a:t>
            </a:r>
            <a:r>
              <a:rPr lang="en-US" sz="2000" dirty="0" err="1">
                <a:solidFill>
                  <a:prstClr val="black"/>
                </a:solidFill>
                <a:latin typeface="Calibri Light" panose="020F0302020204030204"/>
                <a:ea typeface="Segoe UI Historic" panose="020B0502040204020203" pitchFamily="34" charset="0"/>
                <a:cs typeface="Segoe UI Historic" panose="020B0502040204020203" pitchFamily="34" charset="0"/>
              </a:rPr>
              <a:t>Jiaxuan</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Pang</a:t>
            </a:r>
            <a:r>
              <a:rPr lang="en-US"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2</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a:t>
            </a:r>
          </a:p>
          <a:p>
            <a:pPr lvl="0" algn="ctr"/>
            <a:r>
              <a:rPr lang="en-US" sz="2000" dirty="0" err="1">
                <a:solidFill>
                  <a:prstClr val="black"/>
                </a:solidFill>
                <a:latin typeface="Calibri Light" panose="020F0302020204030204"/>
                <a:ea typeface="Segoe UI Historic" panose="020B0502040204020203" pitchFamily="34" charset="0"/>
                <a:cs typeface="Segoe UI Historic" panose="020B0502040204020203" pitchFamily="34" charset="0"/>
              </a:rPr>
              <a:t>Xiaowei</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Ding</a:t>
            </a:r>
            <a:r>
              <a:rPr lang="en-US" altLang="zh-CN"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1</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Michael B. Gotway</a:t>
            </a:r>
            <a:r>
              <a:rPr lang="en-US"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4 </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and </a:t>
            </a:r>
            <a:r>
              <a:rPr lang="en-US" sz="2000" dirty="0" err="1">
                <a:solidFill>
                  <a:prstClr val="black"/>
                </a:solidFill>
                <a:latin typeface="Calibri Light" panose="020F0302020204030204"/>
                <a:ea typeface="Segoe UI Historic" panose="020B0502040204020203" pitchFamily="34" charset="0"/>
                <a:cs typeface="Segoe UI Historic" panose="020B0502040204020203" pitchFamily="34" charset="0"/>
              </a:rPr>
              <a:t>Jianming</a:t>
            </a:r>
            <a:r>
              <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rPr>
              <a:t> Liang</a:t>
            </a:r>
            <a:r>
              <a:rPr lang="en-US"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2</a:t>
            </a:r>
            <a:endPar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endParaRPr>
          </a:p>
          <a:p>
            <a:pPr lvl="0" algn="ctr">
              <a:lnSpc>
                <a:spcPct val="150000"/>
              </a:lnSpc>
              <a:defRPr/>
            </a:pPr>
            <a:r>
              <a:rPr lang="en-US" altLang="zh-CN" sz="16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1</a:t>
            </a:r>
            <a:r>
              <a:rPr lang="en-US" altLang="zh-CN" sz="20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 </a:t>
            </a:r>
            <a:r>
              <a:rPr lang="en-US" altLang="zh-CN" sz="1600" dirty="0">
                <a:solidFill>
                  <a:prstClr val="black"/>
                </a:solidFill>
                <a:latin typeface="Calibri Light" panose="020F0302020204030204"/>
                <a:ea typeface="Segoe UI Historic" panose="020B0502040204020203" pitchFamily="34" charset="0"/>
                <a:cs typeface="Segoe UI Historic" panose="020B0502040204020203" pitchFamily="34" charset="0"/>
              </a:rPr>
              <a:t>Shanghai Jiao Tong University  </a:t>
            </a:r>
            <a:r>
              <a:rPr lang="en-US" sz="16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2 </a:t>
            </a:r>
            <a:r>
              <a:rPr lang="en-US" sz="1600" dirty="0">
                <a:solidFill>
                  <a:prstClr val="black"/>
                </a:solidFill>
                <a:latin typeface="Calibri Light" panose="020F0302020204030204"/>
                <a:ea typeface="Segoe UI Historic" panose="020B0502040204020203" pitchFamily="34" charset="0"/>
                <a:cs typeface="Segoe UI Historic" panose="020B0502040204020203" pitchFamily="34" charset="0"/>
              </a:rPr>
              <a:t>Arizona State University </a:t>
            </a:r>
          </a:p>
          <a:p>
            <a:pPr lvl="0" algn="ctr">
              <a:lnSpc>
                <a:spcPct val="150000"/>
              </a:lnSpc>
              <a:defRPr/>
            </a:pPr>
            <a:r>
              <a:rPr lang="en-US" sz="16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3</a:t>
            </a:r>
            <a:r>
              <a:rPr lang="en-US" sz="1600" dirty="0">
                <a:solidFill>
                  <a:prstClr val="black"/>
                </a:solidFill>
                <a:latin typeface="Calibri Light" panose="020F0302020204030204"/>
                <a:ea typeface="Segoe UI Historic" panose="020B0502040204020203" pitchFamily="34" charset="0"/>
                <a:cs typeface="Segoe UI Historic" panose="020B0502040204020203" pitchFamily="34" charset="0"/>
              </a:rPr>
              <a:t>University of Bern </a:t>
            </a:r>
            <a:r>
              <a:rPr lang="en-US" sz="1600" baseline="30000" dirty="0">
                <a:solidFill>
                  <a:prstClr val="black"/>
                </a:solidFill>
                <a:latin typeface="Calibri Light" panose="020F0302020204030204"/>
                <a:ea typeface="Segoe UI Historic" panose="020B0502040204020203" pitchFamily="34" charset="0"/>
                <a:cs typeface="Segoe UI Historic" panose="020B0502040204020203" pitchFamily="34" charset="0"/>
              </a:rPr>
              <a:t>4</a:t>
            </a:r>
            <a:r>
              <a:rPr lang="en-US" sz="1600" dirty="0">
                <a:solidFill>
                  <a:prstClr val="black"/>
                </a:solidFill>
                <a:latin typeface="Calibri Light" panose="020F0302020204030204"/>
                <a:ea typeface="Segoe UI Historic" panose="020B0502040204020203" pitchFamily="34" charset="0"/>
                <a:cs typeface="Segoe UI Historic" panose="020B0502040204020203" pitchFamily="34" charset="0"/>
              </a:rPr>
              <a:t>Mayo Clinic</a:t>
            </a:r>
            <a:endParaRPr lang="en-US" sz="2000" dirty="0">
              <a:solidFill>
                <a:prstClr val="black"/>
              </a:solidFill>
              <a:latin typeface="Calibri Light" panose="020F0302020204030204"/>
              <a:ea typeface="Segoe UI Historic" panose="020B0502040204020203" pitchFamily="34" charset="0"/>
              <a:cs typeface="Segoe UI Historic" panose="020B0502040204020203" pitchFamily="34" charset="0"/>
            </a:endParaRPr>
          </a:p>
        </p:txBody>
      </p:sp>
      <p:pic>
        <p:nvPicPr>
          <p:cNvPr id="10" name="Picture 6" descr="Universität Bern">
            <a:extLst>
              <a:ext uri="{FF2B5EF4-FFF2-40B4-BE49-F238E27FC236}">
                <a16:creationId xmlns:a16="http://schemas.microsoft.com/office/drawing/2014/main" id="{588FA0C4-F966-2540-4A3C-3D1FD5A43E54}"/>
              </a:ext>
            </a:extLst>
          </p:cNvPr>
          <p:cNvPicPr>
            <a:picLocks noChangeAspect="1" noChangeArrowheads="1"/>
          </p:cNvPicPr>
          <p:nvPr/>
        </p:nvPicPr>
        <p:blipFill rotWithShape="1">
          <a:blip r:embed="rId8">
            <a:alphaModFix amt="35000"/>
            <a:extLst>
              <a:ext uri="{28A0092B-C50C-407E-A947-70E740481C1C}">
                <a14:useLocalDpi xmlns:a14="http://schemas.microsoft.com/office/drawing/2010/main" val="0"/>
              </a:ext>
            </a:extLst>
          </a:blip>
          <a:srcRect l="26997" t="33246" r="27772" b="41728"/>
          <a:stretch/>
        </p:blipFill>
        <p:spPr bwMode="auto">
          <a:xfrm>
            <a:off x="357498" y="3095504"/>
            <a:ext cx="2143125" cy="66699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8AD4C90-FED1-F129-FEA3-8A3D61525CC7}"/>
              </a:ext>
            </a:extLst>
          </p:cNvPr>
          <p:cNvSpPr txBox="1"/>
          <p:nvPr/>
        </p:nvSpPr>
        <p:spPr>
          <a:xfrm>
            <a:off x="2175028" y="1445726"/>
            <a:ext cx="9571865" cy="2677656"/>
          </a:xfrm>
          <a:prstGeom prst="rect">
            <a:avLst/>
          </a:prstGeom>
          <a:noFill/>
        </p:spPr>
        <p:txBody>
          <a:bodyPr wrap="square" rtlCol="0">
            <a:spAutoFit/>
          </a:bodyPr>
          <a:lstStyle/>
          <a:p>
            <a:pPr algn="ctr"/>
            <a:r>
              <a:rPr lang="en-US" sz="4800" dirty="0"/>
              <a:t>Lamps:</a:t>
            </a:r>
            <a:r>
              <a:rPr lang="en-US" sz="6000" dirty="0"/>
              <a:t> </a:t>
            </a:r>
          </a:p>
          <a:p>
            <a:pPr algn="ctr"/>
            <a:r>
              <a:rPr lang="en-US" sz="3600" dirty="0"/>
              <a:t>Learning Anatomy from Multiple </a:t>
            </a:r>
          </a:p>
          <a:p>
            <a:pPr algn="ctr"/>
            <a:r>
              <a:rPr lang="en-US" sz="3600" dirty="0"/>
              <a:t>Perspectives via Self-supervision in Chest </a:t>
            </a:r>
          </a:p>
          <a:p>
            <a:pPr algn="ctr"/>
            <a:r>
              <a:rPr lang="en-US" sz="3600" dirty="0"/>
              <a:t>Radiographs</a:t>
            </a:r>
          </a:p>
        </p:txBody>
      </p:sp>
      <p:pic>
        <p:nvPicPr>
          <p:cNvPr id="3" name="图片 2">
            <a:extLst>
              <a:ext uri="{FF2B5EF4-FFF2-40B4-BE49-F238E27FC236}">
                <a16:creationId xmlns:a16="http://schemas.microsoft.com/office/drawing/2014/main" id="{E93B09FC-19C9-DF26-725F-F56E554DE0E7}"/>
              </a:ext>
            </a:extLst>
          </p:cNvPr>
          <p:cNvPicPr>
            <a:picLocks noChangeAspect="1"/>
          </p:cNvPicPr>
          <p:nvPr/>
        </p:nvPicPr>
        <p:blipFill>
          <a:blip r:embed="rId9"/>
          <a:stretch>
            <a:fillRect/>
          </a:stretch>
        </p:blipFill>
        <p:spPr>
          <a:xfrm>
            <a:off x="3971096" y="1445726"/>
            <a:ext cx="1345691" cy="874340"/>
          </a:xfrm>
          <a:prstGeom prst="rect">
            <a:avLst/>
          </a:prstGeom>
        </p:spPr>
      </p:pic>
      <p:pic>
        <p:nvPicPr>
          <p:cNvPr id="11" name="图片 10">
            <a:extLst>
              <a:ext uri="{FF2B5EF4-FFF2-40B4-BE49-F238E27FC236}">
                <a16:creationId xmlns:a16="http://schemas.microsoft.com/office/drawing/2014/main" id="{4636564C-42B8-D61E-D97A-7152115D1DDD}"/>
              </a:ext>
            </a:extLst>
          </p:cNvPr>
          <p:cNvPicPr>
            <a:picLocks noChangeAspect="1"/>
          </p:cNvPicPr>
          <p:nvPr/>
        </p:nvPicPr>
        <p:blipFill>
          <a:blip r:embed="rId10">
            <a:biLevel thresh="75000"/>
            <a:alphaModFix amt="50000"/>
            <a:extLst>
              <a:ext uri="{BEBA8EAE-BF5A-486C-A8C5-ECC9F3942E4B}">
                <a14:imgProps xmlns:a14="http://schemas.microsoft.com/office/drawing/2010/main">
                  <a14:imgLayer r:embed="rId11">
                    <a14:imgEffect>
                      <a14:saturation sat="0"/>
                    </a14:imgEffect>
                  </a14:imgLayer>
                </a14:imgProps>
              </a:ext>
            </a:extLst>
          </a:blip>
          <a:stretch>
            <a:fillRect/>
          </a:stretch>
        </p:blipFill>
        <p:spPr>
          <a:xfrm>
            <a:off x="8468326" y="215900"/>
            <a:ext cx="3101374" cy="1905935"/>
          </a:xfrm>
          <a:prstGeom prst="rect">
            <a:avLst/>
          </a:prstGeom>
        </p:spPr>
      </p:pic>
      <p:pic>
        <p:nvPicPr>
          <p:cNvPr id="35" name="音频 34">
            <a:extLst>
              <a:ext uri="{FF2B5EF4-FFF2-40B4-BE49-F238E27FC236}">
                <a16:creationId xmlns:a16="http://schemas.microsoft.com/office/drawing/2014/main" id="{2D5CDC40-6DE5-95B4-8CE7-80FC11141B7F}"/>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720711856"/>
      </p:ext>
    </p:extLst>
  </p:cSld>
  <p:clrMapOvr>
    <a:masterClrMapping/>
  </p:clrMapOvr>
  <mc:AlternateContent xmlns:mc="http://schemas.openxmlformats.org/markup-compatibility/2006">
    <mc:Choice xmlns:p14="http://schemas.microsoft.com/office/powerpoint/2010/main" Requires="p14">
      <p:transition spd="slow" p14:dur="2000" advTm="3831"/>
    </mc:Choice>
    <mc:Fallback>
      <p:transition spd="slow" advTm="38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5.3|3.6|7.8"/>
</p:tagLst>
</file>

<file path=ppt/tags/tag2.xml><?xml version="1.0" encoding="utf-8"?>
<p:tagLst xmlns:a="http://schemas.openxmlformats.org/drawingml/2006/main" xmlns:r="http://schemas.openxmlformats.org/officeDocument/2006/relationships" xmlns:p="http://schemas.openxmlformats.org/presentationml/2006/main">
  <p:tag name="TIMING" val="|8.6"/>
</p:tagLst>
</file>

<file path=ppt/tags/tag3.xml><?xml version="1.0" encoding="utf-8"?>
<p:tagLst xmlns:a="http://schemas.openxmlformats.org/drawingml/2006/main" xmlns:r="http://schemas.openxmlformats.org/officeDocument/2006/relationships" xmlns:p="http://schemas.openxmlformats.org/presentationml/2006/main">
  <p:tag name="TIMING" val="|2.1|35.2"/>
</p:tagLst>
</file>

<file path=ppt/tags/tag4.xml><?xml version="1.0" encoding="utf-8"?>
<p:tagLst xmlns:a="http://schemas.openxmlformats.org/drawingml/2006/main" xmlns:r="http://schemas.openxmlformats.org/officeDocument/2006/relationships" xmlns:p="http://schemas.openxmlformats.org/presentationml/2006/main">
  <p:tag name="TIMING" val="|5.4|4.7|10"/>
</p:tagLst>
</file>

<file path=ppt/tags/tag5.xml><?xml version="1.0" encoding="utf-8"?>
<p:tagLst xmlns:a="http://schemas.openxmlformats.org/drawingml/2006/main" xmlns:r="http://schemas.openxmlformats.org/officeDocument/2006/relationships" xmlns:p="http://schemas.openxmlformats.org/presentationml/2006/main">
  <p:tag name="TIMING" val="|5.4|4.7|10"/>
</p:tagLst>
</file>

<file path=ppt/tags/tag6.xml><?xml version="1.0" encoding="utf-8"?>
<p:tagLst xmlns:a="http://schemas.openxmlformats.org/drawingml/2006/main" xmlns:r="http://schemas.openxmlformats.org/officeDocument/2006/relationships" xmlns:p="http://schemas.openxmlformats.org/presentationml/2006/main">
  <p:tag name="TIMING" val="|16.8|7.1"/>
</p:tagLst>
</file>

<file path=ppt/tags/tag7.xml><?xml version="1.0" encoding="utf-8"?>
<p:tagLst xmlns:a="http://schemas.openxmlformats.org/drawingml/2006/main" xmlns:r="http://schemas.openxmlformats.org/officeDocument/2006/relationships" xmlns:p="http://schemas.openxmlformats.org/presentationml/2006/main">
  <p:tag name="TIMING" val="|27.1|1.5"/>
</p:tagLst>
</file>

<file path=ppt/tags/tag8.xml><?xml version="1.0" encoding="utf-8"?>
<p:tagLst xmlns:a="http://schemas.openxmlformats.org/drawingml/2006/main" xmlns:r="http://schemas.openxmlformats.org/officeDocument/2006/relationships" xmlns:p="http://schemas.openxmlformats.org/presentationml/2006/main">
  <p:tag name="TIMING" val="|5.4"/>
</p:tagLst>
</file>

<file path=ppt/tags/tag9.xml><?xml version="1.0" encoding="utf-8"?>
<p:tagLst xmlns:a="http://schemas.openxmlformats.org/drawingml/2006/main" xmlns:r="http://schemas.openxmlformats.org/officeDocument/2006/relationships" xmlns:p="http://schemas.openxmlformats.org/presentationml/2006/main">
  <p:tag name="TIMING" val="|1.3"/>
</p:tagLst>
</file>

<file path=ppt/tags/tag10.xml><?xml version="1.0" encoding="utf-8"?>
<p:tagLst xmlns:a="http://schemas.openxmlformats.org/drawingml/2006/main" xmlns:r="http://schemas.openxmlformats.org/officeDocument/2006/relationships" xmlns:p="http://schemas.openxmlformats.org/presentationml/2006/main">
  <p:tag name="TIMING" val="|1.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4694</TotalTime>
  <Words>1858</Words>
  <Application>Microsoft Macintosh PowerPoint</Application>
  <PresentationFormat>宽屏</PresentationFormat>
  <Paragraphs>370</Paragraphs>
  <Slides>14</Slides>
  <Notes>14</Notes>
  <HiddenSlides>0</HiddenSlides>
  <MMClips>14</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14</vt:i4>
      </vt:variant>
    </vt:vector>
  </HeadingPairs>
  <TitlesOfParts>
    <vt:vector size="31" baseType="lpstr">
      <vt:lpstr>等线</vt:lpstr>
      <vt:lpstr>等线 Light</vt:lpstr>
      <vt:lpstr>STSong</vt:lpstr>
      <vt:lpstr>CMMI10</vt:lpstr>
      <vt:lpstr>CMR7</vt:lpstr>
      <vt:lpstr>NimbusRomNo9L-Regu</vt:lpstr>
      <vt:lpstr>SFBI1000</vt:lpstr>
      <vt:lpstr>SFRM1000</vt:lpstr>
      <vt:lpstr>SFTI1000</vt:lpstr>
      <vt:lpstr>SFTT1000</vt:lpstr>
      <vt:lpstr>Arial</vt:lpstr>
      <vt:lpstr>Calibri</vt:lpstr>
      <vt:lpstr>Calibri Light</vt:lpstr>
      <vt:lpstr>Cambria Math</vt:lpstr>
      <vt:lpstr>Segoe Print</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周紫玉</dc:creator>
  <cp:lastModifiedBy>周紫玉</cp:lastModifiedBy>
  <cp:revision>22</cp:revision>
  <dcterms:created xsi:type="dcterms:W3CDTF">2025-01-20T12:40:34Z</dcterms:created>
  <dcterms:modified xsi:type="dcterms:W3CDTF">2025-09-15T14:33:26Z</dcterms:modified>
</cp:coreProperties>
</file>