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9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619DBFB-555F-45EA-A7EF-5D334B9C479A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20331" userDrawn="1">
          <p15:clr>
            <a:srgbClr val="A4A3A4"/>
          </p15:clr>
        </p15:guide>
        <p15:guide id="3" orient="horz" pos="24209" userDrawn="1">
          <p15:clr>
            <a:srgbClr val="A4A3A4"/>
          </p15:clr>
        </p15:guide>
        <p15:guide id="4" orient="horz" pos="13459" userDrawn="1">
          <p15:clr>
            <a:srgbClr val="A4A3A4"/>
          </p15:clr>
        </p15:guide>
        <p15:guide id="5" pos="214" userDrawn="1">
          <p15:clr>
            <a:srgbClr val="A4A3A4"/>
          </p15:clr>
        </p15:guide>
        <p15:guide id="6" pos="189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994A3EE-F705-0656-D5D7-D2DABFAD2E22}" name="SKCORRE SKCORRE" initials="SS" userId="188afc87e838d70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CFC"/>
    <a:srgbClr val="D2E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16"/>
    <p:restoredTop sz="94632"/>
  </p:normalViewPr>
  <p:slideViewPr>
    <p:cSldViewPr snapToGrid="0">
      <p:cViewPr>
        <p:scale>
          <a:sx n="60" d="100"/>
          <a:sy n="60" d="100"/>
        </p:scale>
        <p:origin x="440" y="-9992"/>
      </p:cViewPr>
      <p:guideLst>
        <p:guide orient="horz" pos="20331"/>
        <p:guide orient="horz" pos="24209"/>
        <p:guide orient="horz" pos="13459"/>
        <p:guide pos="214"/>
        <p:guide pos="189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53BE0-28EE-4413-9198-2C5202C2BE8D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B8495-E50D-46D7-8454-7524987B5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815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13130-9D3D-D2EE-673B-124B5E218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B4A909-5148-4082-5C85-4A80E3BE0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479981-4943-B8C8-1461-B1A1B0DEA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5B46FF-752B-92AF-6F98-1D090CC4F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B8495-E50D-46D7-8454-7524987B562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069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0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4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22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07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92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00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38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9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42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51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2A6F-E7E5-4750-9768-702ED306CEB6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ED35B-D1A4-460C-8EBE-854A06CC2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11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2" userDrawn="1">
          <p15:clr>
            <a:srgbClr val="F26B43"/>
          </p15:clr>
        </p15:guide>
        <p15:guide id="2" pos="9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9" Type="http://schemas.openxmlformats.org/officeDocument/2006/relationships/image" Target="../media/image35.png"/><Relationship Id="rId21" Type="http://schemas.openxmlformats.org/officeDocument/2006/relationships/image" Target="../media/image17.png"/><Relationship Id="rId34" Type="http://schemas.openxmlformats.org/officeDocument/2006/relationships/image" Target="../media/image30.png"/><Relationship Id="rId42" Type="http://schemas.openxmlformats.org/officeDocument/2006/relationships/image" Target="../media/image3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jpe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33.png"/><Relationship Id="rId40" Type="http://schemas.openxmlformats.org/officeDocument/2006/relationships/image" Target="../media/image36.png"/><Relationship Id="rId45" Type="http://schemas.openxmlformats.org/officeDocument/2006/relationships/image" Target="../media/image41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image" Target="../media/image6.jpe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4" Type="http://schemas.openxmlformats.org/officeDocument/2006/relationships/image" Target="../media/image40.png"/><Relationship Id="rId4" Type="http://schemas.openxmlformats.org/officeDocument/2006/relationships/hyperlink" Target="mailto:Dinggang.Shen@gmail.com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43" Type="http://schemas.openxmlformats.org/officeDocument/2006/relationships/image" Target="../media/image39.png"/><Relationship Id="rId8" Type="http://schemas.openxmlformats.org/officeDocument/2006/relationships/image" Target="../media/image4.jpeg"/><Relationship Id="rId3" Type="http://schemas.openxmlformats.org/officeDocument/2006/relationships/hyperlink" Target="mailto:xiaohuan.cao@uii-ai.com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33" Type="http://schemas.openxmlformats.org/officeDocument/2006/relationships/image" Target="../media/image29.png"/><Relationship Id="rId38" Type="http://schemas.openxmlformats.org/officeDocument/2006/relationships/image" Target="../media/image34.png"/><Relationship Id="rId20" Type="http://schemas.openxmlformats.org/officeDocument/2006/relationships/image" Target="../media/image16.png"/><Relationship Id="rId4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2909-F089-6F1C-9558-66FA11D6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 73">
            <a:extLst>
              <a:ext uri="{FF2B5EF4-FFF2-40B4-BE49-F238E27FC236}">
                <a16:creationId xmlns:a16="http://schemas.microsoft.com/office/drawing/2014/main" id="{A45963D9-3606-4E6A-6ED0-BA4DDC780244}"/>
              </a:ext>
            </a:extLst>
          </p:cNvPr>
          <p:cNvSpPr txBox="1"/>
          <p:nvPr/>
        </p:nvSpPr>
        <p:spPr>
          <a:xfrm>
            <a:off x="9425053" y="27711376"/>
            <a:ext cx="20424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Fig. 3: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Two typical downstream tasks: (A) 3D classification, and (B) 2D detection.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5F8BED-2668-40CE-A168-27678FB80C3F}"/>
              </a:ext>
            </a:extLst>
          </p:cNvPr>
          <p:cNvSpPr txBox="1"/>
          <p:nvPr/>
        </p:nvSpPr>
        <p:spPr>
          <a:xfrm>
            <a:off x="-130693" y="21398"/>
            <a:ext cx="30536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cap="small" dirty="0" err="1">
                <a:solidFill>
                  <a:srgbClr val="011F5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RadiSimCLIP</a:t>
            </a:r>
            <a:r>
              <a:rPr lang="en-US" altLang="zh-CN" sz="7200" b="1" cap="small" dirty="0">
                <a:solidFill>
                  <a:srgbClr val="011F5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 A Radiology Vision-Language Model Pretrained </a:t>
            </a:r>
          </a:p>
          <a:p>
            <a:pPr algn="ctr"/>
            <a:r>
              <a:rPr lang="en-US" altLang="zh-CN" sz="7200" b="1" cap="small" dirty="0">
                <a:solidFill>
                  <a:srgbClr val="011F5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on Simulated Radiologist Learning Dataset for </a:t>
            </a:r>
          </a:p>
          <a:p>
            <a:pPr algn="ctr"/>
            <a:r>
              <a:rPr lang="en-US" altLang="zh-CN" sz="7200" b="1" cap="small" dirty="0">
                <a:solidFill>
                  <a:srgbClr val="011F5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Zero-Shot Medical Image Understanding</a:t>
            </a:r>
            <a:endParaRPr lang="zh-CN" altLang="en-US" sz="7200" b="1" cap="small" dirty="0">
              <a:solidFill>
                <a:srgbClr val="011F5B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686A88-8962-5F6D-8E7E-337BD36A8D56}"/>
              </a:ext>
            </a:extLst>
          </p:cNvPr>
          <p:cNvSpPr txBox="1"/>
          <p:nvPr/>
        </p:nvSpPr>
        <p:spPr>
          <a:xfrm>
            <a:off x="5851314" y="3474389"/>
            <a:ext cx="18572584" cy="5213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Minhui Tan</a:t>
            </a:r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1,2,#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Qingxia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Wu</a:t>
            </a:r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3,4,#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Boyang Zhang</a:t>
            </a:r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Genqiang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Ren</a:t>
            </a:r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Jianlong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Nie</a:t>
            </a:r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algn="ctr"/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Zhong Xue</a:t>
            </a:r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Xiaohuan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Cao</a:t>
            </a:r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   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Dinggang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Shen</a:t>
            </a:r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1,2,5 </a:t>
            </a:r>
            <a:endParaRPr lang="en-US" altLang="zh-CN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School of Biomedical Engineering,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ShanghaiTech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University</a:t>
            </a:r>
            <a:r>
              <a:rPr lang="en-US" altLang="zh-CN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Shanghai, China</a:t>
            </a:r>
            <a:endParaRPr lang="en-US" altLang="zh-CN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Shanghai United Imaging Intelligence Co., Ltd., Shanghai, China </a:t>
            </a:r>
          </a:p>
          <a:p>
            <a:pPr algn="ctr"/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Beijing United Imaging Research Institute of Intelligent Imaging, Beijing, China</a:t>
            </a:r>
          </a:p>
          <a:p>
            <a:pPr algn="ctr"/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United Imaging Intelligence (Beijing) Co., Ltd, Beijing, China</a:t>
            </a:r>
          </a:p>
          <a:p>
            <a:pPr algn="ctr"/>
            <a:r>
              <a:rPr lang="en-US" altLang="zh-CN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Shanghai Clinical Research and Trial Center, Shanghai, China</a:t>
            </a:r>
          </a:p>
          <a:p>
            <a:pPr algn="ctr"/>
            <a:r>
              <a:rPr lang="en-US" altLang="en-US" sz="4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hlinkClick r:id="rId3"/>
              </a:rPr>
              <a:t>xiaohuan.cao@uii-ai.com</a:t>
            </a:r>
            <a:r>
              <a:rPr lang="en-US" altLang="en-US" sz="4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en-US" sz="4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hlinkClick r:id="rId4"/>
              </a:rPr>
              <a:t>Dinggang.Shen@gmail.com</a:t>
            </a:r>
            <a:r>
              <a:rPr lang="en-US" altLang="en-US" sz="4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en-US" sz="4400" i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5609C9A-EC4B-3F21-0EB6-88C5A7C3F192}"/>
              </a:ext>
            </a:extLst>
          </p:cNvPr>
          <p:cNvGrpSpPr/>
          <p:nvPr/>
        </p:nvGrpSpPr>
        <p:grpSpPr>
          <a:xfrm>
            <a:off x="286908" y="8673529"/>
            <a:ext cx="29667600" cy="1152000"/>
            <a:chOff x="286908" y="8673529"/>
            <a:chExt cx="29667600" cy="1152000"/>
          </a:xfrm>
        </p:grpSpPr>
        <p:sp>
          <p:nvSpPr>
            <p:cNvPr id="10" name="Rectangle 97">
              <a:extLst>
                <a:ext uri="{FF2B5EF4-FFF2-40B4-BE49-F238E27FC236}">
                  <a16:creationId xmlns:a16="http://schemas.microsoft.com/office/drawing/2014/main" id="{2929ACEA-611D-3742-16C7-36A3AB2B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08" y="8779629"/>
              <a:ext cx="29667600" cy="939800"/>
            </a:xfrm>
            <a:prstGeom prst="rect">
              <a:avLst/>
            </a:prstGeom>
            <a:solidFill>
              <a:srgbClr val="DEEC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 defTabSz="350672"/>
              <a:endParaRPr lang="en-US" altLang="zh-CN" sz="5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97">
              <a:extLst>
                <a:ext uri="{FF2B5EF4-FFF2-40B4-BE49-F238E27FC236}">
                  <a16:creationId xmlns:a16="http://schemas.microsoft.com/office/drawing/2014/main" id="{C35F2A2C-7360-73DB-F8D7-FC7FCB665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0708" y="8673529"/>
              <a:ext cx="18000000" cy="1152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/>
              <a:r>
                <a:rPr lang="en-US" altLang="zh-CN" sz="54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26402F05-3EB5-75A2-3BF9-DAE062A7F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64" y="6086506"/>
            <a:ext cx="4308360" cy="115351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2CA00EBD-3739-AFB0-3986-14BB144031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888" y="32665052"/>
            <a:ext cx="12582991" cy="383424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05F1661D-9618-1D95-B105-B3C4CFC266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888" y="36656266"/>
            <a:ext cx="12612377" cy="2589021"/>
          </a:xfrm>
          <a:prstGeom prst="rect">
            <a:avLst/>
          </a:prstGeom>
        </p:spPr>
      </p:pic>
      <p:sp>
        <p:nvSpPr>
          <p:cNvPr id="48" name="Rectangle 97">
            <a:extLst>
              <a:ext uri="{FF2B5EF4-FFF2-40B4-BE49-F238E27FC236}">
                <a16:creationId xmlns:a16="http://schemas.microsoft.com/office/drawing/2014/main" id="{648727E3-9B21-53D0-7E62-22FE2F03A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806" y="11185863"/>
            <a:ext cx="18000000" cy="11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70" tIns="52185" rIns="104370" bIns="52185" anchor="ctr"/>
          <a:lstStyle/>
          <a:p>
            <a:pPr algn="ctr"/>
            <a:endParaRPr lang="en-US" altLang="zh-CN" sz="5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A45BFFC-706F-0762-AACB-FE0EB0E6C349}"/>
              </a:ext>
            </a:extLst>
          </p:cNvPr>
          <p:cNvSpPr txBox="1"/>
          <p:nvPr/>
        </p:nvSpPr>
        <p:spPr>
          <a:xfrm>
            <a:off x="324571" y="12259362"/>
            <a:ext cx="672342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RadiSim</a:t>
            </a:r>
            <a:endParaRPr lang="en-US" altLang="zh-CN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10.6M image–text pairs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Covers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MRI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DR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modalities.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Built from in-house clinical data and curated open-source sources.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Named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RadiSim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(“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Radi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ology +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Sim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ulate”) to highlight its goal of reflecting the diverse materials encountered during radiologist training.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D39192C-54CD-6ADF-DB3C-112ECAF3FA0B}"/>
              </a:ext>
            </a:extLst>
          </p:cNvPr>
          <p:cNvGrpSpPr/>
          <p:nvPr/>
        </p:nvGrpSpPr>
        <p:grpSpPr>
          <a:xfrm>
            <a:off x="304006" y="28489552"/>
            <a:ext cx="29667600" cy="1152000"/>
            <a:chOff x="304006" y="28972152"/>
            <a:chExt cx="29667600" cy="1152000"/>
          </a:xfrm>
        </p:grpSpPr>
        <p:sp>
          <p:nvSpPr>
            <p:cNvPr id="13" name="Rectangle 97">
              <a:extLst>
                <a:ext uri="{FF2B5EF4-FFF2-40B4-BE49-F238E27FC236}">
                  <a16:creationId xmlns:a16="http://schemas.microsoft.com/office/drawing/2014/main" id="{50217365-B77A-7768-E610-F98A88811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06" y="29078252"/>
              <a:ext cx="29667600" cy="939800"/>
            </a:xfrm>
            <a:prstGeom prst="rect">
              <a:avLst/>
            </a:prstGeom>
            <a:solidFill>
              <a:srgbClr val="DEEC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 defTabSz="350672"/>
              <a:endParaRPr lang="en-US" altLang="zh-CN" sz="5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97">
              <a:extLst>
                <a:ext uri="{FF2B5EF4-FFF2-40B4-BE49-F238E27FC236}">
                  <a16:creationId xmlns:a16="http://schemas.microsoft.com/office/drawing/2014/main" id="{949716D2-2F22-1A70-3E9E-A1DD94388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7806" y="28972152"/>
              <a:ext cx="18000000" cy="1152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/>
              <a:r>
                <a:rPr lang="en-US" altLang="zh-CN" sz="5400" b="1" dirty="0"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14B21ECF-A7F7-ADB6-1DD5-C3E2538E3A3F}"/>
              </a:ext>
            </a:extLst>
          </p:cNvPr>
          <p:cNvSpPr txBox="1"/>
          <p:nvPr/>
        </p:nvSpPr>
        <p:spPr>
          <a:xfrm>
            <a:off x="324571" y="20473491"/>
            <a:ext cx="9100482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altLang="zh-CN" sz="4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Framework: Zero-shot Tasks for Multilevel Capabilities</a:t>
            </a:r>
          </a:p>
          <a:p>
            <a:pPr marL="571500" indent="-5715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Anatomical, Modality, and Disease Recognition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1028700" lvl="1" indent="-5715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zh-CN" sz="3600" i="1" dirty="0">
                <a:latin typeface="Arial" panose="020B0604020202020204" pitchFamily="34" charset="0"/>
                <a:cs typeface="Arial" panose="020B0604020202020204" pitchFamily="34" charset="0"/>
              </a:rPr>
              <a:t>2D/3D Zero-shot Classification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via image-text similarity (slice/ volume-level).</a:t>
            </a:r>
          </a:p>
          <a:p>
            <a:pPr marL="571500" indent="-5715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Spatial Interpretability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028700" lvl="1" indent="-5715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zh-CN" sz="3600" i="1" dirty="0">
                <a:latin typeface="Arial" panose="020B0604020202020204" pitchFamily="34" charset="0"/>
                <a:cs typeface="Arial" panose="020B0604020202020204" pitchFamily="34" charset="0"/>
              </a:rPr>
              <a:t>2D Zero-shot Detection </a:t>
            </a:r>
            <a:r>
              <a:rPr lang="en-US" altLang="zh-CN" sz="3600" dirty="0"/>
              <a:t>via attention maps to localize organs without fine-tuning. </a:t>
            </a:r>
          </a:p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Vision-Language Semantic Alignment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zh-CN" sz="3600" i="1" dirty="0">
                <a:latin typeface="Arial" panose="020B0604020202020204" pitchFamily="34" charset="0"/>
                <a:cs typeface="Arial" panose="020B0604020202020204" pitchFamily="34" charset="0"/>
              </a:rPr>
              <a:t>Cross-modal Retrieval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between images and clinical texts.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83684A-BA02-73F7-CC99-13044F0394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35" y="2012729"/>
            <a:ext cx="3835400" cy="24038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7A6A05-0530-C0CA-6881-14A1EF914A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263" y="4620755"/>
            <a:ext cx="3906145" cy="126160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9474F73-E8E8-0B51-38DA-037947CE5AAC}"/>
              </a:ext>
            </a:extLst>
          </p:cNvPr>
          <p:cNvSpPr txBox="1"/>
          <p:nvPr/>
        </p:nvSpPr>
        <p:spPr>
          <a:xfrm>
            <a:off x="402749" y="39314325"/>
            <a:ext cx="3845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best results are in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99EB2BA-DE68-433D-E1EE-F6AEF05DA5D7}"/>
              </a:ext>
            </a:extLst>
          </p:cNvPr>
          <p:cNvGrpSpPr/>
          <p:nvPr/>
        </p:nvGrpSpPr>
        <p:grpSpPr>
          <a:xfrm>
            <a:off x="304006" y="39841337"/>
            <a:ext cx="29667600" cy="1152000"/>
            <a:chOff x="304006" y="39932777"/>
            <a:chExt cx="29667600" cy="1152000"/>
          </a:xfrm>
        </p:grpSpPr>
        <p:sp>
          <p:nvSpPr>
            <p:cNvPr id="28" name="Rectangle 97">
              <a:extLst>
                <a:ext uri="{FF2B5EF4-FFF2-40B4-BE49-F238E27FC236}">
                  <a16:creationId xmlns:a16="http://schemas.microsoft.com/office/drawing/2014/main" id="{A35A73D5-EAB8-35F2-F09D-4100188AB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06" y="40038877"/>
              <a:ext cx="29667600" cy="939800"/>
            </a:xfrm>
            <a:prstGeom prst="rect">
              <a:avLst/>
            </a:prstGeom>
            <a:solidFill>
              <a:srgbClr val="DEEC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 defTabSz="350672"/>
              <a:endParaRPr lang="en-US" altLang="zh-CN" sz="5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97">
              <a:extLst>
                <a:ext uri="{FF2B5EF4-FFF2-40B4-BE49-F238E27FC236}">
                  <a16:creationId xmlns:a16="http://schemas.microsoft.com/office/drawing/2014/main" id="{0A08FAEE-BF74-634E-3C2E-6A3A3224B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7806" y="39932777"/>
              <a:ext cx="18000000" cy="1152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/>
              <a:r>
                <a:rPr lang="en-US" altLang="zh-CN" sz="5400" b="1" dirty="0">
                  <a:latin typeface="Arial" panose="020B0604020202020204" pitchFamily="34" charset="0"/>
                  <a:cs typeface="Arial" panose="020B0604020202020204" pitchFamily="34" charset="0"/>
                </a:rPr>
                <a:t>CONCLUSION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37A2D9D2-2265-0222-CD7D-0A397605A788}"/>
              </a:ext>
            </a:extLst>
          </p:cNvPr>
          <p:cNvSpPr txBox="1"/>
          <p:nvPr/>
        </p:nvSpPr>
        <p:spPr>
          <a:xfrm>
            <a:off x="324571" y="40926220"/>
            <a:ext cx="297803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 have constructed </a:t>
            </a:r>
            <a:r>
              <a:rPr lang="en-US" altLang="zh-CN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RadiSim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, a radiology-specific dataset with 10.6M multi-source image-text pairs.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RadiSimCLIP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has achieved SOTA accuracy on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zero-shot understanding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across modalities, including 1)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via zero-shot classification, 2)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pixel-level understanding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through zero-shot detection, and 3)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semantic alignment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via cross-modal retrieval.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A59CA05-9069-FF7E-416A-663D955DF00D}"/>
              </a:ext>
            </a:extLst>
          </p:cNvPr>
          <p:cNvSpPr txBox="1"/>
          <p:nvPr/>
        </p:nvSpPr>
        <p:spPr>
          <a:xfrm>
            <a:off x="14531634" y="39314325"/>
            <a:ext cx="151472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Fig. 4: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Results of zero-shot detection across various organs in different datasets.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1A4729B-2DC1-4F7C-7400-458002F143F8}"/>
              </a:ext>
            </a:extLst>
          </p:cNvPr>
          <p:cNvSpPr txBox="1"/>
          <p:nvPr/>
        </p:nvSpPr>
        <p:spPr>
          <a:xfrm>
            <a:off x="324571" y="29690694"/>
            <a:ext cx="135057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RadiSimCLIP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achieves SOTA performance on 15/16 downstream tasks through a multi-level zero-shot evaluation framework.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Evaluation metrics: Accuracy (ACC), Area Under Curve (AUC), Top-1% accuracy, and Average Rank.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B48358D-DD12-2481-2F43-1B3976DA13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5891" y="4113317"/>
            <a:ext cx="404708" cy="420274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1737FC9D-BA2F-0928-A6BD-3A2AF22C95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7642" y="4113317"/>
            <a:ext cx="404708" cy="4202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FB43DF-F5DD-9CA1-3D05-5F03AECEDE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656" y="2436872"/>
            <a:ext cx="4499421" cy="6008089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F393614F-B4C8-9568-2687-0D2BA716A5CE}"/>
              </a:ext>
            </a:extLst>
          </p:cNvPr>
          <p:cNvGrpSpPr/>
          <p:nvPr/>
        </p:nvGrpSpPr>
        <p:grpSpPr>
          <a:xfrm>
            <a:off x="304006" y="11072941"/>
            <a:ext cx="29650502" cy="1178013"/>
            <a:chOff x="304006" y="11072941"/>
            <a:chExt cx="29650502" cy="1178013"/>
          </a:xfrm>
        </p:grpSpPr>
        <p:sp>
          <p:nvSpPr>
            <p:cNvPr id="15" name="Rectangle 97">
              <a:extLst>
                <a:ext uri="{FF2B5EF4-FFF2-40B4-BE49-F238E27FC236}">
                  <a16:creationId xmlns:a16="http://schemas.microsoft.com/office/drawing/2014/main" id="{AF173B72-4740-C9B6-707A-11441ACBA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06" y="11192047"/>
              <a:ext cx="13827600" cy="939800"/>
            </a:xfrm>
            <a:prstGeom prst="rect">
              <a:avLst/>
            </a:prstGeom>
            <a:solidFill>
              <a:srgbClr val="DEEC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 defTabSz="350672"/>
              <a:endParaRPr lang="en-US" altLang="zh-CN" sz="5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97">
              <a:extLst>
                <a:ext uri="{FF2B5EF4-FFF2-40B4-BE49-F238E27FC236}">
                  <a16:creationId xmlns:a16="http://schemas.microsoft.com/office/drawing/2014/main" id="{F483FD05-EFB3-C3CE-DA76-FDC8CFF8E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4508" y="11192047"/>
              <a:ext cx="15660000" cy="939800"/>
            </a:xfrm>
            <a:prstGeom prst="rect">
              <a:avLst/>
            </a:prstGeom>
            <a:solidFill>
              <a:srgbClr val="DEEC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 defTabSz="350672"/>
              <a:endParaRPr lang="en-US" altLang="zh-CN" sz="5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97">
              <a:extLst>
                <a:ext uri="{FF2B5EF4-FFF2-40B4-BE49-F238E27FC236}">
                  <a16:creationId xmlns:a16="http://schemas.microsoft.com/office/drawing/2014/main" id="{B4BBAA8E-028A-DAC3-9804-71F2C1A1F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97556" y="11085947"/>
              <a:ext cx="7253905" cy="1152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/>
              <a:r>
                <a:rPr lang="en-US" altLang="zh-CN" sz="5400" b="1" dirty="0">
                  <a:latin typeface="Arial" panose="020B0604020202020204" pitchFamily="34" charset="0"/>
                  <a:cs typeface="Arial" panose="020B0604020202020204" pitchFamily="34" charset="0"/>
                </a:rPr>
                <a:t>METHOD</a:t>
              </a:r>
            </a:p>
          </p:txBody>
        </p:sp>
        <p:sp>
          <p:nvSpPr>
            <p:cNvPr id="14" name="Rectangle 97">
              <a:extLst>
                <a:ext uri="{FF2B5EF4-FFF2-40B4-BE49-F238E27FC236}">
                  <a16:creationId xmlns:a16="http://schemas.microsoft.com/office/drawing/2014/main" id="{E3FC7003-5A1C-A211-67EC-52F11C49A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729" y="11072941"/>
              <a:ext cx="12406154" cy="11780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/>
              <a:r>
                <a:rPr lang="en-US" altLang="zh-CN" sz="5400" b="1" dirty="0">
                  <a:latin typeface="Arial" panose="020B0604020202020204" pitchFamily="34" charset="0"/>
                  <a:cs typeface="Arial" panose="020B0604020202020204" pitchFamily="34" charset="0"/>
                </a:rPr>
                <a:t>DATASET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E3A2944-DA04-0CC4-634E-3CE000747C03}"/>
              </a:ext>
            </a:extLst>
          </p:cNvPr>
          <p:cNvGrpSpPr/>
          <p:nvPr/>
        </p:nvGrpSpPr>
        <p:grpSpPr>
          <a:xfrm>
            <a:off x="324570" y="9794971"/>
            <a:ext cx="31920730" cy="1200329"/>
            <a:chOff x="324570" y="9794971"/>
            <a:chExt cx="31920730" cy="1200329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04310A02-0DFF-076C-C096-EB92FCF10BBA}"/>
                </a:ext>
              </a:extLst>
            </p:cNvPr>
            <p:cNvSpPr txBox="1"/>
            <p:nvPr/>
          </p:nvSpPr>
          <p:spPr>
            <a:xfrm>
              <a:off x="324570" y="9794971"/>
              <a:ext cx="1604956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rPr>
                <a:t>Two Limitations of current medical vision-language models:</a:t>
              </a:r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zh-CN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Limited training data</a:t>
              </a:r>
              <a:r>
                <a: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  <a:r>
                <a:rPr lang="zh-CN" altLang="en-US" sz="36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rPr>
                <a:t>Lack of radiological diversity and semantic precision.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85F5CD8D-C04E-1718-9793-8AE72D0D468C}"/>
                </a:ext>
              </a:extLst>
            </p:cNvPr>
            <p:cNvSpPr txBox="1"/>
            <p:nvPr/>
          </p:nvSpPr>
          <p:spPr>
            <a:xfrm>
              <a:off x="16624300" y="10348969"/>
              <a:ext cx="15621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marR="0" lvl="0" indent="-57150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Insufficient evaluation</a:t>
              </a: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: Rarely validated on fine-grained tasks.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89B82F60-77CC-789A-DCE9-A9386C6E46E4}"/>
              </a:ext>
            </a:extLst>
          </p:cNvPr>
          <p:cNvSpPr txBox="1"/>
          <p:nvPr/>
        </p:nvSpPr>
        <p:spPr>
          <a:xfrm>
            <a:off x="6252505" y="18652621"/>
            <a:ext cx="8461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Fig. 1: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Overview of 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RadiSim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8678795-4F98-F382-E7BF-580F71B56E02}"/>
              </a:ext>
            </a:extLst>
          </p:cNvPr>
          <p:cNvSpPr txBox="1"/>
          <p:nvPr/>
        </p:nvSpPr>
        <p:spPr>
          <a:xfrm>
            <a:off x="14062754" y="12871026"/>
            <a:ext cx="635872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Training Strategy: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CLIP-based Two-stage</a:t>
            </a:r>
            <a:r>
              <a:rPr lang="en-US" altLang="zh-CN" sz="4000" b="1" dirty="0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Pretraining</a:t>
            </a:r>
          </a:p>
          <a:p>
            <a:pPr marL="571500" marR="0" lvl="0" indent="-57150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Stage 1: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Pretraining on public data for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general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vision-language alignment.</a:t>
            </a:r>
          </a:p>
          <a:p>
            <a:pPr marL="571500" marR="0" lvl="0" indent="-57150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Stage 2: Domain-specific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adaptation on in-house radiology data.</a:t>
            </a: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3DCC37DC-30F4-2107-7044-621C42545C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17" y="7444168"/>
            <a:ext cx="5620534" cy="100979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063AC2A-3BF8-53B3-1836-C622CF55571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" r="1353"/>
          <a:stretch/>
        </p:blipFill>
        <p:spPr>
          <a:xfrm>
            <a:off x="7374917" y="12108865"/>
            <a:ext cx="6455382" cy="66349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9D0965-E9DF-F335-4486-1BDDFC66D9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04701" y="12618424"/>
            <a:ext cx="10021715" cy="5638816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36C47496-617C-F292-370C-E9E2B0EFD81E}"/>
              </a:ext>
            </a:extLst>
          </p:cNvPr>
          <p:cNvGrpSpPr/>
          <p:nvPr/>
        </p:nvGrpSpPr>
        <p:grpSpPr>
          <a:xfrm>
            <a:off x="286908" y="19381973"/>
            <a:ext cx="29667600" cy="1152000"/>
            <a:chOff x="286908" y="19483573"/>
            <a:chExt cx="29667600" cy="1152000"/>
          </a:xfrm>
        </p:grpSpPr>
        <p:sp>
          <p:nvSpPr>
            <p:cNvPr id="17" name="Rectangle 97">
              <a:extLst>
                <a:ext uri="{FF2B5EF4-FFF2-40B4-BE49-F238E27FC236}">
                  <a16:creationId xmlns:a16="http://schemas.microsoft.com/office/drawing/2014/main" id="{21C2028F-9801-FC87-9AE1-5E955DA10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08" y="19589673"/>
              <a:ext cx="29667600" cy="939800"/>
            </a:xfrm>
            <a:prstGeom prst="rect">
              <a:avLst/>
            </a:prstGeom>
            <a:solidFill>
              <a:srgbClr val="DEEC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 defTabSz="350672"/>
              <a:endParaRPr lang="en-US" altLang="zh-CN" sz="5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97">
              <a:extLst>
                <a:ext uri="{FF2B5EF4-FFF2-40B4-BE49-F238E27FC236}">
                  <a16:creationId xmlns:a16="http://schemas.microsoft.com/office/drawing/2014/main" id="{0F48DEEE-97D2-4852-6BDA-BBFB6D08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6" y="19483573"/>
              <a:ext cx="8914944" cy="1152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4370" tIns="52185" rIns="104370" bIns="52185" anchor="ctr"/>
            <a:lstStyle/>
            <a:p>
              <a:pPr algn="ctr"/>
              <a:r>
                <a:rPr lang="en-US" altLang="zh-CN" sz="5400" b="1" dirty="0">
                  <a:latin typeface="Arial" panose="020B0604020202020204" pitchFamily="34" charset="0"/>
                  <a:cs typeface="Arial" panose="020B0604020202020204" pitchFamily="34" charset="0"/>
                </a:rPr>
                <a:t>EXPERIMENTS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1CFFDD0-D703-8B0F-3934-F2E3E520FECD}"/>
              </a:ext>
            </a:extLst>
          </p:cNvPr>
          <p:cNvGrpSpPr/>
          <p:nvPr/>
        </p:nvGrpSpPr>
        <p:grpSpPr>
          <a:xfrm>
            <a:off x="9389378" y="20685502"/>
            <a:ext cx="20737038" cy="6986891"/>
            <a:chOff x="9389378" y="20192742"/>
            <a:chExt cx="20737038" cy="6986891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BCF6D53-1315-CFD4-551E-644ECC781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389378" y="20192742"/>
              <a:ext cx="10679728" cy="6986891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6319E6BC-3D67-F591-B41E-652716BBE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0049087" y="20204308"/>
              <a:ext cx="10077329" cy="6959451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D46573E-619B-585F-68E1-1C89CCF1A2F9}"/>
              </a:ext>
            </a:extLst>
          </p:cNvPr>
          <p:cNvSpPr txBox="1"/>
          <p:nvPr/>
        </p:nvSpPr>
        <p:spPr>
          <a:xfrm>
            <a:off x="20793053" y="18433998"/>
            <a:ext cx="8874930" cy="53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Fig. 2: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Overview of 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RadiSimCLIP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training.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AE1294-9AE8-606F-F9E4-CA47655BD4A7}"/>
              </a:ext>
            </a:extLst>
          </p:cNvPr>
          <p:cNvSpPr txBox="1"/>
          <p:nvPr/>
        </p:nvSpPr>
        <p:spPr>
          <a:xfrm>
            <a:off x="9498954" y="20706137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BD3A446-5046-1279-884D-1D5A3FED68FB}"/>
              </a:ext>
            </a:extLst>
          </p:cNvPr>
          <p:cNvSpPr txBox="1"/>
          <p:nvPr/>
        </p:nvSpPr>
        <p:spPr>
          <a:xfrm>
            <a:off x="20175257" y="20727618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09EC2AD0-E712-82E0-9BBE-B0DE8D31EE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28341" y="32479614"/>
            <a:ext cx="2034532" cy="2034532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9EB3FE14-9C5E-156B-FEF9-BC0C69A8152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28341" y="34555863"/>
            <a:ext cx="2034532" cy="2029441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0EF5C2D0-413F-3E91-3BC0-290F1E61639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90409" y="32479614"/>
            <a:ext cx="2034532" cy="2034532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6001DB93-B6A6-008F-F5C1-B8FFA8A6C4E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90409" y="34555863"/>
            <a:ext cx="2034532" cy="2029441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E46DDFC0-CFAD-55F6-AD8D-129C8BE0DB7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28341" y="36631612"/>
            <a:ext cx="2034532" cy="2029441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6D43752-8407-5E09-9468-B7053D14353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90409" y="36631612"/>
            <a:ext cx="2034532" cy="2029441"/>
          </a:xfrm>
          <a:prstGeom prst="rect">
            <a:avLst/>
          </a:prstGeom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47E96BB0-52DE-8159-94EB-A88DA32DA805}"/>
              </a:ext>
            </a:extLst>
          </p:cNvPr>
          <p:cNvSpPr txBox="1"/>
          <p:nvPr/>
        </p:nvSpPr>
        <p:spPr>
          <a:xfrm>
            <a:off x="23638757" y="38743563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Liver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1BAEACCB-6260-2A91-5160-EC554F2784E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52477" y="32479614"/>
            <a:ext cx="2034532" cy="2034532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99CB8D73-1AC5-E875-3247-26C5EAD91AE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52477" y="36631612"/>
            <a:ext cx="2034531" cy="2029441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F5E25BE6-2AFA-C39B-483B-DCC81FA86DB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66945" y="32479614"/>
            <a:ext cx="2034532" cy="2034532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D2633112-5F1C-099A-D4E9-04B2AFAE03D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66945" y="34555863"/>
            <a:ext cx="2034531" cy="2029441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F92CCD04-66F9-6C02-5829-957E17913ED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66945" y="36631612"/>
            <a:ext cx="2034531" cy="2029441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52E38166-E122-8D86-43C9-C187F7A9196D}"/>
              </a:ext>
            </a:extLst>
          </p:cNvPr>
          <p:cNvSpPr txBox="1"/>
          <p:nvPr/>
        </p:nvSpPr>
        <p:spPr>
          <a:xfrm>
            <a:off x="27277029" y="38743563"/>
            <a:ext cx="1383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Kidney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B97B2582-BD3C-629E-CA3A-BBDB8105764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52477" y="34558158"/>
            <a:ext cx="2034531" cy="2029441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895E3D23-CCA2-A4BA-BA49-AD2718F6A58A}"/>
              </a:ext>
            </a:extLst>
          </p:cNvPr>
          <p:cNvSpPr txBox="1"/>
          <p:nvPr/>
        </p:nvSpPr>
        <p:spPr>
          <a:xfrm>
            <a:off x="14759208" y="29901613"/>
            <a:ext cx="1914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BiomedCLIP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C5A54F4-9E8B-9ED1-A6D0-7801B51A13B5}"/>
              </a:ext>
            </a:extLst>
          </p:cNvPr>
          <p:cNvSpPr txBox="1"/>
          <p:nvPr/>
        </p:nvSpPr>
        <p:spPr>
          <a:xfrm>
            <a:off x="17062446" y="29901613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D18C413-7FB3-D453-E929-469FBE1B305B}"/>
              </a:ext>
            </a:extLst>
          </p:cNvPr>
          <p:cNvSpPr txBox="1"/>
          <p:nvPr/>
        </p:nvSpPr>
        <p:spPr>
          <a:xfrm>
            <a:off x="18446475" y="29901613"/>
            <a:ext cx="1914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BiomedCLIP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E53C8A7-5337-DFCE-0963-6B5153C97FD2}"/>
              </a:ext>
            </a:extLst>
          </p:cNvPr>
          <p:cNvSpPr txBox="1"/>
          <p:nvPr/>
        </p:nvSpPr>
        <p:spPr>
          <a:xfrm>
            <a:off x="20822707" y="29901613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BD50FE0-8B2E-04BA-F49B-BF9A3D1F8B0A}"/>
              </a:ext>
            </a:extLst>
          </p:cNvPr>
          <p:cNvSpPr txBox="1"/>
          <p:nvPr/>
        </p:nvSpPr>
        <p:spPr>
          <a:xfrm rot="16200000">
            <a:off x="13486585" y="30872510"/>
            <a:ext cx="1387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A74580F-3ECC-739D-640E-A0D676DE18E5}"/>
              </a:ext>
            </a:extLst>
          </p:cNvPr>
          <p:cNvSpPr txBox="1"/>
          <p:nvPr/>
        </p:nvSpPr>
        <p:spPr>
          <a:xfrm rot="16200000">
            <a:off x="13108548" y="33109003"/>
            <a:ext cx="2143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Organ label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66DA331-4B0C-2260-F0CB-82037AD09EDE}"/>
              </a:ext>
            </a:extLst>
          </p:cNvPr>
          <p:cNvSpPr txBox="1"/>
          <p:nvPr/>
        </p:nvSpPr>
        <p:spPr>
          <a:xfrm rot="16200000">
            <a:off x="12885944" y="35142813"/>
            <a:ext cx="2589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Organ bounding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box map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3FBBC4F-C162-7A8B-20BC-E527D719A253}"/>
              </a:ext>
            </a:extLst>
          </p:cNvPr>
          <p:cNvSpPr txBox="1"/>
          <p:nvPr/>
        </p:nvSpPr>
        <p:spPr>
          <a:xfrm rot="16200000">
            <a:off x="12885944" y="37371466"/>
            <a:ext cx="2589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Organ bounding 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box GT</a:t>
            </a:r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5D7C1A10-B735-6769-9AD8-70C0EE548F8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32595" y="32479614"/>
            <a:ext cx="2034532" cy="2034532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331619C7-048A-00CF-AEF5-E96675FAECF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33163" y="32479614"/>
            <a:ext cx="2034532" cy="2034532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4DD6617A-A127-9229-2026-3686470B571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95231" y="32479614"/>
            <a:ext cx="2034532" cy="2034532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194D3CDC-959F-E7F2-5B89-F6F453F11F6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7299" y="32479614"/>
            <a:ext cx="2034532" cy="2034532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64242000-25CF-219B-24DE-28D3165887D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7299" y="30404600"/>
            <a:ext cx="2034532" cy="2031002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0E189A43-0A9B-1816-1DB0-CB7A2C3AB71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95231" y="30404600"/>
            <a:ext cx="2034532" cy="2031002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8851ED00-7430-D8F2-DD14-53B361DB37D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33163" y="30404600"/>
            <a:ext cx="2034532" cy="2031002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C87FEDC0-C326-27D7-7042-E88A1FDDECF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32595" y="30404600"/>
            <a:ext cx="2034532" cy="2031002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DF5C5904-F458-144F-5720-CFA56F12BFC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32595" y="36631612"/>
            <a:ext cx="2034532" cy="2029441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48F9F2A1-F310-7365-B359-F177815B3B0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33163" y="34555863"/>
            <a:ext cx="2034532" cy="2029441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B73D0050-912F-985B-FF51-1F7C1159B2D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95231" y="34555863"/>
            <a:ext cx="2034532" cy="2029441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E45BE651-3913-69DB-4E3B-CBB02770081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7299" y="34555863"/>
            <a:ext cx="2034532" cy="2029441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D92D889F-4498-EE29-89FB-DC09943D523C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33163" y="36626521"/>
            <a:ext cx="2034532" cy="2034532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07AACDB7-41DC-E028-1BA7-3C92A56FDE4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95231" y="36631612"/>
            <a:ext cx="2034532" cy="2029441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3C7CA18A-6E13-4560-7F5C-0DBE75AC63D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7299" y="36631612"/>
            <a:ext cx="2034532" cy="2029441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4CD3E6C1-2F92-FCFA-2F38-13A91B45BF7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32595" y="34555863"/>
            <a:ext cx="2034532" cy="2029441"/>
          </a:xfrm>
          <a:prstGeom prst="rect">
            <a:avLst/>
          </a:prstGeom>
        </p:spPr>
      </p:pic>
      <p:sp>
        <p:nvSpPr>
          <p:cNvPr id="104" name="文本框 103">
            <a:extLst>
              <a:ext uri="{FF2B5EF4-FFF2-40B4-BE49-F238E27FC236}">
                <a16:creationId xmlns:a16="http://schemas.microsoft.com/office/drawing/2014/main" id="{F775061D-7DDE-7379-2E06-31E8C6729609}"/>
              </a:ext>
            </a:extLst>
          </p:cNvPr>
          <p:cNvSpPr txBox="1"/>
          <p:nvPr/>
        </p:nvSpPr>
        <p:spPr>
          <a:xfrm>
            <a:off x="16131556" y="38742551"/>
            <a:ext cx="106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Lung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4D5D5EF0-9A59-7E41-5E41-6E991A4FC11B}"/>
              </a:ext>
            </a:extLst>
          </p:cNvPr>
          <p:cNvSpPr txBox="1"/>
          <p:nvPr/>
        </p:nvSpPr>
        <p:spPr>
          <a:xfrm>
            <a:off x="22316453" y="29890453"/>
            <a:ext cx="1914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BiomedCLIP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AA3C9E43-012B-153C-1F37-69A54E832963}"/>
              </a:ext>
            </a:extLst>
          </p:cNvPr>
          <p:cNvSpPr txBox="1"/>
          <p:nvPr/>
        </p:nvSpPr>
        <p:spPr>
          <a:xfrm>
            <a:off x="24670491" y="29890453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FB3076F-A140-602D-3280-0BEC6EA96B9B}"/>
              </a:ext>
            </a:extLst>
          </p:cNvPr>
          <p:cNvSpPr txBox="1"/>
          <p:nvPr/>
        </p:nvSpPr>
        <p:spPr>
          <a:xfrm>
            <a:off x="26003721" y="29890453"/>
            <a:ext cx="1914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BiomedCLIP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5EAB45B-C7A4-8E87-B79A-BBC8131BA9AE}"/>
              </a:ext>
            </a:extLst>
          </p:cNvPr>
          <p:cNvSpPr txBox="1"/>
          <p:nvPr/>
        </p:nvSpPr>
        <p:spPr>
          <a:xfrm>
            <a:off x="28481553" y="29890453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C29D7D6-E99D-98C0-3460-5008F40A5428}"/>
              </a:ext>
            </a:extLst>
          </p:cNvPr>
          <p:cNvSpPr txBox="1"/>
          <p:nvPr/>
        </p:nvSpPr>
        <p:spPr>
          <a:xfrm>
            <a:off x="19590493" y="38742551"/>
            <a:ext cx="1503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Cardiac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B526EB7-A8A2-CAF3-261E-EC987B90D16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28341" y="30404600"/>
            <a:ext cx="2034532" cy="2031002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CBA0DA04-C764-E688-A556-10D0E1E2505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90409" y="30404598"/>
            <a:ext cx="2034532" cy="203100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64343CD6-D0C3-AE9B-67BA-0584741C7D0D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52477" y="30404600"/>
            <a:ext cx="2034531" cy="2031002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AC246D86-FC45-F24F-A4A7-5E0AA76EB9F9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66945" y="30404600"/>
            <a:ext cx="2034531" cy="203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75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321</TotalTime>
  <Words>453</Words>
  <Application>Microsoft Macintosh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Courier New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1258839433@qq.com</dc:creator>
  <cp:lastModifiedBy>Microsoft Office User</cp:lastModifiedBy>
  <cp:revision>22</cp:revision>
  <dcterms:created xsi:type="dcterms:W3CDTF">2023-03-28T05:21:41Z</dcterms:created>
  <dcterms:modified xsi:type="dcterms:W3CDTF">2025-09-12T10:32:42Z</dcterms:modified>
</cp:coreProperties>
</file>