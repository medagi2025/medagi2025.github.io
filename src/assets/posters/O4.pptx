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90" r:id="rId2"/>
    <p:sldId id="298" r:id="rId3"/>
    <p:sldId id="291" r:id="rId4"/>
    <p:sldId id="260" r:id="rId5"/>
    <p:sldId id="262" r:id="rId6"/>
    <p:sldId id="293" r:id="rId7"/>
    <p:sldId id="297" r:id="rId8"/>
    <p:sldId id="265" r:id="rId9"/>
    <p:sldId id="294" r:id="rId10"/>
    <p:sldId id="295" r:id="rId11"/>
    <p:sldId id="296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8C3"/>
    <a:srgbClr val="C9FF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8"/>
  </p:normalViewPr>
  <p:slideViewPr>
    <p:cSldViewPr snapToGrid="0">
      <p:cViewPr varScale="1">
        <p:scale>
          <a:sx n="113" d="100"/>
          <a:sy n="113" d="100"/>
        </p:scale>
        <p:origin x="2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10DA1-9763-9340-898B-68D91E09B83B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6DAD2-E5CE-CF46-B894-63AF7A6D81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708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db41a90486_5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g2db41a90486_52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86" name="Google Shape;586;g2db41a90486_52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5579B415-54BE-5262-E2BA-EDC482D7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5a2e7b76_0_338:notes">
            <a:extLst>
              <a:ext uri="{FF2B5EF4-FFF2-40B4-BE49-F238E27FC236}">
                <a16:creationId xmlns:a16="http://schemas.microsoft.com/office/drawing/2014/main" id="{4F49C8E1-5BB5-D11E-D2BE-B136E16AF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45a2e7b76_0_338:notes">
            <a:extLst>
              <a:ext uri="{FF2B5EF4-FFF2-40B4-BE49-F238E27FC236}">
                <a16:creationId xmlns:a16="http://schemas.microsoft.com/office/drawing/2014/main" id="{3C4307F7-502C-140E-E6F6-F3C96FA00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9653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7108cfbcfb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9" name="Google Shape;599;g27108cfbcfb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g27108cfbcfb_1_1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45a2e7b76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45a2e7b76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5a2e7b76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45a2e7b76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AE8B30B9-C9BB-76F5-C7FD-6E4BE9E9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5a2e7b76_0_338:notes">
            <a:extLst>
              <a:ext uri="{FF2B5EF4-FFF2-40B4-BE49-F238E27FC236}">
                <a16:creationId xmlns:a16="http://schemas.microsoft.com/office/drawing/2014/main" id="{49BD5C8C-6229-C94F-3687-1B31FD42A8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45a2e7b76_0_338:notes">
            <a:extLst>
              <a:ext uri="{FF2B5EF4-FFF2-40B4-BE49-F238E27FC236}">
                <a16:creationId xmlns:a16="http://schemas.microsoft.com/office/drawing/2014/main" id="{6F212B9F-5E3A-127D-6965-C7DD82001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7054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45a2e7b7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45a2e7b7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C7470E38-FCB3-A40F-C1BF-6147E2631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45a2e7b76_0_40:notes">
            <a:extLst>
              <a:ext uri="{FF2B5EF4-FFF2-40B4-BE49-F238E27FC236}">
                <a16:creationId xmlns:a16="http://schemas.microsoft.com/office/drawing/2014/main" id="{AD2C362F-D1CD-CFE1-E270-A845AA0B6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45a2e7b76_0_40:notes">
            <a:extLst>
              <a:ext uri="{FF2B5EF4-FFF2-40B4-BE49-F238E27FC236}">
                <a16:creationId xmlns:a16="http://schemas.microsoft.com/office/drawing/2014/main" id="{F58F54A2-FC26-C3D4-47F2-C8781BE1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111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FB44214F-4D5A-1E97-B034-6925AA1F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45a2e7b76_0_40:notes">
            <a:extLst>
              <a:ext uri="{FF2B5EF4-FFF2-40B4-BE49-F238E27FC236}">
                <a16:creationId xmlns:a16="http://schemas.microsoft.com/office/drawing/2014/main" id="{C4F2CE6B-47F9-2B41-B2FA-E0C82F445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45a2e7b76_0_40:notes">
            <a:extLst>
              <a:ext uri="{FF2B5EF4-FFF2-40B4-BE49-F238E27FC236}">
                <a16:creationId xmlns:a16="http://schemas.microsoft.com/office/drawing/2014/main" id="{BCB1AE00-E787-4EE8-E0C6-2E27EA08F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407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84DFAE8B-E5C7-737A-8E72-4DAC7034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5a2e7b76_0_338:notes">
            <a:extLst>
              <a:ext uri="{FF2B5EF4-FFF2-40B4-BE49-F238E27FC236}">
                <a16:creationId xmlns:a16="http://schemas.microsoft.com/office/drawing/2014/main" id="{1120C0E3-CE39-E71C-2627-01AA759D3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45a2e7b76_0_338:notes">
            <a:extLst>
              <a:ext uri="{FF2B5EF4-FFF2-40B4-BE49-F238E27FC236}">
                <a16:creationId xmlns:a16="http://schemas.microsoft.com/office/drawing/2014/main" id="{27ECCDD9-54D7-C39D-D9C1-F09A5C2EE9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502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F0B3-95F2-3C01-D829-8D56E45A9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F0D3C-036B-D17A-EA52-0DC6132AF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7F0F1-ED3D-CB5A-401B-9F8E9106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5C0FC-CE90-8602-B68A-39158B27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1252-A1CF-0886-0FFF-4D11C50F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116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9521-FC06-674D-8AB1-977C30BE2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2ACF-8934-3C19-C7F2-B8ECA0958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7A92-1003-15D6-FF18-6E618DB2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8E0D5-047B-56DB-6F83-72DEC83F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0FC97-22C2-7C57-D533-91C89856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894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6D21-0D63-A83B-D62C-DF71565C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E981E-D069-BAA8-F7A2-6DCD04A38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7A16D-BB22-C11B-127D-1BAA1A4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9C3A6-3943-CE51-0A2E-A939B36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3D3A4-A23B-DA3E-33AA-87B78DE4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871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DC97-0BEC-A08C-DAD2-8028728B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4D58-4819-E1EC-FA35-9EA8180E9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98D82-DCB2-7C0A-116A-8F3A82425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E949D-CBE1-04CC-1CF9-86A6AB65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5221D-71A1-0F27-CE95-0C395112F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3BECC-5B14-59A6-41EC-A1A76D3D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6770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D5AF-D963-E129-DC6F-5BFBB9DA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71711-586F-2D08-A8DC-4372CFF32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335F8-0EFD-836A-2D9F-CA1D4AF59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4EB93B-2192-5A3C-AA0D-86411CE15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B6298-6662-EA4A-9550-7CABBF69C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EBF985-8C41-3F0C-D3B0-703F3E80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C4DC12-70E4-8AEF-E488-4C8D5F70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EE3029-8ECA-B723-C9B1-3A4BD252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60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8E14-067D-D86B-40B8-A80F37D5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D9087-2A5D-1F8D-6355-4D7C5235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0FDBB-5BA9-064D-88E0-0456AF1D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CE289-7AD3-52E8-F54A-B34E7BA7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1183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0327E-6B5A-E39D-2186-E60DE7D7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2243C-04B2-208C-C926-ACA6EE5F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6F87F-E63B-7987-F3DF-0CB19493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73349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AC98-601C-10FB-6D94-45F200AD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78CE6-DB92-4BDA-7CCA-48254BE06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34D2F-ACC1-5702-A8E4-976ECF4AA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58CAE-209B-4B66-9B1C-02D4BF0D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FD680-FA06-6344-ECEE-9CC629C2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981B7-5825-C20E-2532-D5936B92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59180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B02C-752F-E4E4-0A57-B938F184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0DC7A-E585-1E5B-762C-44E2FE52F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A2C07-5CF9-C0BD-4033-42DE0C8EC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1CBC0-E287-7B56-AAAB-BBFB65F3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956E3-00D1-49B4-20A4-D5BA2BB2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2DA3A-466F-D9B1-14E0-ACC2B6D7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891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EDA0-AEB9-0F3C-33E0-23AC8E01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37E08-08F3-52B3-B7EC-804BFC7A9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AD32C-9539-6B8B-7978-E3B13068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7530E-4538-C6DC-1287-1870361C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29655-B74B-1F06-4CEE-9EBB3628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4836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9648EB-ECC6-54D5-3F9D-1248E66F7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FC01E-55C0-65D6-AFC1-290618C58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9AFB7-B974-D926-CAA6-74ED50BB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2A78D-6C43-6C01-7229-F84EBA1D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8F05C-060F-524D-A986-59E030C7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4271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a2f68f84b4_0_533"/>
          <p:cNvSpPr txBox="1">
            <a:spLocks noGrp="1"/>
          </p:cNvSpPr>
          <p:nvPr>
            <p:ph type="body" idx="1"/>
          </p:nvPr>
        </p:nvSpPr>
        <p:spPr>
          <a:xfrm>
            <a:off x="838200" y="1676285"/>
            <a:ext cx="5257800" cy="30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2a2f68f84b4_0_53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2a2f68f84b4_0_533"/>
          <p:cNvSpPr txBox="1">
            <a:spLocks noGrp="1"/>
          </p:cNvSpPr>
          <p:nvPr>
            <p:ph type="ftr" idx="11"/>
          </p:nvPr>
        </p:nvSpPr>
        <p:spPr>
          <a:xfrm>
            <a:off x="4038600" y="649287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2a2f68f84b4_0_53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g2a2f68f84b4_0_533"/>
          <p:cNvSpPr txBox="1">
            <a:spLocks noGrp="1"/>
          </p:cNvSpPr>
          <p:nvPr>
            <p:ph type="ctrTitle"/>
          </p:nvPr>
        </p:nvSpPr>
        <p:spPr>
          <a:xfrm>
            <a:off x="838200" y="841731"/>
            <a:ext cx="105156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venir"/>
              <a:buNone/>
              <a:defRPr sz="36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926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333DBC-0018-256C-98C9-0145BD89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8016F-8392-75B5-72B7-4638D25D4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189A8-D7F2-E8E9-0E77-032D4A6C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A5479-64C8-2D48-A9B3-24D18714F8F4}" type="datetimeFigureOut">
              <a:rPr lang="en-DE" smtClean="0"/>
              <a:t>12.09.25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16A98-7AB2-BD61-4561-72672B3EA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6AA35-8067-7310-851B-CBF8CB7FF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5CB9D-BEDD-724C-9007-5E46135700D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039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db41a90486_52_54"/>
          <p:cNvSpPr/>
          <p:nvPr/>
        </p:nvSpPr>
        <p:spPr>
          <a:xfrm>
            <a:off x="5039419" y="6731022"/>
            <a:ext cx="111816" cy="112372"/>
          </a:xfrm>
          <a:custGeom>
            <a:avLst/>
            <a:gdLst/>
            <a:ahLst/>
            <a:cxnLst/>
            <a:rect l="l" t="t" r="r" b="b"/>
            <a:pathLst>
              <a:path w="111816" h="112372" extrusionOk="0">
                <a:moveTo>
                  <a:pt x="55275" y="380"/>
                </a:moveTo>
                <a:cubicBezTo>
                  <a:pt x="49218" y="35934"/>
                  <a:pt x="7674" y="53048"/>
                  <a:pt x="292" y="55835"/>
                </a:cubicBezTo>
                <a:cubicBezTo>
                  <a:pt x="-97" y="55972"/>
                  <a:pt x="-97" y="56518"/>
                  <a:pt x="292" y="56654"/>
                </a:cubicBezTo>
                <a:cubicBezTo>
                  <a:pt x="7693" y="59422"/>
                  <a:pt x="49218" y="76458"/>
                  <a:pt x="55275" y="111992"/>
                </a:cubicBezTo>
                <a:cubicBezTo>
                  <a:pt x="55353" y="112499"/>
                  <a:pt x="56016" y="112499"/>
                  <a:pt x="56113" y="111992"/>
                </a:cubicBezTo>
                <a:cubicBezTo>
                  <a:pt x="62170" y="76458"/>
                  <a:pt x="104065" y="59422"/>
                  <a:pt x="111525" y="56654"/>
                </a:cubicBezTo>
                <a:cubicBezTo>
                  <a:pt x="111914" y="56518"/>
                  <a:pt x="111914" y="55972"/>
                  <a:pt x="111525" y="55835"/>
                </a:cubicBezTo>
                <a:cubicBezTo>
                  <a:pt x="104065" y="53048"/>
                  <a:pt x="62170" y="35934"/>
                  <a:pt x="56113" y="380"/>
                </a:cubicBezTo>
                <a:cubicBezTo>
                  <a:pt x="56016" y="-127"/>
                  <a:pt x="55353" y="-127"/>
                  <a:pt x="55275" y="380"/>
                </a:cubicBezTo>
              </a:path>
            </a:pathLst>
          </a:custGeom>
          <a:solidFill>
            <a:srgbClr val="FFFF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2db41a90486_52_54"/>
          <p:cNvSpPr/>
          <p:nvPr/>
        </p:nvSpPr>
        <p:spPr>
          <a:xfrm>
            <a:off x="5039419" y="6570484"/>
            <a:ext cx="111816" cy="112371"/>
          </a:xfrm>
          <a:custGeom>
            <a:avLst/>
            <a:gdLst/>
            <a:ahLst/>
            <a:cxnLst/>
            <a:rect l="l" t="t" r="r" b="b"/>
            <a:pathLst>
              <a:path w="111816" h="112371" extrusionOk="0">
                <a:moveTo>
                  <a:pt x="55275" y="380"/>
                </a:moveTo>
                <a:cubicBezTo>
                  <a:pt x="49218" y="35934"/>
                  <a:pt x="7674" y="53048"/>
                  <a:pt x="292" y="55835"/>
                </a:cubicBezTo>
                <a:cubicBezTo>
                  <a:pt x="-97" y="55972"/>
                  <a:pt x="-97" y="56518"/>
                  <a:pt x="292" y="56654"/>
                </a:cubicBezTo>
                <a:cubicBezTo>
                  <a:pt x="7693" y="59422"/>
                  <a:pt x="49218" y="76458"/>
                  <a:pt x="55275" y="111992"/>
                </a:cubicBezTo>
                <a:cubicBezTo>
                  <a:pt x="55353" y="112499"/>
                  <a:pt x="56016" y="112499"/>
                  <a:pt x="56113" y="111992"/>
                </a:cubicBezTo>
                <a:cubicBezTo>
                  <a:pt x="62170" y="76458"/>
                  <a:pt x="104065" y="59422"/>
                  <a:pt x="111525" y="56654"/>
                </a:cubicBezTo>
                <a:cubicBezTo>
                  <a:pt x="111914" y="56518"/>
                  <a:pt x="111914" y="55972"/>
                  <a:pt x="111525" y="55835"/>
                </a:cubicBezTo>
                <a:cubicBezTo>
                  <a:pt x="104065" y="53048"/>
                  <a:pt x="62170" y="35934"/>
                  <a:pt x="56113" y="380"/>
                </a:cubicBezTo>
                <a:cubicBezTo>
                  <a:pt x="56016" y="-127"/>
                  <a:pt x="55353" y="-127"/>
                  <a:pt x="55275" y="380"/>
                </a:cubicBezTo>
              </a:path>
            </a:pathLst>
          </a:custGeom>
          <a:solidFill>
            <a:srgbClr val="FFFF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2db41a90486_52_54"/>
          <p:cNvSpPr/>
          <p:nvPr/>
        </p:nvSpPr>
        <p:spPr>
          <a:xfrm>
            <a:off x="11603148" y="6570484"/>
            <a:ext cx="111819" cy="112371"/>
          </a:xfrm>
          <a:custGeom>
            <a:avLst/>
            <a:gdLst/>
            <a:ahLst/>
            <a:cxnLst/>
            <a:rect l="l" t="t" r="r" b="b"/>
            <a:pathLst>
              <a:path w="111819" h="112371" extrusionOk="0">
                <a:moveTo>
                  <a:pt x="55278" y="380"/>
                </a:moveTo>
                <a:cubicBezTo>
                  <a:pt x="49221" y="35934"/>
                  <a:pt x="7677" y="53048"/>
                  <a:pt x="275" y="55835"/>
                </a:cubicBezTo>
                <a:cubicBezTo>
                  <a:pt x="-95" y="55972"/>
                  <a:pt x="-95" y="56518"/>
                  <a:pt x="295" y="56654"/>
                </a:cubicBezTo>
                <a:cubicBezTo>
                  <a:pt x="7696" y="59422"/>
                  <a:pt x="49221" y="76458"/>
                  <a:pt x="55278" y="111992"/>
                </a:cubicBezTo>
                <a:cubicBezTo>
                  <a:pt x="55356" y="112499"/>
                  <a:pt x="56018" y="112499"/>
                  <a:pt x="56096" y="111992"/>
                </a:cubicBezTo>
                <a:cubicBezTo>
                  <a:pt x="62172" y="76458"/>
                  <a:pt x="104067" y="59422"/>
                  <a:pt x="111527" y="56654"/>
                </a:cubicBezTo>
                <a:cubicBezTo>
                  <a:pt x="111917" y="56518"/>
                  <a:pt x="111917" y="55972"/>
                  <a:pt x="111527" y="55835"/>
                </a:cubicBezTo>
                <a:cubicBezTo>
                  <a:pt x="104067" y="53048"/>
                  <a:pt x="62172" y="35934"/>
                  <a:pt x="56096" y="380"/>
                </a:cubicBezTo>
                <a:cubicBezTo>
                  <a:pt x="56018" y="-127"/>
                  <a:pt x="55356" y="-127"/>
                  <a:pt x="55278" y="380"/>
                </a:cubicBezTo>
              </a:path>
            </a:pathLst>
          </a:custGeom>
          <a:solidFill>
            <a:srgbClr val="FFFF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2db41a90486_52_54"/>
          <p:cNvSpPr/>
          <p:nvPr/>
        </p:nvSpPr>
        <p:spPr>
          <a:xfrm>
            <a:off x="11603148" y="6731022"/>
            <a:ext cx="111819" cy="112372"/>
          </a:xfrm>
          <a:custGeom>
            <a:avLst/>
            <a:gdLst/>
            <a:ahLst/>
            <a:cxnLst/>
            <a:rect l="l" t="t" r="r" b="b"/>
            <a:pathLst>
              <a:path w="111819" h="112372" extrusionOk="0">
                <a:moveTo>
                  <a:pt x="55278" y="380"/>
                </a:moveTo>
                <a:cubicBezTo>
                  <a:pt x="49221" y="35934"/>
                  <a:pt x="7677" y="53048"/>
                  <a:pt x="275" y="55835"/>
                </a:cubicBezTo>
                <a:cubicBezTo>
                  <a:pt x="-95" y="55972"/>
                  <a:pt x="-95" y="56518"/>
                  <a:pt x="295" y="56654"/>
                </a:cubicBezTo>
                <a:cubicBezTo>
                  <a:pt x="7696" y="59422"/>
                  <a:pt x="49221" y="76458"/>
                  <a:pt x="55278" y="111992"/>
                </a:cubicBezTo>
                <a:cubicBezTo>
                  <a:pt x="55356" y="112499"/>
                  <a:pt x="56018" y="112499"/>
                  <a:pt x="56096" y="111992"/>
                </a:cubicBezTo>
                <a:cubicBezTo>
                  <a:pt x="62172" y="76458"/>
                  <a:pt x="104067" y="59422"/>
                  <a:pt x="111527" y="56654"/>
                </a:cubicBezTo>
                <a:cubicBezTo>
                  <a:pt x="111917" y="56518"/>
                  <a:pt x="111917" y="55972"/>
                  <a:pt x="111527" y="55835"/>
                </a:cubicBezTo>
                <a:cubicBezTo>
                  <a:pt x="104067" y="53048"/>
                  <a:pt x="62172" y="35934"/>
                  <a:pt x="56096" y="380"/>
                </a:cubicBezTo>
                <a:cubicBezTo>
                  <a:pt x="56018" y="-127"/>
                  <a:pt x="55356" y="-127"/>
                  <a:pt x="55278" y="380"/>
                </a:cubicBezTo>
              </a:path>
            </a:pathLst>
          </a:custGeom>
          <a:solidFill>
            <a:srgbClr val="FFFF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2db41a90486_52_54"/>
          <p:cNvSpPr/>
          <p:nvPr/>
        </p:nvSpPr>
        <p:spPr>
          <a:xfrm>
            <a:off x="11603830" y="555521"/>
            <a:ext cx="111819" cy="112377"/>
          </a:xfrm>
          <a:custGeom>
            <a:avLst/>
            <a:gdLst/>
            <a:ahLst/>
            <a:cxnLst/>
            <a:rect l="l" t="t" r="r" b="b"/>
            <a:pathLst>
              <a:path w="111819" h="112377" extrusionOk="0">
                <a:moveTo>
                  <a:pt x="55278" y="380"/>
                </a:moveTo>
                <a:cubicBezTo>
                  <a:pt x="49221" y="35934"/>
                  <a:pt x="7676" y="53067"/>
                  <a:pt x="275" y="55835"/>
                </a:cubicBezTo>
                <a:cubicBezTo>
                  <a:pt x="-95" y="55991"/>
                  <a:pt x="-95" y="56517"/>
                  <a:pt x="294" y="56654"/>
                </a:cubicBezTo>
                <a:cubicBezTo>
                  <a:pt x="7696" y="59422"/>
                  <a:pt x="49221" y="76458"/>
                  <a:pt x="55278" y="112012"/>
                </a:cubicBezTo>
                <a:cubicBezTo>
                  <a:pt x="55356" y="112499"/>
                  <a:pt x="56018" y="112499"/>
                  <a:pt x="56096" y="112012"/>
                </a:cubicBezTo>
                <a:cubicBezTo>
                  <a:pt x="62173" y="76458"/>
                  <a:pt x="104067" y="59422"/>
                  <a:pt x="111527" y="56654"/>
                </a:cubicBezTo>
                <a:cubicBezTo>
                  <a:pt x="111917" y="56517"/>
                  <a:pt x="111917" y="55991"/>
                  <a:pt x="111527" y="55835"/>
                </a:cubicBezTo>
                <a:cubicBezTo>
                  <a:pt x="104067" y="53067"/>
                  <a:pt x="62173" y="35934"/>
                  <a:pt x="56096" y="380"/>
                </a:cubicBezTo>
                <a:cubicBezTo>
                  <a:pt x="56018" y="-127"/>
                  <a:pt x="55356" y="-127"/>
                  <a:pt x="55278" y="380"/>
                </a:cubicBezTo>
              </a:path>
            </a:pathLst>
          </a:custGeom>
          <a:solidFill>
            <a:srgbClr val="FFFF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2db41a90486_52_54"/>
          <p:cNvSpPr txBox="1">
            <a:spLocks noGrp="1"/>
          </p:cNvSpPr>
          <p:nvPr>
            <p:ph type="title" idx="4294967295"/>
          </p:nvPr>
        </p:nvSpPr>
        <p:spPr>
          <a:xfrm>
            <a:off x="1062748" y="1306863"/>
            <a:ext cx="9878702" cy="1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647"/>
              </a:buClr>
              <a:buSzPts val="3600"/>
              <a:buFont typeface="Avenir"/>
              <a:buNone/>
            </a:pPr>
            <a:r>
              <a:rPr lang="en-US" sz="4000" b="1" i="0" u="none" strike="noStrike" cap="none" dirty="0">
                <a:solidFill>
                  <a:srgbClr val="2D3647"/>
                </a:solidFill>
                <a:latin typeface="Calibri"/>
                <a:ea typeface="Calibri"/>
                <a:cs typeface="Calibri"/>
                <a:sym typeface="Calibri"/>
              </a:rPr>
              <a:t>Improving Medical Visual Instruction Tuning</a:t>
            </a:r>
            <a:br>
              <a:rPr lang="en-US" sz="4000" b="1" i="0" u="none" strike="noStrike" cap="none" dirty="0">
                <a:solidFill>
                  <a:srgbClr val="2D364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b="1" i="0" u="none" strike="noStrike" cap="none" dirty="0">
                <a:solidFill>
                  <a:srgbClr val="2D3647"/>
                </a:solidFill>
                <a:latin typeface="Calibri"/>
                <a:ea typeface="Calibri"/>
                <a:cs typeface="Calibri"/>
                <a:sym typeface="Calibri"/>
              </a:rPr>
              <a:t>with Labeled Datasets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9FFD1-E608-E297-8482-D6A02E130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2748" y="2876028"/>
            <a:ext cx="9323030" cy="1655762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Amin Dada, Amanda Butler Contreras, Constantin Seibold, Osman</a:t>
            </a:r>
          </a:p>
          <a:p>
            <a:pPr algn="l"/>
            <a:r>
              <a:rPr lang="en-US" sz="20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Alperen </a:t>
            </a:r>
            <a:r>
              <a:rPr lang="en-US" sz="20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Koraş</a:t>
            </a:r>
            <a:r>
              <a:rPr lang="en-US" sz="20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, Julius Keyl, </a:t>
            </a:r>
            <a:r>
              <a:rPr lang="en-US" sz="20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Aokun</a:t>
            </a:r>
            <a:r>
              <a:rPr lang="en-US" sz="20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Chen, Cheng Peng, Alexander</a:t>
            </a:r>
          </a:p>
          <a:p>
            <a:pPr algn="l"/>
            <a:r>
              <a:rPr lang="en-US" sz="20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Brehmer, Kaleb E Smith, Jiang Bian, </a:t>
            </a:r>
            <a:r>
              <a:rPr lang="en-US" sz="20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Yonghui</a:t>
            </a:r>
            <a:r>
              <a:rPr lang="en-US" sz="20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Wu, and </a:t>
            </a:r>
            <a:r>
              <a:rPr lang="en-US" sz="2000" b="1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Jens </a:t>
            </a:r>
            <a:r>
              <a:rPr lang="en-US" sz="2000" b="1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Kleesiek</a:t>
            </a:r>
            <a:endParaRPr lang="en-US" sz="2000" b="1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26" name="Picture 2" descr="IKIM web site">
            <a:extLst>
              <a:ext uri="{FF2B5EF4-FFF2-40B4-BE49-F238E27FC236}">
                <a16:creationId xmlns:a16="http://schemas.microsoft.com/office/drawing/2014/main" id="{BBBD43E6-1B14-2061-BCCE-55688A4E7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51" y="5210996"/>
            <a:ext cx="3819784" cy="80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und Markenrichtlinien | NVIDIA">
            <a:extLst>
              <a:ext uri="{FF2B5EF4-FFF2-40B4-BE49-F238E27FC236}">
                <a16:creationId xmlns:a16="http://schemas.microsoft.com/office/drawing/2014/main" id="{A5C4589E-1FD6-6A69-B29E-D5BA2E39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229" y="5010384"/>
            <a:ext cx="2294221" cy="120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029F1AB-EF98-C14B-4D07-E6CDA2693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312" y="5287929"/>
            <a:ext cx="2863839" cy="537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D1B5256D-45B3-AB0E-C52F-D3A6319B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>
            <a:extLst>
              <a:ext uri="{FF2B5EF4-FFF2-40B4-BE49-F238E27FC236}">
                <a16:creationId xmlns:a16="http://schemas.microsoft.com/office/drawing/2014/main" id="{4EB0AF80-7941-3ED9-3419-889DA3974A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-GB" sz="3467" b="1" dirty="0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Research Question</a:t>
            </a:r>
          </a:p>
        </p:txBody>
      </p:sp>
      <p:sp>
        <p:nvSpPr>
          <p:cNvPr id="2" name="Google Shape;147;p24">
            <a:extLst>
              <a:ext uri="{FF2B5EF4-FFF2-40B4-BE49-F238E27FC236}">
                <a16:creationId xmlns:a16="http://schemas.microsoft.com/office/drawing/2014/main" id="{2E438A94-D251-EB85-0177-CE216E5FFE4E}"/>
              </a:ext>
            </a:extLst>
          </p:cNvPr>
          <p:cNvSpPr txBox="1"/>
          <p:nvPr/>
        </p:nvSpPr>
        <p:spPr>
          <a:xfrm>
            <a:off x="830367" y="2390700"/>
            <a:ext cx="9796000" cy="3516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Can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we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obtain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an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effective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medical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visual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instruction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tuning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dataset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from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clinical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image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data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without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the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use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of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PubMed and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proprietary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LLMs?</a:t>
            </a:r>
          </a:p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endParaRPr lang="de-DE"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endParaRPr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42701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7108cfbcfb_1_184"/>
          <p:cNvSpPr txBox="1">
            <a:spLocks noGrp="1"/>
          </p:cNvSpPr>
          <p:nvPr>
            <p:ph type="title" idx="4294967295"/>
          </p:nvPr>
        </p:nvSpPr>
        <p:spPr>
          <a:xfrm>
            <a:off x="830375" y="924950"/>
            <a:ext cx="97959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3647"/>
              </a:buClr>
              <a:buSzPts val="3600"/>
              <a:buFont typeface="Avenir"/>
              <a:buNone/>
            </a:pPr>
            <a:r>
              <a:rPr lang="en-US" sz="3500" b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LLaVA</a:t>
            </a:r>
            <a:endParaRPr lang="en-US" sz="3500" b="1" i="0" u="none" strike="noStrike" cap="none">
              <a:solidFill>
                <a:srgbClr val="2D36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5" name="Google Shape;605;g27108cfbcfb_1_1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50" y="2174850"/>
            <a:ext cx="9806400" cy="3307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27108cfbcfb_1_184"/>
          <p:cNvSpPr txBox="1"/>
          <p:nvPr/>
        </p:nvSpPr>
        <p:spPr>
          <a:xfrm>
            <a:off x="2086475" y="5482300"/>
            <a:ext cx="920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Liu, H., Li, C., Wu, Q., &amp; Lee, Y. J. (2024). Visual instruction tuning. </a:t>
            </a:r>
            <a:r>
              <a:rPr lang="en-US" sz="1000" i="1">
                <a:solidFill>
                  <a:srgbClr val="222222"/>
                </a:solidFill>
                <a:highlight>
                  <a:srgbClr val="FFFFFF"/>
                </a:highlight>
              </a:rPr>
              <a:t>Advances in neural information processing systems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-US" sz="1000" i="1">
                <a:solidFill>
                  <a:srgbClr val="222222"/>
                </a:solidFill>
                <a:highlight>
                  <a:srgbClr val="FFFFFF"/>
                </a:highlight>
              </a:rPr>
              <a:t>36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 idx="4294967295"/>
          </p:nvPr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" sz="3467" b="1" dirty="0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The </a:t>
            </a:r>
            <a:r>
              <a:rPr lang="en" sz="3467" b="1" dirty="0" err="1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Llava</a:t>
            </a:r>
            <a:r>
              <a:rPr lang="en" sz="3467" b="1" dirty="0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-Med Approach</a:t>
            </a:r>
            <a:endParaRPr sz="3467" b="1" dirty="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67" y="1600567"/>
            <a:ext cx="6796932" cy="2546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892" y="3754700"/>
            <a:ext cx="5211605" cy="254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 rot="5400000">
            <a:off x="4892800" y="4289033"/>
            <a:ext cx="2046400" cy="15396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 idx="4294967295"/>
          </p:nvPr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-GB" sz="3467" b="1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Pros and Cons of PubMed</a:t>
            </a:r>
            <a:endParaRPr lang="en-GB" sz="3467" b="1" dirty="0">
              <a:solidFill>
                <a:srgbClr val="1C45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926757" y="2390699"/>
            <a:ext cx="3903618" cy="3175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en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Large amount of data</a:t>
            </a:r>
            <a:endParaRPr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609585" indent="-457189">
              <a:lnSpc>
                <a:spcPct val="150000"/>
              </a:lnSpc>
              <a:buClr>
                <a:srgbClr val="2D3647"/>
              </a:buClr>
              <a:buSzPts val="1800"/>
              <a:buFont typeface="Avenir"/>
              <a:buChar char="●"/>
            </a:pPr>
            <a:r>
              <a:rPr lang="en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High diversity</a:t>
            </a:r>
            <a:endParaRPr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609585" indent="-457189">
              <a:lnSpc>
                <a:spcPct val="150000"/>
              </a:lnSpc>
              <a:buClr>
                <a:srgbClr val="2D3647"/>
              </a:buClr>
              <a:buSzPts val="1800"/>
              <a:buFont typeface="Avenir"/>
              <a:buChar char="●"/>
            </a:pPr>
            <a:r>
              <a:rPr lang="en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Existing open-source pipelines</a:t>
            </a:r>
          </a:p>
          <a:p>
            <a:pPr marL="609585" indent="-457189">
              <a:lnSpc>
                <a:spcPct val="150000"/>
              </a:lnSpc>
              <a:buClr>
                <a:srgbClr val="2D3647"/>
              </a:buClr>
              <a:buSzPts val="1800"/>
              <a:buFont typeface="Avenir"/>
              <a:buChar char="●"/>
            </a:pPr>
            <a:endParaRPr sz="3733" dirty="0">
              <a:solidFill>
                <a:srgbClr val="F7D6D8"/>
              </a:solidFill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6626401" y="2390699"/>
            <a:ext cx="3999974" cy="3182882"/>
          </a:xfrm>
          <a:prstGeom prst="rect">
            <a:avLst/>
          </a:prstGeom>
          <a:solidFill>
            <a:srgbClr val="FFC8C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en-GB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Noisy</a:t>
            </a:r>
          </a:p>
          <a:p>
            <a:pPr marL="609585" indent="-457189">
              <a:lnSpc>
                <a:spcPct val="150000"/>
              </a:lnSpc>
              <a:buClr>
                <a:srgbClr val="2D3647"/>
              </a:buClr>
              <a:buSzPts val="1800"/>
              <a:buFont typeface="Avenir"/>
              <a:buChar char="●"/>
            </a:pPr>
            <a:r>
              <a:rPr lang="en-GB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Less likely to common clinical cases</a:t>
            </a:r>
          </a:p>
          <a:p>
            <a:pPr marL="609585" indent="-457189">
              <a:lnSpc>
                <a:spcPct val="150000"/>
              </a:lnSpc>
              <a:buClr>
                <a:srgbClr val="2D3647"/>
              </a:buClr>
              <a:buSzPts val="1800"/>
              <a:buFont typeface="Avenir"/>
              <a:buChar char="●"/>
            </a:pPr>
            <a:r>
              <a:rPr lang="en-GB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Contains non-clinical images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575A42F1-2228-13E7-7434-922575BC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>
            <a:extLst>
              <a:ext uri="{FF2B5EF4-FFF2-40B4-BE49-F238E27FC236}">
                <a16:creationId xmlns:a16="http://schemas.microsoft.com/office/drawing/2014/main" id="{59CB6BFA-728F-C0FA-FD2D-4D77A337BA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-GB" sz="3467" b="1" dirty="0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Imaging Datasets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4E777-D9C2-A61B-3CA2-0106036D4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938" y="2139075"/>
            <a:ext cx="4978400" cy="2222500"/>
          </a:xfrm>
          <a:prstGeom prst="rect">
            <a:avLst/>
          </a:prstGeom>
        </p:spPr>
      </p:pic>
      <p:sp>
        <p:nvSpPr>
          <p:cNvPr id="2" name="Google Shape;147;p24">
            <a:extLst>
              <a:ext uri="{FF2B5EF4-FFF2-40B4-BE49-F238E27FC236}">
                <a16:creationId xmlns:a16="http://schemas.microsoft.com/office/drawing/2014/main" id="{199B736B-1F2C-9CA3-3447-80978FE99C09}"/>
              </a:ext>
            </a:extLst>
          </p:cNvPr>
          <p:cNvSpPr txBox="1"/>
          <p:nvPr/>
        </p:nvSpPr>
        <p:spPr>
          <a:xfrm>
            <a:off x="830367" y="2390700"/>
            <a:ext cx="4000000" cy="4070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What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about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imaging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datasets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?</a:t>
            </a:r>
          </a:p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Large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amount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of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existing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high-quality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labels</a:t>
            </a:r>
            <a:endParaRPr lang="de-DE"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endParaRPr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3B7070-E0E5-2A9E-9FFC-3EF5095E6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661" y="4361575"/>
            <a:ext cx="48514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7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48616F-5EAD-8972-CC46-E9746585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54" y="1753751"/>
            <a:ext cx="3958021" cy="216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B8B7BA-5E73-E6F4-681A-D866D8538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753" y="1753750"/>
            <a:ext cx="3069021" cy="2174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3FDC3C-DBDF-2640-35FF-6D98099E1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565" y="4018210"/>
            <a:ext cx="4120209" cy="2263368"/>
          </a:xfrm>
          <a:prstGeom prst="rect">
            <a:avLst/>
          </a:prstGeom>
        </p:spPr>
      </p:pic>
      <p:sp>
        <p:nvSpPr>
          <p:cNvPr id="9" name="Google Shape;122;p21">
            <a:extLst>
              <a:ext uri="{FF2B5EF4-FFF2-40B4-BE49-F238E27FC236}">
                <a16:creationId xmlns:a16="http://schemas.microsoft.com/office/drawing/2014/main" id="{32B74F58-E8DE-3AFD-026B-5152F95F187E}"/>
              </a:ext>
            </a:extLst>
          </p:cNvPr>
          <p:cNvSpPr txBox="1">
            <a:spLocks/>
          </p:cNvSpPr>
          <p:nvPr/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-GB" sz="3467" b="1" dirty="0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Visual Instruction Generation</a:t>
            </a:r>
          </a:p>
        </p:txBody>
      </p:sp>
    </p:spTree>
    <p:extLst>
      <p:ext uri="{BB962C8B-B14F-4D97-AF65-F5344CB8AC3E}">
        <p14:creationId xmlns:p14="http://schemas.microsoft.com/office/powerpoint/2010/main" val="2819372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title" idx="4294967295"/>
          </p:nvPr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" sz="3467" b="1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Medical Visual Instruction-Tuning Dataset (MVID)</a:t>
            </a:r>
            <a:endParaRPr sz="3467" b="1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830371" y="2232208"/>
            <a:ext cx="4000000" cy="373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en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Collected 29 existing labeled imaging datasets</a:t>
            </a:r>
            <a:endParaRPr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609585" indent="-457189">
              <a:lnSpc>
                <a:spcPct val="150000"/>
              </a:lnSpc>
              <a:buClr>
                <a:srgbClr val="2D3647"/>
              </a:buClr>
              <a:buSzPts val="1800"/>
              <a:buFont typeface="Avenir"/>
              <a:buChar char="●"/>
            </a:pPr>
            <a:r>
              <a:rPr lang="en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Generated ~558k conversations with Llama3.1-70B</a:t>
            </a:r>
            <a:endParaRPr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BBF2C-589A-B462-7AF2-3A06B9943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367" y="1134146"/>
            <a:ext cx="6804358" cy="53790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4502909-183D-206C-83E8-F36604E2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>
            <a:extLst>
              <a:ext uri="{FF2B5EF4-FFF2-40B4-BE49-F238E27FC236}">
                <a16:creationId xmlns:a16="http://schemas.microsoft.com/office/drawing/2014/main" id="{C9255C95-FD87-9419-AABA-1689160D43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" sz="3467" b="1" dirty="0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Results</a:t>
            </a:r>
            <a:endParaRPr sz="3467" b="1" dirty="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7CDCD2-6D5C-65D7-4C57-1AFD70EF6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562" y="2390700"/>
            <a:ext cx="6845642" cy="3484493"/>
          </a:xfrm>
          <a:prstGeom prst="rect">
            <a:avLst/>
          </a:prstGeom>
        </p:spPr>
      </p:pic>
      <p:sp>
        <p:nvSpPr>
          <p:cNvPr id="4" name="Google Shape;147;p24">
            <a:extLst>
              <a:ext uri="{FF2B5EF4-FFF2-40B4-BE49-F238E27FC236}">
                <a16:creationId xmlns:a16="http://schemas.microsoft.com/office/drawing/2014/main" id="{5C7A454E-D506-3FB5-D1D8-CDD227A2B9C9}"/>
              </a:ext>
            </a:extLst>
          </p:cNvPr>
          <p:cNvSpPr txBox="1"/>
          <p:nvPr/>
        </p:nvSpPr>
        <p:spPr>
          <a:xfrm>
            <a:off x="715567" y="2390700"/>
            <a:ext cx="4114800" cy="390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Models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trained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on MVID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are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outperforming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models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trained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on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Llava-Med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data</a:t>
            </a:r>
            <a:endParaRPr lang="de-DE"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endParaRPr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86936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0E7A432-A5D0-DA5F-998D-118A1EC99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>
            <a:extLst>
              <a:ext uri="{FF2B5EF4-FFF2-40B4-BE49-F238E27FC236}">
                <a16:creationId xmlns:a16="http://schemas.microsoft.com/office/drawing/2014/main" id="{CAAF63BB-DAAB-9052-1835-A18A8A4FD6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" sz="3467" b="1" dirty="0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Results</a:t>
            </a:r>
            <a:endParaRPr sz="3467" b="1" dirty="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7;p24">
            <a:extLst>
              <a:ext uri="{FF2B5EF4-FFF2-40B4-BE49-F238E27FC236}">
                <a16:creationId xmlns:a16="http://schemas.microsoft.com/office/drawing/2014/main" id="{4ED3C2EE-716D-9892-4B4F-6E034B0C5E6A}"/>
              </a:ext>
            </a:extLst>
          </p:cNvPr>
          <p:cNvSpPr txBox="1"/>
          <p:nvPr/>
        </p:nvSpPr>
        <p:spPr>
          <a:xfrm>
            <a:off x="558518" y="2722522"/>
            <a:ext cx="4000000" cy="262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Final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model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is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competitive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with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GPT4o and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HuatuoGPT</a:t>
            </a:r>
            <a:endParaRPr lang="de-DE"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0312B9-C622-B2AC-22C2-6430ED8D3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700" y="2390699"/>
            <a:ext cx="7395782" cy="329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80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9A517178-7255-9975-B561-E90EE62A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>
            <a:extLst>
              <a:ext uri="{FF2B5EF4-FFF2-40B4-BE49-F238E27FC236}">
                <a16:creationId xmlns:a16="http://schemas.microsoft.com/office/drawing/2014/main" id="{5CBFC532-EB92-4C08-68CA-953D60773B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0375" y="924951"/>
            <a:ext cx="9796000" cy="67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2D3647"/>
              </a:buClr>
              <a:buSzPts val="2700"/>
            </a:pPr>
            <a:r>
              <a:rPr lang="en-GB" sz="3467" b="1" dirty="0">
                <a:solidFill>
                  <a:srgbClr val="1C4587"/>
                </a:solidFill>
                <a:latin typeface="Avenir"/>
                <a:ea typeface="Avenir"/>
                <a:cs typeface="Avenir"/>
                <a:sym typeface="Avenir"/>
              </a:rPr>
              <a:t>Conclusion</a:t>
            </a:r>
          </a:p>
        </p:txBody>
      </p:sp>
      <p:sp>
        <p:nvSpPr>
          <p:cNvPr id="2" name="Google Shape;147;p24">
            <a:extLst>
              <a:ext uri="{FF2B5EF4-FFF2-40B4-BE49-F238E27FC236}">
                <a16:creationId xmlns:a16="http://schemas.microsoft.com/office/drawing/2014/main" id="{FC06BE42-F72F-8ABE-5804-BF75A71FABE9}"/>
              </a:ext>
            </a:extLst>
          </p:cNvPr>
          <p:cNvSpPr txBox="1"/>
          <p:nvPr/>
        </p:nvSpPr>
        <p:spPr>
          <a:xfrm>
            <a:off x="830367" y="2390700"/>
            <a:ext cx="9796000" cy="2962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It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is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possible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to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train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competitive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VLMs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based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on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labeled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imaging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datasets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and open-</a:t>
            </a:r>
            <a:r>
              <a:rPr lang="de-DE" sz="2400" dirty="0" err="1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weight</a:t>
            </a:r>
            <a:r>
              <a:rPr lang="de-DE" sz="2400" dirty="0">
                <a:solidFill>
                  <a:srgbClr val="2D3647"/>
                </a:solidFill>
                <a:latin typeface="Avenir"/>
                <a:ea typeface="Avenir"/>
                <a:cs typeface="Avenir"/>
                <a:sym typeface="Avenir"/>
              </a:rPr>
              <a:t> LLMs.</a:t>
            </a:r>
          </a:p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endParaRPr lang="de-DE"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609585" indent="-457189">
              <a:lnSpc>
                <a:spcPct val="150000"/>
              </a:lnSpc>
              <a:spcBef>
                <a:spcPts val="1333"/>
              </a:spcBef>
              <a:buClr>
                <a:srgbClr val="2D3647"/>
              </a:buClr>
              <a:buSzPts val="1800"/>
              <a:buFont typeface="Avenir"/>
              <a:buChar char="●"/>
            </a:pPr>
            <a:endParaRPr sz="2400" dirty="0">
              <a:solidFill>
                <a:srgbClr val="2D364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2592366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212</Words>
  <Application>Microsoft Macintosh PowerPoint</Application>
  <PresentationFormat>Widescreen</PresentationFormat>
  <Paragraphs>33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Avenir</vt:lpstr>
      <vt:lpstr>Calibri</vt:lpstr>
      <vt:lpstr>Times New Roman</vt:lpstr>
      <vt:lpstr>Office Theme</vt:lpstr>
      <vt:lpstr>Improving Medical Visual Instruction Tuning with Labeled Datasets</vt:lpstr>
      <vt:lpstr>Research Question</vt:lpstr>
      <vt:lpstr>LLaVA</vt:lpstr>
      <vt:lpstr>The Llava-Med Approach</vt:lpstr>
      <vt:lpstr>Pros and Cons of PubMed</vt:lpstr>
      <vt:lpstr>Imaging Datasets</vt:lpstr>
      <vt:lpstr>PowerPoint Presentation</vt:lpstr>
      <vt:lpstr>Medical Visual Instruction-Tuning Dataset (MVID)</vt:lpstr>
      <vt:lpstr>Results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 Dada</dc:creator>
  <cp:lastModifiedBy>Amin Dada</cp:lastModifiedBy>
  <cp:revision>8</cp:revision>
  <dcterms:created xsi:type="dcterms:W3CDTF">2025-03-23T15:56:54Z</dcterms:created>
  <dcterms:modified xsi:type="dcterms:W3CDTF">2025-09-12T20:15:38Z</dcterms:modified>
</cp:coreProperties>
</file>