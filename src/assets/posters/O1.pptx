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430" r:id="rId4"/>
    <p:sldId id="258" r:id="rId5"/>
    <p:sldId id="433" r:id="rId6"/>
    <p:sldId id="260" r:id="rId7"/>
    <p:sldId id="261" r:id="rId8"/>
    <p:sldId id="264" r:id="rId9"/>
    <p:sldId id="42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E63CD-CA26-760A-B05A-8C09F674B4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C93A72A8-A65C-9065-038B-A0A0E8BD66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83BA69D0-51E8-80CD-CC60-A66A6464EC51}"/>
              </a:ext>
            </a:extLst>
          </p:cNvPr>
          <p:cNvSpPr>
            <a:spLocks noGrp="1"/>
          </p:cNvSpPr>
          <p:nvPr>
            <p:ph type="dt" sz="half" idx="10"/>
          </p:nvPr>
        </p:nvSpPr>
        <p:spPr/>
        <p:txBody>
          <a:bodyPr/>
          <a:lstStyle/>
          <a:p>
            <a:fld id="{CE287BC7-2501-4B1A-8C35-D8DFE3C8FD08}" type="datetimeFigureOut">
              <a:rPr lang="en-SG" smtClean="0"/>
              <a:t>7/9/2025</a:t>
            </a:fld>
            <a:endParaRPr lang="en-SG"/>
          </a:p>
        </p:txBody>
      </p:sp>
      <p:sp>
        <p:nvSpPr>
          <p:cNvPr id="5" name="Footer Placeholder 4">
            <a:extLst>
              <a:ext uri="{FF2B5EF4-FFF2-40B4-BE49-F238E27FC236}">
                <a16:creationId xmlns:a16="http://schemas.microsoft.com/office/drawing/2014/main" id="{A0347750-E4A1-5407-5E8F-BB8143BAC94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9463D8F-57AD-090D-A12C-57EAEA843580}"/>
              </a:ext>
            </a:extLst>
          </p:cNvPr>
          <p:cNvSpPr>
            <a:spLocks noGrp="1"/>
          </p:cNvSpPr>
          <p:nvPr>
            <p:ph type="sldNum" sz="quarter" idx="12"/>
          </p:nvPr>
        </p:nvSpPr>
        <p:spPr/>
        <p:txBody>
          <a:bodyPr/>
          <a:lstStyle/>
          <a:p>
            <a:fld id="{EDC6E7BA-1B7C-442D-B93F-022E19993592}" type="slidenum">
              <a:rPr lang="en-SG" smtClean="0"/>
              <a:t>‹#›</a:t>
            </a:fld>
            <a:endParaRPr lang="en-SG"/>
          </a:p>
        </p:txBody>
      </p:sp>
    </p:spTree>
    <p:extLst>
      <p:ext uri="{BB962C8B-B14F-4D97-AF65-F5344CB8AC3E}">
        <p14:creationId xmlns:p14="http://schemas.microsoft.com/office/powerpoint/2010/main" val="57824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096E9-2CA1-C0A6-A676-198AE882D10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1883E198-0E4B-E648-E2C3-4A0AF2D884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91EF91F-FC7A-2C4D-1D11-AAFBE22468B2}"/>
              </a:ext>
            </a:extLst>
          </p:cNvPr>
          <p:cNvSpPr>
            <a:spLocks noGrp="1"/>
          </p:cNvSpPr>
          <p:nvPr>
            <p:ph type="dt" sz="half" idx="10"/>
          </p:nvPr>
        </p:nvSpPr>
        <p:spPr/>
        <p:txBody>
          <a:bodyPr/>
          <a:lstStyle/>
          <a:p>
            <a:fld id="{CE287BC7-2501-4B1A-8C35-D8DFE3C8FD08}" type="datetimeFigureOut">
              <a:rPr lang="en-SG" smtClean="0"/>
              <a:t>7/9/2025</a:t>
            </a:fld>
            <a:endParaRPr lang="en-SG"/>
          </a:p>
        </p:txBody>
      </p:sp>
      <p:sp>
        <p:nvSpPr>
          <p:cNvPr id="5" name="Footer Placeholder 4">
            <a:extLst>
              <a:ext uri="{FF2B5EF4-FFF2-40B4-BE49-F238E27FC236}">
                <a16:creationId xmlns:a16="http://schemas.microsoft.com/office/drawing/2014/main" id="{165C8F2E-A16B-3D0B-D65A-35E9AC8CC050}"/>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D69E9D9-F5DF-80E1-D73F-157D6FB3BC3E}"/>
              </a:ext>
            </a:extLst>
          </p:cNvPr>
          <p:cNvSpPr>
            <a:spLocks noGrp="1"/>
          </p:cNvSpPr>
          <p:nvPr>
            <p:ph type="sldNum" sz="quarter" idx="12"/>
          </p:nvPr>
        </p:nvSpPr>
        <p:spPr/>
        <p:txBody>
          <a:bodyPr/>
          <a:lstStyle/>
          <a:p>
            <a:fld id="{EDC6E7BA-1B7C-442D-B93F-022E19993592}" type="slidenum">
              <a:rPr lang="en-SG" smtClean="0"/>
              <a:t>‹#›</a:t>
            </a:fld>
            <a:endParaRPr lang="en-SG"/>
          </a:p>
        </p:txBody>
      </p:sp>
    </p:spTree>
    <p:extLst>
      <p:ext uri="{BB962C8B-B14F-4D97-AF65-F5344CB8AC3E}">
        <p14:creationId xmlns:p14="http://schemas.microsoft.com/office/powerpoint/2010/main" val="595929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2CF83-3BD3-72AD-2F23-0CFC93F232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3ED2C4AC-5A52-3FB7-6C90-C6461F9CE0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CF5451-7351-6D25-9B6B-18268D9BD2B8}"/>
              </a:ext>
            </a:extLst>
          </p:cNvPr>
          <p:cNvSpPr>
            <a:spLocks noGrp="1"/>
          </p:cNvSpPr>
          <p:nvPr>
            <p:ph type="dt" sz="half" idx="10"/>
          </p:nvPr>
        </p:nvSpPr>
        <p:spPr/>
        <p:txBody>
          <a:bodyPr/>
          <a:lstStyle/>
          <a:p>
            <a:fld id="{CE287BC7-2501-4B1A-8C35-D8DFE3C8FD08}" type="datetimeFigureOut">
              <a:rPr lang="en-SG" smtClean="0"/>
              <a:t>7/9/2025</a:t>
            </a:fld>
            <a:endParaRPr lang="en-SG"/>
          </a:p>
        </p:txBody>
      </p:sp>
      <p:sp>
        <p:nvSpPr>
          <p:cNvPr id="5" name="Footer Placeholder 4">
            <a:extLst>
              <a:ext uri="{FF2B5EF4-FFF2-40B4-BE49-F238E27FC236}">
                <a16:creationId xmlns:a16="http://schemas.microsoft.com/office/drawing/2014/main" id="{03535DD1-5BD3-DE8A-4223-A00688A455F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B948D71-274A-7C07-9572-1A5EB8B91BB0}"/>
              </a:ext>
            </a:extLst>
          </p:cNvPr>
          <p:cNvSpPr>
            <a:spLocks noGrp="1"/>
          </p:cNvSpPr>
          <p:nvPr>
            <p:ph type="sldNum" sz="quarter" idx="12"/>
          </p:nvPr>
        </p:nvSpPr>
        <p:spPr/>
        <p:txBody>
          <a:bodyPr/>
          <a:lstStyle/>
          <a:p>
            <a:fld id="{EDC6E7BA-1B7C-442D-B93F-022E19993592}" type="slidenum">
              <a:rPr lang="en-SG" smtClean="0"/>
              <a:t>‹#›</a:t>
            </a:fld>
            <a:endParaRPr lang="en-SG"/>
          </a:p>
        </p:txBody>
      </p:sp>
    </p:spTree>
    <p:extLst>
      <p:ext uri="{BB962C8B-B14F-4D97-AF65-F5344CB8AC3E}">
        <p14:creationId xmlns:p14="http://schemas.microsoft.com/office/powerpoint/2010/main" val="3627395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6807-1811-1EBA-73D4-3236C43DE34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FE576FF-A84F-FBF3-8AF4-F5F39EA9D2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10CEE623-1F52-4D88-F9C0-ECD12BF829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87057C9-0E9F-3508-5B76-B8C69944897C}"/>
              </a:ext>
            </a:extLst>
          </p:cNvPr>
          <p:cNvSpPr>
            <a:spLocks noGrp="1"/>
          </p:cNvSpPr>
          <p:nvPr>
            <p:ph type="dt" sz="half" idx="10"/>
          </p:nvPr>
        </p:nvSpPr>
        <p:spPr/>
        <p:txBody>
          <a:bodyPr/>
          <a:lstStyle/>
          <a:p>
            <a:fld id="{CE287BC7-2501-4B1A-8C35-D8DFE3C8FD08}" type="datetimeFigureOut">
              <a:rPr lang="en-SG" smtClean="0"/>
              <a:t>7/9/2025</a:t>
            </a:fld>
            <a:endParaRPr lang="en-SG"/>
          </a:p>
        </p:txBody>
      </p:sp>
      <p:sp>
        <p:nvSpPr>
          <p:cNvPr id="6" name="Footer Placeholder 5">
            <a:extLst>
              <a:ext uri="{FF2B5EF4-FFF2-40B4-BE49-F238E27FC236}">
                <a16:creationId xmlns:a16="http://schemas.microsoft.com/office/drawing/2014/main" id="{38720240-4923-4658-BF2B-AAD8C1B5932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F24A900-D9C4-1135-5051-66643211A36F}"/>
              </a:ext>
            </a:extLst>
          </p:cNvPr>
          <p:cNvSpPr>
            <a:spLocks noGrp="1"/>
          </p:cNvSpPr>
          <p:nvPr>
            <p:ph type="sldNum" sz="quarter" idx="12"/>
          </p:nvPr>
        </p:nvSpPr>
        <p:spPr/>
        <p:txBody>
          <a:bodyPr/>
          <a:lstStyle/>
          <a:p>
            <a:fld id="{EDC6E7BA-1B7C-442D-B93F-022E19993592}" type="slidenum">
              <a:rPr lang="en-SG" smtClean="0"/>
              <a:t>‹#›</a:t>
            </a:fld>
            <a:endParaRPr lang="en-SG"/>
          </a:p>
        </p:txBody>
      </p:sp>
    </p:spTree>
    <p:extLst>
      <p:ext uri="{BB962C8B-B14F-4D97-AF65-F5344CB8AC3E}">
        <p14:creationId xmlns:p14="http://schemas.microsoft.com/office/powerpoint/2010/main" val="3820430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2C233-A592-B014-2ACE-48B24AE0E0E5}"/>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DFAD674-0CD5-067C-6507-E60EC40D50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59C139-E491-BD78-2189-86834611D1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FD30E16-8E3F-2977-FDDB-36D5F3E329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F2EEE4-7373-34F1-2F8C-D963BC1955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68A22122-2CA0-9C91-7CDB-147907146098}"/>
              </a:ext>
            </a:extLst>
          </p:cNvPr>
          <p:cNvSpPr>
            <a:spLocks noGrp="1"/>
          </p:cNvSpPr>
          <p:nvPr>
            <p:ph type="dt" sz="half" idx="10"/>
          </p:nvPr>
        </p:nvSpPr>
        <p:spPr/>
        <p:txBody>
          <a:bodyPr/>
          <a:lstStyle/>
          <a:p>
            <a:fld id="{CE287BC7-2501-4B1A-8C35-D8DFE3C8FD08}" type="datetimeFigureOut">
              <a:rPr lang="en-SG" smtClean="0"/>
              <a:t>7/9/2025</a:t>
            </a:fld>
            <a:endParaRPr lang="en-SG"/>
          </a:p>
        </p:txBody>
      </p:sp>
      <p:sp>
        <p:nvSpPr>
          <p:cNvPr id="8" name="Footer Placeholder 7">
            <a:extLst>
              <a:ext uri="{FF2B5EF4-FFF2-40B4-BE49-F238E27FC236}">
                <a16:creationId xmlns:a16="http://schemas.microsoft.com/office/drawing/2014/main" id="{7CA43BE9-6AB2-6FDE-2A1C-9863F31D001F}"/>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27C7D608-4968-95BB-E9F5-D3478EE39C71}"/>
              </a:ext>
            </a:extLst>
          </p:cNvPr>
          <p:cNvSpPr>
            <a:spLocks noGrp="1"/>
          </p:cNvSpPr>
          <p:nvPr>
            <p:ph type="sldNum" sz="quarter" idx="12"/>
          </p:nvPr>
        </p:nvSpPr>
        <p:spPr/>
        <p:txBody>
          <a:bodyPr/>
          <a:lstStyle/>
          <a:p>
            <a:fld id="{EDC6E7BA-1B7C-442D-B93F-022E19993592}" type="slidenum">
              <a:rPr lang="en-SG" smtClean="0"/>
              <a:t>‹#›</a:t>
            </a:fld>
            <a:endParaRPr lang="en-SG"/>
          </a:p>
        </p:txBody>
      </p:sp>
    </p:spTree>
    <p:extLst>
      <p:ext uri="{BB962C8B-B14F-4D97-AF65-F5344CB8AC3E}">
        <p14:creationId xmlns:p14="http://schemas.microsoft.com/office/powerpoint/2010/main" val="4244887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3A083-A819-7E57-F463-01BBA67450E9}"/>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74F93C04-FF57-5117-B8D2-0C6EEA80EF56}"/>
              </a:ext>
            </a:extLst>
          </p:cNvPr>
          <p:cNvSpPr>
            <a:spLocks noGrp="1"/>
          </p:cNvSpPr>
          <p:nvPr>
            <p:ph type="dt" sz="half" idx="10"/>
          </p:nvPr>
        </p:nvSpPr>
        <p:spPr/>
        <p:txBody>
          <a:bodyPr/>
          <a:lstStyle/>
          <a:p>
            <a:fld id="{CE287BC7-2501-4B1A-8C35-D8DFE3C8FD08}" type="datetimeFigureOut">
              <a:rPr lang="en-SG" smtClean="0"/>
              <a:t>7/9/2025</a:t>
            </a:fld>
            <a:endParaRPr lang="en-SG"/>
          </a:p>
        </p:txBody>
      </p:sp>
      <p:sp>
        <p:nvSpPr>
          <p:cNvPr id="4" name="Footer Placeholder 3">
            <a:extLst>
              <a:ext uri="{FF2B5EF4-FFF2-40B4-BE49-F238E27FC236}">
                <a16:creationId xmlns:a16="http://schemas.microsoft.com/office/drawing/2014/main" id="{CCD99EC9-4089-0D69-94DE-06D7B066C381}"/>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0577A3E5-B200-E4E8-C5AE-927C14628AE2}"/>
              </a:ext>
            </a:extLst>
          </p:cNvPr>
          <p:cNvSpPr>
            <a:spLocks noGrp="1"/>
          </p:cNvSpPr>
          <p:nvPr>
            <p:ph type="sldNum" sz="quarter" idx="12"/>
          </p:nvPr>
        </p:nvSpPr>
        <p:spPr/>
        <p:txBody>
          <a:bodyPr/>
          <a:lstStyle/>
          <a:p>
            <a:fld id="{EDC6E7BA-1B7C-442D-B93F-022E19993592}" type="slidenum">
              <a:rPr lang="en-SG" smtClean="0"/>
              <a:t>‹#›</a:t>
            </a:fld>
            <a:endParaRPr lang="en-SG"/>
          </a:p>
        </p:txBody>
      </p:sp>
    </p:spTree>
    <p:extLst>
      <p:ext uri="{BB962C8B-B14F-4D97-AF65-F5344CB8AC3E}">
        <p14:creationId xmlns:p14="http://schemas.microsoft.com/office/powerpoint/2010/main" val="886497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E17B6E-18EF-51D0-2A8F-3DE4B8DC1F1D}"/>
              </a:ext>
            </a:extLst>
          </p:cNvPr>
          <p:cNvSpPr>
            <a:spLocks noGrp="1"/>
          </p:cNvSpPr>
          <p:nvPr>
            <p:ph type="dt" sz="half" idx="10"/>
          </p:nvPr>
        </p:nvSpPr>
        <p:spPr/>
        <p:txBody>
          <a:bodyPr/>
          <a:lstStyle/>
          <a:p>
            <a:fld id="{CE287BC7-2501-4B1A-8C35-D8DFE3C8FD08}" type="datetimeFigureOut">
              <a:rPr lang="en-SG" smtClean="0"/>
              <a:t>7/9/2025</a:t>
            </a:fld>
            <a:endParaRPr lang="en-SG"/>
          </a:p>
        </p:txBody>
      </p:sp>
      <p:sp>
        <p:nvSpPr>
          <p:cNvPr id="3" name="Footer Placeholder 2">
            <a:extLst>
              <a:ext uri="{FF2B5EF4-FFF2-40B4-BE49-F238E27FC236}">
                <a16:creationId xmlns:a16="http://schemas.microsoft.com/office/drawing/2014/main" id="{7D12788D-5334-781C-7CFC-1EEEEECCEE4D}"/>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0CDC8D79-5FCE-F06F-BDA5-6B3B7BE5BB6D}"/>
              </a:ext>
            </a:extLst>
          </p:cNvPr>
          <p:cNvSpPr>
            <a:spLocks noGrp="1"/>
          </p:cNvSpPr>
          <p:nvPr>
            <p:ph type="sldNum" sz="quarter" idx="12"/>
          </p:nvPr>
        </p:nvSpPr>
        <p:spPr/>
        <p:txBody>
          <a:bodyPr/>
          <a:lstStyle/>
          <a:p>
            <a:fld id="{EDC6E7BA-1B7C-442D-B93F-022E19993592}" type="slidenum">
              <a:rPr lang="en-SG" smtClean="0"/>
              <a:t>‹#›</a:t>
            </a:fld>
            <a:endParaRPr lang="en-SG"/>
          </a:p>
        </p:txBody>
      </p:sp>
    </p:spTree>
    <p:extLst>
      <p:ext uri="{BB962C8B-B14F-4D97-AF65-F5344CB8AC3E}">
        <p14:creationId xmlns:p14="http://schemas.microsoft.com/office/powerpoint/2010/main" val="2180351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F9A1D-71CF-197E-58EF-478C05A99B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07F5A97D-5581-D71A-039D-33EBCEA34F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19F0783F-7F83-4B02-1AAB-1139FD9978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571FCD-12FD-9684-CC7C-25A5BCB6D7ED}"/>
              </a:ext>
            </a:extLst>
          </p:cNvPr>
          <p:cNvSpPr>
            <a:spLocks noGrp="1"/>
          </p:cNvSpPr>
          <p:nvPr>
            <p:ph type="dt" sz="half" idx="10"/>
          </p:nvPr>
        </p:nvSpPr>
        <p:spPr/>
        <p:txBody>
          <a:bodyPr/>
          <a:lstStyle/>
          <a:p>
            <a:fld id="{CE287BC7-2501-4B1A-8C35-D8DFE3C8FD08}" type="datetimeFigureOut">
              <a:rPr lang="en-SG" smtClean="0"/>
              <a:t>7/9/2025</a:t>
            </a:fld>
            <a:endParaRPr lang="en-SG"/>
          </a:p>
        </p:txBody>
      </p:sp>
      <p:sp>
        <p:nvSpPr>
          <p:cNvPr id="6" name="Footer Placeholder 5">
            <a:extLst>
              <a:ext uri="{FF2B5EF4-FFF2-40B4-BE49-F238E27FC236}">
                <a16:creationId xmlns:a16="http://schemas.microsoft.com/office/drawing/2014/main" id="{17826251-433B-353F-2E0B-1C8E1F65D4A9}"/>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0BF62A3-A171-D4F9-61C9-154612044605}"/>
              </a:ext>
            </a:extLst>
          </p:cNvPr>
          <p:cNvSpPr>
            <a:spLocks noGrp="1"/>
          </p:cNvSpPr>
          <p:nvPr>
            <p:ph type="sldNum" sz="quarter" idx="12"/>
          </p:nvPr>
        </p:nvSpPr>
        <p:spPr/>
        <p:txBody>
          <a:bodyPr/>
          <a:lstStyle/>
          <a:p>
            <a:fld id="{EDC6E7BA-1B7C-442D-B93F-022E19993592}" type="slidenum">
              <a:rPr lang="en-SG" smtClean="0"/>
              <a:t>‹#›</a:t>
            </a:fld>
            <a:endParaRPr lang="en-SG"/>
          </a:p>
        </p:txBody>
      </p:sp>
    </p:spTree>
    <p:extLst>
      <p:ext uri="{BB962C8B-B14F-4D97-AF65-F5344CB8AC3E}">
        <p14:creationId xmlns:p14="http://schemas.microsoft.com/office/powerpoint/2010/main" val="903908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69C2-0C54-A606-327B-012A1C60B9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F5E6C6BC-AB71-3EA8-B8CF-F56C87A344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169048C4-6DC6-B6DE-A326-7CAB2B5C28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CF9C8-E6B2-B040-3C79-BBA13C29895D}"/>
              </a:ext>
            </a:extLst>
          </p:cNvPr>
          <p:cNvSpPr>
            <a:spLocks noGrp="1"/>
          </p:cNvSpPr>
          <p:nvPr>
            <p:ph type="dt" sz="half" idx="10"/>
          </p:nvPr>
        </p:nvSpPr>
        <p:spPr/>
        <p:txBody>
          <a:bodyPr/>
          <a:lstStyle/>
          <a:p>
            <a:fld id="{CE287BC7-2501-4B1A-8C35-D8DFE3C8FD08}" type="datetimeFigureOut">
              <a:rPr lang="en-SG" smtClean="0"/>
              <a:t>7/9/2025</a:t>
            </a:fld>
            <a:endParaRPr lang="en-SG"/>
          </a:p>
        </p:txBody>
      </p:sp>
      <p:sp>
        <p:nvSpPr>
          <p:cNvPr id="6" name="Footer Placeholder 5">
            <a:extLst>
              <a:ext uri="{FF2B5EF4-FFF2-40B4-BE49-F238E27FC236}">
                <a16:creationId xmlns:a16="http://schemas.microsoft.com/office/drawing/2014/main" id="{D8C178DB-95EC-3D76-3544-549794F5C6BE}"/>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722B14B-E946-BC46-850A-E8176C728186}"/>
              </a:ext>
            </a:extLst>
          </p:cNvPr>
          <p:cNvSpPr>
            <a:spLocks noGrp="1"/>
          </p:cNvSpPr>
          <p:nvPr>
            <p:ph type="sldNum" sz="quarter" idx="12"/>
          </p:nvPr>
        </p:nvSpPr>
        <p:spPr/>
        <p:txBody>
          <a:bodyPr/>
          <a:lstStyle/>
          <a:p>
            <a:fld id="{EDC6E7BA-1B7C-442D-B93F-022E19993592}" type="slidenum">
              <a:rPr lang="en-SG" smtClean="0"/>
              <a:t>‹#›</a:t>
            </a:fld>
            <a:endParaRPr lang="en-SG"/>
          </a:p>
        </p:txBody>
      </p:sp>
    </p:spTree>
    <p:extLst>
      <p:ext uri="{BB962C8B-B14F-4D97-AF65-F5344CB8AC3E}">
        <p14:creationId xmlns:p14="http://schemas.microsoft.com/office/powerpoint/2010/main" val="2515268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032EC-CFEE-E729-6494-CE3BF9D87E98}"/>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7713409-5414-C658-79A4-5C656A3632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B08B731-0176-F5B5-1F07-EC79E43A7405}"/>
              </a:ext>
            </a:extLst>
          </p:cNvPr>
          <p:cNvSpPr>
            <a:spLocks noGrp="1"/>
          </p:cNvSpPr>
          <p:nvPr>
            <p:ph type="dt" sz="half" idx="10"/>
          </p:nvPr>
        </p:nvSpPr>
        <p:spPr/>
        <p:txBody>
          <a:bodyPr/>
          <a:lstStyle/>
          <a:p>
            <a:fld id="{CE287BC7-2501-4B1A-8C35-D8DFE3C8FD08}" type="datetimeFigureOut">
              <a:rPr lang="en-SG" smtClean="0"/>
              <a:t>7/9/2025</a:t>
            </a:fld>
            <a:endParaRPr lang="en-SG"/>
          </a:p>
        </p:txBody>
      </p:sp>
      <p:sp>
        <p:nvSpPr>
          <p:cNvPr id="5" name="Footer Placeholder 4">
            <a:extLst>
              <a:ext uri="{FF2B5EF4-FFF2-40B4-BE49-F238E27FC236}">
                <a16:creationId xmlns:a16="http://schemas.microsoft.com/office/drawing/2014/main" id="{7EBA9333-AF22-A269-9825-EF2D6261820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6219326-ED6C-6055-73EA-E9C22D7555AA}"/>
              </a:ext>
            </a:extLst>
          </p:cNvPr>
          <p:cNvSpPr>
            <a:spLocks noGrp="1"/>
          </p:cNvSpPr>
          <p:nvPr>
            <p:ph type="sldNum" sz="quarter" idx="12"/>
          </p:nvPr>
        </p:nvSpPr>
        <p:spPr/>
        <p:txBody>
          <a:bodyPr/>
          <a:lstStyle/>
          <a:p>
            <a:fld id="{EDC6E7BA-1B7C-442D-B93F-022E19993592}" type="slidenum">
              <a:rPr lang="en-SG" smtClean="0"/>
              <a:t>‹#›</a:t>
            </a:fld>
            <a:endParaRPr lang="en-SG"/>
          </a:p>
        </p:txBody>
      </p:sp>
    </p:spTree>
    <p:extLst>
      <p:ext uri="{BB962C8B-B14F-4D97-AF65-F5344CB8AC3E}">
        <p14:creationId xmlns:p14="http://schemas.microsoft.com/office/powerpoint/2010/main" val="1865430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20F5C0-6154-7EE6-3006-8D5A3C93D7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2660212-D0BA-E162-1F98-3A07E27916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F4EE3A6-64E1-3285-B04A-A3A4732C82E3}"/>
              </a:ext>
            </a:extLst>
          </p:cNvPr>
          <p:cNvSpPr>
            <a:spLocks noGrp="1"/>
          </p:cNvSpPr>
          <p:nvPr>
            <p:ph type="dt" sz="half" idx="10"/>
          </p:nvPr>
        </p:nvSpPr>
        <p:spPr/>
        <p:txBody>
          <a:bodyPr/>
          <a:lstStyle/>
          <a:p>
            <a:fld id="{CE287BC7-2501-4B1A-8C35-D8DFE3C8FD08}" type="datetimeFigureOut">
              <a:rPr lang="en-SG" smtClean="0"/>
              <a:t>7/9/2025</a:t>
            </a:fld>
            <a:endParaRPr lang="en-SG"/>
          </a:p>
        </p:txBody>
      </p:sp>
      <p:sp>
        <p:nvSpPr>
          <p:cNvPr id="5" name="Footer Placeholder 4">
            <a:extLst>
              <a:ext uri="{FF2B5EF4-FFF2-40B4-BE49-F238E27FC236}">
                <a16:creationId xmlns:a16="http://schemas.microsoft.com/office/drawing/2014/main" id="{2A308AF7-6275-4873-746A-1D33C9794BE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4967A26-129E-C87B-D130-53243A16AD44}"/>
              </a:ext>
            </a:extLst>
          </p:cNvPr>
          <p:cNvSpPr>
            <a:spLocks noGrp="1"/>
          </p:cNvSpPr>
          <p:nvPr>
            <p:ph type="sldNum" sz="quarter" idx="12"/>
          </p:nvPr>
        </p:nvSpPr>
        <p:spPr/>
        <p:txBody>
          <a:bodyPr/>
          <a:lstStyle/>
          <a:p>
            <a:fld id="{EDC6E7BA-1B7C-442D-B93F-022E19993592}" type="slidenum">
              <a:rPr lang="en-SG" smtClean="0"/>
              <a:t>‹#›</a:t>
            </a:fld>
            <a:endParaRPr lang="en-SG"/>
          </a:p>
        </p:txBody>
      </p:sp>
    </p:spTree>
    <p:extLst>
      <p:ext uri="{BB962C8B-B14F-4D97-AF65-F5344CB8AC3E}">
        <p14:creationId xmlns:p14="http://schemas.microsoft.com/office/powerpoint/2010/main" val="1935700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87BA14-DF3A-5938-0010-3C985EF098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7B46DF8-F92D-2FBF-13F7-C2FEB3A7B9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529EA5A-844C-FAF6-4FDA-197DCAD419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287BC7-2501-4B1A-8C35-D8DFE3C8FD08}" type="datetimeFigureOut">
              <a:rPr lang="en-SG" smtClean="0"/>
              <a:t>7/9/2025</a:t>
            </a:fld>
            <a:endParaRPr lang="en-SG"/>
          </a:p>
        </p:txBody>
      </p:sp>
      <p:sp>
        <p:nvSpPr>
          <p:cNvPr id="5" name="Footer Placeholder 4">
            <a:extLst>
              <a:ext uri="{FF2B5EF4-FFF2-40B4-BE49-F238E27FC236}">
                <a16:creationId xmlns:a16="http://schemas.microsoft.com/office/drawing/2014/main" id="{1CBC50D1-940B-F976-8DD9-D31812E5A6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57A32B3C-17AC-E032-BC42-09FEB17F12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C6E7BA-1B7C-442D-B93F-022E19993592}" type="slidenum">
              <a:rPr lang="en-SG" smtClean="0"/>
              <a:t>‹#›</a:t>
            </a:fld>
            <a:endParaRPr lang="en-SG"/>
          </a:p>
        </p:txBody>
      </p:sp>
    </p:spTree>
    <p:extLst>
      <p:ext uri="{BB962C8B-B14F-4D97-AF65-F5344CB8AC3E}">
        <p14:creationId xmlns:p14="http://schemas.microsoft.com/office/powerpoint/2010/main" val="1091061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DB8E0-9F3E-261B-F670-376CC3811C02}"/>
              </a:ext>
            </a:extLst>
          </p:cNvPr>
          <p:cNvSpPr>
            <a:spLocks noGrp="1"/>
          </p:cNvSpPr>
          <p:nvPr>
            <p:ph type="ctrTitle"/>
          </p:nvPr>
        </p:nvSpPr>
        <p:spPr/>
        <p:txBody>
          <a:bodyPr>
            <a:noAutofit/>
          </a:bodyPr>
          <a:lstStyle/>
          <a:p>
            <a:r>
              <a:rPr lang="en-US" sz="2800" dirty="0" err="1"/>
              <a:t>MaskedCLIP</a:t>
            </a:r>
            <a:r>
              <a:rPr lang="en-US" sz="2800" dirty="0"/>
              <a:t>: Bridging the Masked and CLIP </a:t>
            </a:r>
            <a:r>
              <a:rPr lang="en-SG" sz="2800" dirty="0"/>
              <a:t>Space for Semi-Supervised Medical Vision-Language Pre-training</a:t>
            </a:r>
          </a:p>
        </p:txBody>
      </p:sp>
      <p:sp>
        <p:nvSpPr>
          <p:cNvPr id="3" name="Subtitle 2">
            <a:extLst>
              <a:ext uri="{FF2B5EF4-FFF2-40B4-BE49-F238E27FC236}">
                <a16:creationId xmlns:a16="http://schemas.microsoft.com/office/drawing/2014/main" id="{80013D30-CE63-0EE9-4C2C-D313F31B0840}"/>
              </a:ext>
            </a:extLst>
          </p:cNvPr>
          <p:cNvSpPr>
            <a:spLocks noGrp="1"/>
          </p:cNvSpPr>
          <p:nvPr>
            <p:ph type="subTitle" idx="1"/>
          </p:nvPr>
        </p:nvSpPr>
        <p:spPr/>
        <p:txBody>
          <a:bodyPr>
            <a:noAutofit/>
          </a:bodyPr>
          <a:lstStyle/>
          <a:p>
            <a:r>
              <a:rPr lang="en-US" altLang="en-US" sz="1600" dirty="0">
                <a:cs typeface="Arial" panose="020B0604020202020204" pitchFamily="34" charset="0"/>
              </a:rPr>
              <a:t>Lei Zhu</a:t>
            </a:r>
            <a:r>
              <a:rPr lang="en-US" altLang="en-US" sz="1600" baseline="30000" dirty="0">
                <a:cs typeface="Arial" panose="020B0604020202020204" pitchFamily="34" charset="0"/>
              </a:rPr>
              <a:t>1</a:t>
            </a:r>
            <a:r>
              <a:rPr lang="en-US" altLang="en-US" sz="1600" dirty="0">
                <a:cs typeface="Arial" panose="020B0604020202020204" pitchFamily="34" charset="0"/>
              </a:rPr>
              <a:t>, Jun Zhou</a:t>
            </a:r>
            <a:r>
              <a:rPr lang="en-US" altLang="en-US" sz="1600" baseline="30000" dirty="0">
                <a:cs typeface="Arial" panose="020B0604020202020204" pitchFamily="34" charset="0"/>
              </a:rPr>
              <a:t>1</a:t>
            </a:r>
            <a:r>
              <a:rPr lang="en-US" altLang="en-US" sz="1600" dirty="0">
                <a:cs typeface="Arial" panose="020B0604020202020204" pitchFamily="34" charset="0"/>
              </a:rPr>
              <a:t>, Rick Siow </a:t>
            </a:r>
            <a:r>
              <a:rPr lang="en-US" altLang="en-US" sz="1600" dirty="0" err="1">
                <a:cs typeface="Arial" panose="020B0604020202020204" pitchFamily="34" charset="0"/>
              </a:rPr>
              <a:t>Mong</a:t>
            </a:r>
            <a:r>
              <a:rPr lang="en-US" altLang="en-US" sz="1600" dirty="0">
                <a:cs typeface="Arial" panose="020B0604020202020204" pitchFamily="34" charset="0"/>
              </a:rPr>
              <a:t> Goh</a:t>
            </a:r>
            <a:r>
              <a:rPr lang="en-US" altLang="en-US" sz="1600" baseline="30000" dirty="0">
                <a:cs typeface="Arial" panose="020B0604020202020204" pitchFamily="34" charset="0"/>
              </a:rPr>
              <a:t>1</a:t>
            </a:r>
            <a:r>
              <a:rPr lang="en-US" altLang="en-US" sz="1600" dirty="0">
                <a:cs typeface="Arial" panose="020B0604020202020204" pitchFamily="34" charset="0"/>
              </a:rPr>
              <a:t>, Yong Liu</a:t>
            </a:r>
            <a:r>
              <a:rPr lang="en-US" altLang="en-US" sz="1600" baseline="30000" dirty="0">
                <a:cs typeface="Arial" panose="020B0604020202020204" pitchFamily="34" charset="0"/>
              </a:rPr>
              <a:t>1</a:t>
            </a:r>
          </a:p>
          <a:p>
            <a:endParaRPr lang="en-US" altLang="en-US" sz="1200" baseline="30000" dirty="0">
              <a:cs typeface="Arial" panose="020B0604020202020204" pitchFamily="34" charset="0"/>
            </a:endParaRPr>
          </a:p>
          <a:p>
            <a:r>
              <a:rPr lang="en-SG" sz="1400" baseline="30000" dirty="0"/>
              <a:t>1 </a:t>
            </a:r>
            <a:r>
              <a:rPr lang="en-SG" sz="1400" dirty="0"/>
              <a:t>Institute of High Performance Computing (IHPC), Agency for Science, Technology and Research (A*STAR), 1 Fusionopolis Way, #16-16 </a:t>
            </a:r>
            <a:r>
              <a:rPr lang="en-SG" sz="1400" dirty="0" err="1"/>
              <a:t>Connexis</a:t>
            </a:r>
            <a:r>
              <a:rPr lang="en-SG" sz="1400" dirty="0"/>
              <a:t>, Singapore 138632,Republic of Singapore </a:t>
            </a:r>
          </a:p>
        </p:txBody>
      </p:sp>
    </p:spTree>
    <p:extLst>
      <p:ext uri="{BB962C8B-B14F-4D97-AF65-F5344CB8AC3E}">
        <p14:creationId xmlns:p14="http://schemas.microsoft.com/office/powerpoint/2010/main" val="1478265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F2D72-8C5C-E31B-906C-95226D661AB1}"/>
              </a:ext>
            </a:extLst>
          </p:cNvPr>
          <p:cNvSpPr>
            <a:spLocks noGrp="1"/>
          </p:cNvSpPr>
          <p:nvPr>
            <p:ph type="title"/>
          </p:nvPr>
        </p:nvSpPr>
        <p:spPr/>
        <p:txBody>
          <a:bodyPr>
            <a:noAutofit/>
          </a:bodyPr>
          <a:lstStyle/>
          <a:p>
            <a:r>
              <a:rPr lang="en-US" sz="2800" dirty="0" err="1"/>
              <a:t>MaskedCLIP</a:t>
            </a:r>
            <a:r>
              <a:rPr lang="en-US" sz="2800" dirty="0"/>
              <a:t>: Bridging the Masked and CLIP </a:t>
            </a:r>
            <a:r>
              <a:rPr lang="en-SG" sz="2800" dirty="0"/>
              <a:t>Space for SSVLP</a:t>
            </a:r>
          </a:p>
        </p:txBody>
      </p:sp>
      <p:sp>
        <p:nvSpPr>
          <p:cNvPr id="3" name="Content Placeholder 2">
            <a:extLst>
              <a:ext uri="{FF2B5EF4-FFF2-40B4-BE49-F238E27FC236}">
                <a16:creationId xmlns:a16="http://schemas.microsoft.com/office/drawing/2014/main" id="{17CD2A2A-9CF5-BDD2-00BF-8290DAB0CFE7}"/>
              </a:ext>
            </a:extLst>
          </p:cNvPr>
          <p:cNvSpPr>
            <a:spLocks noGrp="1"/>
          </p:cNvSpPr>
          <p:nvPr>
            <p:ph idx="1"/>
          </p:nvPr>
        </p:nvSpPr>
        <p:spPr>
          <a:xfrm>
            <a:off x="838200" y="1825625"/>
            <a:ext cx="10515600" cy="4351338"/>
          </a:xfrm>
        </p:spPr>
        <p:txBody>
          <a:bodyPr>
            <a:normAutofit/>
          </a:bodyPr>
          <a:lstStyle/>
          <a:p>
            <a:pPr marL="0" indent="0">
              <a:lnSpc>
                <a:spcPct val="150000"/>
              </a:lnSpc>
              <a:buNone/>
            </a:pPr>
            <a:r>
              <a:rPr lang="en-SG" sz="2000" dirty="0"/>
              <a:t>Background and Motivation:</a:t>
            </a:r>
          </a:p>
          <a:p>
            <a:pPr>
              <a:lnSpc>
                <a:spcPct val="150000"/>
              </a:lnSpc>
            </a:pPr>
            <a:r>
              <a:rPr lang="en-SG" altLang="en-US" sz="1400" dirty="0">
                <a:solidFill>
                  <a:srgbClr val="000000"/>
                </a:solidFill>
                <a:cs typeface="Arial" panose="020B0604020202020204" pitchFamily="34" charset="0"/>
              </a:rPr>
              <a:t>Foundation model has recently gained tremendous popularity in medical image analysis, where </a:t>
            </a:r>
            <a:r>
              <a:rPr lang="en-US" altLang="en-US" sz="1400" dirty="0">
                <a:solidFill>
                  <a:srgbClr val="000000"/>
                </a:solidFill>
                <a:cs typeface="Arial" panose="020B0604020202020204" pitchFamily="34" charset="0"/>
              </a:rPr>
              <a:t>deep neural networks are pre-trained on diverse and large volume of medical image data to learn generalizable image features to boost downstream task performance.</a:t>
            </a:r>
            <a:endParaRPr lang="en-SG" sz="1400" dirty="0"/>
          </a:p>
          <a:p>
            <a:pPr>
              <a:lnSpc>
                <a:spcPct val="150000"/>
              </a:lnSpc>
            </a:pPr>
            <a:r>
              <a:rPr lang="en-US" sz="1400" dirty="0"/>
              <a:t>State-of-the-art methods leverage either paired image-text data via vision-language pre-training  or unpaired image data via self-supervised pre-training to learn foundation models. Yet, they fail to leverage the other type of data to learn richer and more comprehensive image features.</a:t>
            </a:r>
          </a:p>
          <a:p>
            <a:pPr>
              <a:lnSpc>
                <a:spcPct val="150000"/>
              </a:lnSpc>
            </a:pPr>
            <a:r>
              <a:rPr lang="en-US" sz="1400" dirty="0"/>
              <a:t>In this paper, we investigate a novel task termed </a:t>
            </a:r>
            <a:r>
              <a:rPr lang="en-US" sz="1400" dirty="0">
                <a:solidFill>
                  <a:srgbClr val="FF0000"/>
                </a:solidFill>
              </a:rPr>
              <a:t>semi-supervised vision-language pre-training</a:t>
            </a:r>
            <a:r>
              <a:rPr lang="en-US" sz="1400" dirty="0"/>
              <a:t>, aiming to fully harness the potential of both paired and unpaired image data for foundation model learning.</a:t>
            </a:r>
          </a:p>
          <a:p>
            <a:pPr marL="0" indent="0">
              <a:lnSpc>
                <a:spcPct val="150000"/>
              </a:lnSpc>
              <a:buNone/>
            </a:pPr>
            <a:endParaRPr lang="en-SG" dirty="0"/>
          </a:p>
        </p:txBody>
      </p:sp>
    </p:spTree>
    <p:extLst>
      <p:ext uri="{BB962C8B-B14F-4D97-AF65-F5344CB8AC3E}">
        <p14:creationId xmlns:p14="http://schemas.microsoft.com/office/powerpoint/2010/main" val="646473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F2D72-8C5C-E31B-906C-95226D661AB1}"/>
              </a:ext>
            </a:extLst>
          </p:cNvPr>
          <p:cNvSpPr>
            <a:spLocks noGrp="1"/>
          </p:cNvSpPr>
          <p:nvPr>
            <p:ph type="title"/>
          </p:nvPr>
        </p:nvSpPr>
        <p:spPr/>
        <p:txBody>
          <a:bodyPr>
            <a:noAutofit/>
          </a:bodyPr>
          <a:lstStyle/>
          <a:p>
            <a:r>
              <a:rPr lang="en-US" sz="2800" dirty="0" err="1"/>
              <a:t>MaskedCLIP</a:t>
            </a:r>
            <a:r>
              <a:rPr lang="en-US" sz="2800" dirty="0"/>
              <a:t>: Bridging the Masked and CLIP </a:t>
            </a:r>
            <a:r>
              <a:rPr lang="en-SG" sz="2800" dirty="0"/>
              <a:t>Space for SSVLP</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7CD2A2A-9CF5-BDD2-00BF-8290DAB0CFE7}"/>
                  </a:ext>
                </a:extLst>
              </p:cNvPr>
              <p:cNvSpPr>
                <a:spLocks noGrp="1"/>
              </p:cNvSpPr>
              <p:nvPr>
                <p:ph idx="1"/>
              </p:nvPr>
            </p:nvSpPr>
            <p:spPr>
              <a:xfrm>
                <a:off x="838200" y="1825625"/>
                <a:ext cx="5257800" cy="4351338"/>
              </a:xfrm>
            </p:spPr>
            <p:txBody>
              <a:bodyPr>
                <a:normAutofit/>
              </a:bodyPr>
              <a:lstStyle/>
              <a:p>
                <a:pPr marL="0" indent="0">
                  <a:lnSpc>
                    <a:spcPct val="120000"/>
                  </a:lnSpc>
                  <a:buNone/>
                </a:pPr>
                <a:r>
                  <a:rPr lang="en-SG" sz="2000" dirty="0"/>
                  <a:t>Problem Formulation:</a:t>
                </a:r>
              </a:p>
              <a:p>
                <a:pPr>
                  <a:lnSpc>
                    <a:spcPct val="120000"/>
                  </a:lnSpc>
                </a:pPr>
                <a:r>
                  <a:rPr lang="en-SG" altLang="en-US" sz="1400" dirty="0">
                    <a:solidFill>
                      <a:srgbClr val="000000"/>
                    </a:solidFill>
                    <a:cs typeface="Arial" panose="020B0604020202020204" pitchFamily="34" charset="0"/>
                  </a:rPr>
                  <a:t>In semi-supervised vision-language pre-training, we are given an assembly of paired image-text data with </a:t>
                </a:r>
                <a14:m>
                  <m:oMath xmlns:m="http://schemas.openxmlformats.org/officeDocument/2006/math">
                    <m:sSup>
                      <m:sSupPr>
                        <m:ctrlPr>
                          <a:rPr lang="en-SG" altLang="en-US" sz="1400" i="1">
                            <a:solidFill>
                              <a:srgbClr val="000000"/>
                            </a:solidFill>
                            <a:cs typeface="Arial" panose="020B0604020202020204" pitchFamily="34" charset="0"/>
                          </a:rPr>
                        </m:ctrlPr>
                      </m:sSupPr>
                      <m:e>
                        <m:r>
                          <a:rPr lang="en-SG" altLang="en-US" sz="1400" i="1">
                            <a:solidFill>
                              <a:srgbClr val="000000"/>
                            </a:solidFill>
                            <a:cs typeface="Arial" panose="020B0604020202020204" pitchFamily="34" charset="0"/>
                          </a:rPr>
                          <m:t>𝑁</m:t>
                        </m:r>
                      </m:e>
                      <m:sup>
                        <m:r>
                          <a:rPr lang="en-SG" altLang="en-US" sz="1400" i="1">
                            <a:solidFill>
                              <a:srgbClr val="000000"/>
                            </a:solidFill>
                            <a:cs typeface="Arial" panose="020B0604020202020204" pitchFamily="34" charset="0"/>
                          </a:rPr>
                          <m:t>𝑝</m:t>
                        </m:r>
                      </m:sup>
                    </m:sSup>
                  </m:oMath>
                </a14:m>
                <a:r>
                  <a:rPr lang="en-SG" altLang="en-US" sz="1400" dirty="0">
                    <a:solidFill>
                      <a:srgbClr val="000000"/>
                    </a:solidFill>
                    <a:cs typeface="Arial" panose="020B0604020202020204" pitchFamily="34" charset="0"/>
                  </a:rPr>
                  <a:t> data points. We present the paired image-text data in a triplet format to accommodate optional categorical labels as </a:t>
                </a:r>
                <a14:m>
                  <m:oMath xmlns:m="http://schemas.openxmlformats.org/officeDocument/2006/math">
                    <m:sSup>
                      <m:sSupPr>
                        <m:ctrlPr>
                          <a:rPr lang="en-SG" altLang="en-US" sz="1400" i="1">
                            <a:solidFill>
                              <a:srgbClr val="000000"/>
                            </a:solidFill>
                          </a:rPr>
                        </m:ctrlPr>
                      </m:sSupPr>
                      <m:e>
                        <m:r>
                          <a:rPr lang="en-SG" altLang="en-US" sz="1400">
                            <a:solidFill>
                              <a:srgbClr val="000000"/>
                            </a:solidFill>
                          </a:rPr>
                          <m:t>𝔻</m:t>
                        </m:r>
                      </m:e>
                      <m:sup>
                        <m:r>
                          <a:rPr lang="en-SG" altLang="en-US" sz="1400" i="1">
                            <a:solidFill>
                              <a:srgbClr val="000000"/>
                            </a:solidFill>
                          </a:rPr>
                          <m:t>𝑝</m:t>
                        </m:r>
                      </m:sup>
                    </m:sSup>
                    <m:r>
                      <a:rPr lang="en-SG" altLang="en-US" sz="1400">
                        <a:solidFill>
                          <a:srgbClr val="000000"/>
                        </a:solidFill>
                      </a:rPr>
                      <m:t>=</m:t>
                    </m:r>
                    <m:sSubSup>
                      <m:sSubSupPr>
                        <m:ctrlPr>
                          <a:rPr lang="en-SG" altLang="en-US" sz="1400" i="1">
                            <a:solidFill>
                              <a:srgbClr val="000000"/>
                            </a:solidFill>
                          </a:rPr>
                        </m:ctrlPr>
                      </m:sSubSupPr>
                      <m:e>
                        <m:d>
                          <m:dPr>
                            <m:begChr m:val="{"/>
                            <m:endChr m:val="}"/>
                            <m:ctrlPr>
                              <a:rPr lang="en-SG" altLang="en-US" sz="1400" i="1">
                                <a:solidFill>
                                  <a:srgbClr val="000000"/>
                                </a:solidFill>
                              </a:rPr>
                            </m:ctrlPr>
                          </m:dPr>
                          <m:e>
                            <m:d>
                              <m:dPr>
                                <m:ctrlPr>
                                  <a:rPr lang="en-SG" altLang="en-US" sz="1400" i="1">
                                    <a:solidFill>
                                      <a:srgbClr val="000000"/>
                                    </a:solidFill>
                                  </a:rPr>
                                </m:ctrlPr>
                              </m:dPr>
                              <m:e>
                                <m:sSubSup>
                                  <m:sSubSupPr>
                                    <m:ctrlPr>
                                      <a:rPr lang="en-SG" altLang="en-US" sz="1400" i="1">
                                        <a:solidFill>
                                          <a:srgbClr val="000000"/>
                                        </a:solidFill>
                                      </a:rPr>
                                    </m:ctrlPr>
                                  </m:sSubSupPr>
                                  <m:e>
                                    <m:r>
                                      <a:rPr lang="en-SG" altLang="en-US" sz="1400">
                                        <a:solidFill>
                                          <a:srgbClr val="000000"/>
                                        </a:solidFill>
                                      </a:rPr>
                                      <m:t>𝑥</m:t>
                                    </m:r>
                                  </m:e>
                                  <m:sub>
                                    <m:r>
                                      <a:rPr lang="en-SG" altLang="en-US" sz="1400">
                                        <a:solidFill>
                                          <a:srgbClr val="000000"/>
                                        </a:solidFill>
                                      </a:rPr>
                                      <m:t>𝑖</m:t>
                                    </m:r>
                                  </m:sub>
                                  <m:sup>
                                    <m:r>
                                      <a:rPr lang="en-SG" altLang="en-US" sz="1400" i="1">
                                        <a:solidFill>
                                          <a:srgbClr val="000000"/>
                                        </a:solidFill>
                                      </a:rPr>
                                      <m:t>𝑝</m:t>
                                    </m:r>
                                  </m:sup>
                                </m:sSubSup>
                                <m:r>
                                  <a:rPr lang="en-SG" altLang="en-US" sz="1400">
                                    <a:solidFill>
                                      <a:srgbClr val="000000"/>
                                    </a:solidFill>
                                  </a:rPr>
                                  <m:t>,</m:t>
                                </m:r>
                                <m:sSubSup>
                                  <m:sSubSupPr>
                                    <m:ctrlPr>
                                      <a:rPr lang="en-SG" altLang="en-US" sz="1400" i="1">
                                        <a:solidFill>
                                          <a:srgbClr val="000000"/>
                                        </a:solidFill>
                                      </a:rPr>
                                    </m:ctrlPr>
                                  </m:sSubSupPr>
                                  <m:e>
                                    <m:r>
                                      <a:rPr lang="en-SG" altLang="en-US" sz="1400" i="1">
                                        <a:solidFill>
                                          <a:srgbClr val="000000"/>
                                        </a:solidFill>
                                      </a:rPr>
                                      <m:t>𝑡</m:t>
                                    </m:r>
                                  </m:e>
                                  <m:sub>
                                    <m:r>
                                      <a:rPr lang="en-SG" altLang="en-US" sz="1400">
                                        <a:solidFill>
                                          <a:srgbClr val="000000"/>
                                        </a:solidFill>
                                      </a:rPr>
                                      <m:t>𝑖</m:t>
                                    </m:r>
                                  </m:sub>
                                  <m:sup>
                                    <m:r>
                                      <a:rPr lang="en-SG" altLang="en-US" sz="1400" i="1">
                                        <a:solidFill>
                                          <a:srgbClr val="000000"/>
                                        </a:solidFill>
                                      </a:rPr>
                                      <m:t>𝑝</m:t>
                                    </m:r>
                                  </m:sup>
                                </m:sSubSup>
                                <m:r>
                                  <a:rPr lang="en-SG" altLang="en-US" sz="1400" i="1">
                                    <a:solidFill>
                                      <a:srgbClr val="000000"/>
                                    </a:solidFill>
                                  </a:rPr>
                                  <m:t>,</m:t>
                                </m:r>
                                <m:sSubSup>
                                  <m:sSubSupPr>
                                    <m:ctrlPr>
                                      <a:rPr lang="en-SG" altLang="en-US" sz="1400" i="1">
                                        <a:solidFill>
                                          <a:srgbClr val="000000"/>
                                        </a:solidFill>
                                      </a:rPr>
                                    </m:ctrlPr>
                                  </m:sSubSupPr>
                                  <m:e>
                                    <m:r>
                                      <a:rPr lang="en-SG" altLang="en-US" sz="1400">
                                        <a:solidFill>
                                          <a:srgbClr val="000000"/>
                                        </a:solidFill>
                                      </a:rPr>
                                      <m:t>𝑦</m:t>
                                    </m:r>
                                  </m:e>
                                  <m:sub>
                                    <m:r>
                                      <a:rPr lang="en-SG" altLang="en-US" sz="1400">
                                        <a:solidFill>
                                          <a:srgbClr val="000000"/>
                                        </a:solidFill>
                                      </a:rPr>
                                      <m:t>𝑖</m:t>
                                    </m:r>
                                  </m:sub>
                                  <m:sup>
                                    <m:r>
                                      <a:rPr lang="en-SG" altLang="en-US" sz="1400" i="1">
                                        <a:solidFill>
                                          <a:srgbClr val="000000"/>
                                        </a:solidFill>
                                      </a:rPr>
                                      <m:t>𝑝</m:t>
                                    </m:r>
                                  </m:sup>
                                </m:sSubSup>
                              </m:e>
                            </m:d>
                          </m:e>
                        </m:d>
                      </m:e>
                      <m:sub>
                        <m:r>
                          <a:rPr lang="en-SG" altLang="en-US" sz="1400">
                            <a:solidFill>
                              <a:srgbClr val="000000"/>
                            </a:solidFill>
                          </a:rPr>
                          <m:t>𝑖</m:t>
                        </m:r>
                        <m:r>
                          <a:rPr lang="en-SG" altLang="en-US" sz="1400">
                            <a:solidFill>
                              <a:srgbClr val="000000"/>
                            </a:solidFill>
                          </a:rPr>
                          <m:t>=1</m:t>
                        </m:r>
                      </m:sub>
                      <m:sup>
                        <m:sSup>
                          <m:sSupPr>
                            <m:ctrlPr>
                              <a:rPr lang="en-SG" altLang="en-US" sz="1400" i="1">
                                <a:solidFill>
                                  <a:srgbClr val="000000"/>
                                </a:solidFill>
                              </a:rPr>
                            </m:ctrlPr>
                          </m:sSupPr>
                          <m:e>
                            <m:r>
                              <a:rPr lang="en-SG" altLang="en-US" sz="1400">
                                <a:solidFill>
                                  <a:srgbClr val="000000"/>
                                </a:solidFill>
                              </a:rPr>
                              <m:t>𝑁</m:t>
                            </m:r>
                          </m:e>
                          <m:sup>
                            <m:r>
                              <a:rPr lang="en-SG" altLang="en-US" sz="1400" i="1">
                                <a:solidFill>
                                  <a:srgbClr val="000000"/>
                                </a:solidFill>
                              </a:rPr>
                              <m:t>𝑝</m:t>
                            </m:r>
                          </m:sup>
                        </m:sSup>
                      </m:sup>
                    </m:sSubSup>
                  </m:oMath>
                </a14:m>
                <a:r>
                  <a:rPr lang="en-SG" altLang="en-US" sz="1400" dirty="0">
                    <a:solidFill>
                      <a:srgbClr val="000000"/>
                    </a:solidFill>
                    <a:cs typeface="Arial" panose="020B0604020202020204" pitchFamily="34" charset="0"/>
                  </a:rPr>
                  <a:t>, where </a:t>
                </a:r>
                <a14:m>
                  <m:oMath xmlns:m="http://schemas.openxmlformats.org/officeDocument/2006/math">
                    <m:sSubSup>
                      <m:sSubSupPr>
                        <m:ctrlPr>
                          <a:rPr lang="en-SG" altLang="en-US" sz="1400" i="1">
                            <a:solidFill>
                              <a:srgbClr val="000000"/>
                            </a:solidFill>
                          </a:rPr>
                        </m:ctrlPr>
                      </m:sSubSupPr>
                      <m:e>
                        <m:r>
                          <m:rPr>
                            <m:sty m:val="p"/>
                          </m:rPr>
                          <a:rPr lang="en-US" altLang="zh-CN" sz="1400" i="1">
                            <a:solidFill>
                              <a:srgbClr val="000000"/>
                            </a:solidFill>
                          </a:rPr>
                          <m:t>t</m:t>
                        </m:r>
                      </m:e>
                      <m:sub>
                        <m:r>
                          <a:rPr lang="en-SG" altLang="en-US" sz="1400">
                            <a:solidFill>
                              <a:srgbClr val="000000"/>
                            </a:solidFill>
                          </a:rPr>
                          <m:t>𝑖</m:t>
                        </m:r>
                      </m:sub>
                      <m:sup>
                        <m:r>
                          <a:rPr lang="en-SG" altLang="en-US" sz="1400" i="1">
                            <a:solidFill>
                              <a:srgbClr val="000000"/>
                            </a:solidFill>
                          </a:rPr>
                          <m:t>𝑝</m:t>
                        </m:r>
                      </m:sup>
                    </m:sSubSup>
                  </m:oMath>
                </a14:m>
                <a:r>
                  <a:rPr lang="en-SG" altLang="en-US" sz="1400" dirty="0">
                    <a:solidFill>
                      <a:srgbClr val="000000"/>
                    </a:solidFill>
                    <a:cs typeface="Arial" panose="020B0604020202020204" pitchFamily="34" charset="0"/>
                  </a:rPr>
                  <a:t> is the associated text description for </a:t>
                </a:r>
                <a14:m>
                  <m:oMath xmlns:m="http://schemas.openxmlformats.org/officeDocument/2006/math">
                    <m:sSubSup>
                      <m:sSubSupPr>
                        <m:ctrlPr>
                          <a:rPr lang="en-SG" altLang="en-US" sz="1400" i="1">
                            <a:solidFill>
                              <a:srgbClr val="000000"/>
                            </a:solidFill>
                          </a:rPr>
                        </m:ctrlPr>
                      </m:sSubSupPr>
                      <m:e>
                        <m:r>
                          <a:rPr lang="en-SG" altLang="en-US" sz="1400">
                            <a:solidFill>
                              <a:srgbClr val="000000"/>
                            </a:solidFill>
                          </a:rPr>
                          <m:t>𝑥</m:t>
                        </m:r>
                      </m:e>
                      <m:sub>
                        <m:r>
                          <a:rPr lang="en-SG" altLang="en-US" sz="1400">
                            <a:solidFill>
                              <a:srgbClr val="000000"/>
                            </a:solidFill>
                          </a:rPr>
                          <m:t>𝑖</m:t>
                        </m:r>
                      </m:sub>
                      <m:sup>
                        <m:r>
                          <a:rPr lang="en-SG" altLang="en-US" sz="1400" i="1">
                            <a:solidFill>
                              <a:srgbClr val="000000"/>
                            </a:solidFill>
                          </a:rPr>
                          <m:t>𝑝</m:t>
                        </m:r>
                      </m:sup>
                    </m:sSubSup>
                  </m:oMath>
                </a14:m>
                <a:r>
                  <a:rPr lang="en-US" altLang="en-US" sz="1400" dirty="0">
                    <a:solidFill>
                      <a:srgbClr val="000000"/>
                    </a:solidFill>
                    <a:cs typeface="Arial" panose="020B0604020202020204" pitchFamily="34" charset="0"/>
                  </a:rPr>
                  <a:t> and </a:t>
                </a:r>
                <a14:m>
                  <m:oMath xmlns:m="http://schemas.openxmlformats.org/officeDocument/2006/math">
                    <m:sSubSup>
                      <m:sSubSupPr>
                        <m:ctrlPr>
                          <a:rPr lang="en-SG" altLang="en-US" sz="1400" i="1">
                            <a:solidFill>
                              <a:srgbClr val="000000"/>
                            </a:solidFill>
                          </a:rPr>
                        </m:ctrlPr>
                      </m:sSubSupPr>
                      <m:e>
                        <m:r>
                          <a:rPr lang="en-SG" altLang="en-US" sz="1400" i="1">
                            <a:solidFill>
                              <a:srgbClr val="000000"/>
                            </a:solidFill>
                          </a:rPr>
                          <m:t>𝑦</m:t>
                        </m:r>
                      </m:e>
                      <m:sub>
                        <m:r>
                          <a:rPr lang="en-SG" altLang="en-US" sz="1400">
                            <a:solidFill>
                              <a:srgbClr val="000000"/>
                            </a:solidFill>
                          </a:rPr>
                          <m:t>𝑖</m:t>
                        </m:r>
                      </m:sub>
                      <m:sup>
                        <m:r>
                          <a:rPr lang="en-SG" altLang="en-US" sz="1400" i="1">
                            <a:solidFill>
                              <a:srgbClr val="000000"/>
                            </a:solidFill>
                          </a:rPr>
                          <m:t>𝑝</m:t>
                        </m:r>
                      </m:sup>
                    </m:sSubSup>
                  </m:oMath>
                </a14:m>
                <a:r>
                  <a:rPr lang="en-SG" altLang="en-US" sz="1400" dirty="0">
                    <a:solidFill>
                      <a:srgbClr val="000000"/>
                    </a:solidFill>
                    <a:cs typeface="Arial" panose="020B0604020202020204" pitchFamily="34" charset="0"/>
                  </a:rPr>
                  <a:t> is the associated categorical label of </a:t>
                </a:r>
                <a14:m>
                  <m:oMath xmlns:m="http://schemas.openxmlformats.org/officeDocument/2006/math">
                    <m:sSubSup>
                      <m:sSubSupPr>
                        <m:ctrlPr>
                          <a:rPr lang="en-SG" altLang="en-US" sz="1400" i="1">
                            <a:solidFill>
                              <a:srgbClr val="000000"/>
                            </a:solidFill>
                          </a:rPr>
                        </m:ctrlPr>
                      </m:sSubSupPr>
                      <m:e>
                        <m:r>
                          <a:rPr lang="en-SG" altLang="en-US" sz="1400">
                            <a:solidFill>
                              <a:srgbClr val="000000"/>
                            </a:solidFill>
                          </a:rPr>
                          <m:t>𝑥</m:t>
                        </m:r>
                      </m:e>
                      <m:sub>
                        <m:r>
                          <a:rPr lang="en-SG" altLang="en-US" sz="1400">
                            <a:solidFill>
                              <a:srgbClr val="000000"/>
                            </a:solidFill>
                          </a:rPr>
                          <m:t>𝑖</m:t>
                        </m:r>
                      </m:sub>
                      <m:sup>
                        <m:r>
                          <a:rPr lang="en-SG" altLang="en-US" sz="1400" i="1">
                            <a:solidFill>
                              <a:srgbClr val="000000"/>
                            </a:solidFill>
                          </a:rPr>
                          <m:t>𝑝</m:t>
                        </m:r>
                      </m:sup>
                    </m:sSubSup>
                  </m:oMath>
                </a14:m>
                <a:r>
                  <a:rPr lang="en-US" altLang="en-US" sz="1400" dirty="0">
                    <a:solidFill>
                      <a:srgbClr val="000000"/>
                    </a:solidFill>
                    <a:cs typeface="Arial" panose="020B0604020202020204" pitchFamily="34" charset="0"/>
                  </a:rPr>
                  <a:t> if available; otherwise </a:t>
                </a:r>
                <a14:m>
                  <m:oMath xmlns:m="http://schemas.openxmlformats.org/officeDocument/2006/math">
                    <m:sSubSup>
                      <m:sSubSupPr>
                        <m:ctrlPr>
                          <a:rPr lang="en-SG" altLang="en-US" sz="1400" i="1">
                            <a:solidFill>
                              <a:srgbClr val="000000"/>
                            </a:solidFill>
                          </a:rPr>
                        </m:ctrlPr>
                      </m:sSubSupPr>
                      <m:e>
                        <m:r>
                          <a:rPr lang="en-SG" altLang="en-US" sz="1400" i="1">
                            <a:solidFill>
                              <a:srgbClr val="000000"/>
                            </a:solidFill>
                          </a:rPr>
                          <m:t>𝑦</m:t>
                        </m:r>
                      </m:e>
                      <m:sub>
                        <m:r>
                          <a:rPr lang="en-SG" altLang="en-US" sz="1400">
                            <a:solidFill>
                              <a:srgbClr val="000000"/>
                            </a:solidFill>
                          </a:rPr>
                          <m:t>𝑖</m:t>
                        </m:r>
                      </m:sub>
                      <m:sup>
                        <m:r>
                          <a:rPr lang="en-SG" altLang="en-US" sz="1400" i="1">
                            <a:solidFill>
                              <a:srgbClr val="000000"/>
                            </a:solidFill>
                          </a:rPr>
                          <m:t>𝑝</m:t>
                        </m:r>
                      </m:sup>
                    </m:sSubSup>
                  </m:oMath>
                </a14:m>
                <a:r>
                  <a:rPr lang="en-US" altLang="en-US" sz="1400" dirty="0">
                    <a:solidFill>
                      <a:srgbClr val="000000"/>
                    </a:solidFill>
                    <a:cs typeface="Arial" panose="020B0604020202020204" pitchFamily="34" charset="0"/>
                  </a:rPr>
                  <a:t> is defined as a unique identifier for image-text pair. Additionally, we are given an assembly of unpaired image data </a:t>
                </a:r>
                <a14:m>
                  <m:oMath xmlns:m="http://schemas.openxmlformats.org/officeDocument/2006/math">
                    <m:sSup>
                      <m:sSupPr>
                        <m:ctrlPr>
                          <a:rPr lang="en-SG" altLang="en-US" sz="1400" i="1">
                            <a:solidFill>
                              <a:srgbClr val="000000"/>
                            </a:solidFill>
                          </a:rPr>
                        </m:ctrlPr>
                      </m:sSupPr>
                      <m:e>
                        <m:r>
                          <a:rPr lang="en-SG" altLang="en-US" sz="1400">
                            <a:solidFill>
                              <a:srgbClr val="000000"/>
                            </a:solidFill>
                          </a:rPr>
                          <m:t>𝔻</m:t>
                        </m:r>
                      </m:e>
                      <m:sup>
                        <m:r>
                          <a:rPr lang="en-SG" altLang="en-US" sz="1400" i="1">
                            <a:solidFill>
                              <a:srgbClr val="000000"/>
                            </a:solidFill>
                          </a:rPr>
                          <m:t>𝑢</m:t>
                        </m:r>
                      </m:sup>
                    </m:sSup>
                    <m:r>
                      <a:rPr lang="en-SG" altLang="en-US" sz="1400">
                        <a:solidFill>
                          <a:srgbClr val="000000"/>
                        </a:solidFill>
                      </a:rPr>
                      <m:t>=</m:t>
                    </m:r>
                    <m:sSubSup>
                      <m:sSubSupPr>
                        <m:ctrlPr>
                          <a:rPr lang="en-SG" altLang="en-US" sz="1400" i="1">
                            <a:solidFill>
                              <a:srgbClr val="000000"/>
                            </a:solidFill>
                          </a:rPr>
                        </m:ctrlPr>
                      </m:sSubSupPr>
                      <m:e>
                        <m:r>
                          <a:rPr lang="en-SG" altLang="en-US" sz="1400" i="1">
                            <a:solidFill>
                              <a:srgbClr val="000000"/>
                            </a:solidFill>
                          </a:rPr>
                          <m:t>{</m:t>
                        </m:r>
                        <m:sSubSup>
                          <m:sSubSupPr>
                            <m:ctrlPr>
                              <a:rPr lang="en-SG" altLang="en-US" sz="1400" i="1">
                                <a:solidFill>
                                  <a:srgbClr val="000000"/>
                                </a:solidFill>
                              </a:rPr>
                            </m:ctrlPr>
                          </m:sSubSupPr>
                          <m:e>
                            <m:r>
                              <a:rPr lang="en-SG" altLang="en-US" sz="1400">
                                <a:solidFill>
                                  <a:srgbClr val="000000"/>
                                </a:solidFill>
                              </a:rPr>
                              <m:t>𝑥</m:t>
                            </m:r>
                          </m:e>
                          <m:sub>
                            <m:r>
                              <a:rPr lang="en-SG" altLang="en-US" sz="1400">
                                <a:solidFill>
                                  <a:srgbClr val="000000"/>
                                </a:solidFill>
                              </a:rPr>
                              <m:t>𝑖</m:t>
                            </m:r>
                          </m:sub>
                          <m:sup>
                            <m:r>
                              <a:rPr lang="en-SG" altLang="en-US" sz="1400" i="1">
                                <a:solidFill>
                                  <a:srgbClr val="000000"/>
                                </a:solidFill>
                              </a:rPr>
                              <m:t>𝑢</m:t>
                            </m:r>
                          </m:sup>
                        </m:sSubSup>
                        <m:r>
                          <a:rPr lang="en-SG" altLang="en-US" sz="1400" i="1">
                            <a:solidFill>
                              <a:srgbClr val="000000"/>
                            </a:solidFill>
                          </a:rPr>
                          <m:t>}</m:t>
                        </m:r>
                      </m:e>
                      <m:sub>
                        <m:r>
                          <a:rPr lang="en-SG" altLang="en-US" sz="1400">
                            <a:solidFill>
                              <a:srgbClr val="000000"/>
                            </a:solidFill>
                          </a:rPr>
                          <m:t>𝑖</m:t>
                        </m:r>
                        <m:r>
                          <a:rPr lang="en-SG" altLang="en-US" sz="1400">
                            <a:solidFill>
                              <a:srgbClr val="000000"/>
                            </a:solidFill>
                          </a:rPr>
                          <m:t>=1</m:t>
                        </m:r>
                      </m:sub>
                      <m:sup>
                        <m:sSup>
                          <m:sSupPr>
                            <m:ctrlPr>
                              <a:rPr lang="en-SG" altLang="en-US" sz="1400" i="1">
                                <a:solidFill>
                                  <a:srgbClr val="000000"/>
                                </a:solidFill>
                              </a:rPr>
                            </m:ctrlPr>
                          </m:sSupPr>
                          <m:e>
                            <m:r>
                              <a:rPr lang="en-SG" altLang="en-US" sz="1400">
                                <a:solidFill>
                                  <a:srgbClr val="000000"/>
                                </a:solidFill>
                              </a:rPr>
                              <m:t>𝑁</m:t>
                            </m:r>
                          </m:e>
                          <m:sup>
                            <m:r>
                              <a:rPr lang="en-SG" altLang="en-US" sz="1400" i="1">
                                <a:solidFill>
                                  <a:srgbClr val="000000"/>
                                </a:solidFill>
                              </a:rPr>
                              <m:t>𝑢</m:t>
                            </m:r>
                          </m:sup>
                        </m:sSup>
                      </m:sup>
                    </m:sSubSup>
                  </m:oMath>
                </a14:m>
                <a:r>
                  <a:rPr lang="en-US" altLang="en-US" sz="1400" dirty="0">
                    <a:solidFill>
                      <a:srgbClr val="000000"/>
                    </a:solidFill>
                    <a:cs typeface="Arial" panose="020B0604020202020204" pitchFamily="34" charset="0"/>
                  </a:rPr>
                  <a:t> with </a:t>
                </a:r>
                <a14:m>
                  <m:oMath xmlns:m="http://schemas.openxmlformats.org/officeDocument/2006/math">
                    <m:sSup>
                      <m:sSupPr>
                        <m:ctrlPr>
                          <a:rPr lang="en-SG" altLang="en-US" sz="1400" i="1">
                            <a:solidFill>
                              <a:srgbClr val="000000"/>
                            </a:solidFill>
                            <a:cs typeface="Arial" panose="020B0604020202020204" pitchFamily="34" charset="0"/>
                          </a:rPr>
                        </m:ctrlPr>
                      </m:sSupPr>
                      <m:e>
                        <m:r>
                          <a:rPr lang="en-SG" altLang="en-US" sz="1400" i="1">
                            <a:solidFill>
                              <a:srgbClr val="000000"/>
                            </a:solidFill>
                            <a:cs typeface="Arial" panose="020B0604020202020204" pitchFamily="34" charset="0"/>
                          </a:rPr>
                          <m:t>𝑁</m:t>
                        </m:r>
                      </m:e>
                      <m:sup>
                        <m:r>
                          <a:rPr lang="en-SG" altLang="en-US" sz="1400" i="1">
                            <a:solidFill>
                              <a:srgbClr val="000000"/>
                            </a:solidFill>
                            <a:cs typeface="Arial" panose="020B0604020202020204" pitchFamily="34" charset="0"/>
                          </a:rPr>
                          <m:t>𝑢</m:t>
                        </m:r>
                      </m:sup>
                    </m:sSup>
                  </m:oMath>
                </a14:m>
                <a:r>
                  <a:rPr lang="en-US" altLang="en-US" sz="1400" dirty="0">
                    <a:solidFill>
                      <a:srgbClr val="000000"/>
                    </a:solidFill>
                    <a:cs typeface="Arial" panose="020B0604020202020204" pitchFamily="34" charset="0"/>
                  </a:rPr>
                  <a:t> data points. The goal is to effectively leverage both the paired and unpaired image data to train a foundation model.</a:t>
                </a:r>
                <a:endParaRPr lang="en-SG" sz="1200" dirty="0"/>
              </a:p>
              <a:p>
                <a:pPr lvl="1">
                  <a:lnSpc>
                    <a:spcPct val="120000"/>
                  </a:lnSpc>
                </a:pPr>
                <a:endParaRPr lang="en-SG" sz="1200" dirty="0"/>
              </a:p>
            </p:txBody>
          </p:sp>
        </mc:Choice>
        <mc:Fallback>
          <p:sp>
            <p:nvSpPr>
              <p:cNvPr id="3" name="Content Placeholder 2">
                <a:extLst>
                  <a:ext uri="{FF2B5EF4-FFF2-40B4-BE49-F238E27FC236}">
                    <a16:creationId xmlns:a16="http://schemas.microsoft.com/office/drawing/2014/main" id="{17CD2A2A-9CF5-BDD2-00BF-8290DAB0CFE7}"/>
                  </a:ext>
                </a:extLst>
              </p:cNvPr>
              <p:cNvSpPr>
                <a:spLocks noGrp="1" noRot="1" noChangeAspect="1" noMove="1" noResize="1" noEditPoints="1" noAdjustHandles="1" noChangeArrowheads="1" noChangeShapeType="1" noTextEdit="1"/>
              </p:cNvSpPr>
              <p:nvPr>
                <p:ph idx="1"/>
              </p:nvPr>
            </p:nvSpPr>
            <p:spPr>
              <a:xfrm>
                <a:off x="838200" y="1825625"/>
                <a:ext cx="5257800" cy="4351338"/>
              </a:xfrm>
              <a:blipFill>
                <a:blip r:embed="rId2"/>
                <a:stretch>
                  <a:fillRect l="-1276" r="-464"/>
                </a:stretch>
              </a:blipFill>
            </p:spPr>
            <p:txBody>
              <a:bodyPr/>
              <a:lstStyle/>
              <a:p>
                <a:r>
                  <a:rPr lang="en-SG">
                    <a:noFill/>
                  </a:rPr>
                  <a:t> </a:t>
                </a:r>
              </a:p>
            </p:txBody>
          </p:sp>
        </mc:Fallback>
      </mc:AlternateContent>
      <p:sp>
        <p:nvSpPr>
          <p:cNvPr id="4" name="TextBox 3">
            <a:extLst>
              <a:ext uri="{FF2B5EF4-FFF2-40B4-BE49-F238E27FC236}">
                <a16:creationId xmlns:a16="http://schemas.microsoft.com/office/drawing/2014/main" id="{DC9EBE76-2493-939B-D000-60A13D3A0D66}"/>
              </a:ext>
            </a:extLst>
          </p:cNvPr>
          <p:cNvSpPr txBox="1"/>
          <p:nvPr/>
        </p:nvSpPr>
        <p:spPr>
          <a:xfrm>
            <a:off x="7031841" y="5136983"/>
            <a:ext cx="3845972" cy="246221"/>
          </a:xfrm>
          <a:prstGeom prst="rect">
            <a:avLst/>
          </a:prstGeom>
          <a:noFill/>
        </p:spPr>
        <p:txBody>
          <a:bodyPr wrap="square" rtlCol="0">
            <a:spAutoFit/>
          </a:bodyPr>
          <a:lstStyle>
            <a:defPPr>
              <a:defRPr lang="en-US"/>
            </a:defPPr>
            <a:lvl1pPr marL="0" algn="l" defTabSz="2133440" rtl="0" eaLnBrk="1" latinLnBrk="0" hangingPunct="1">
              <a:defRPr sz="8300" kern="1200">
                <a:solidFill>
                  <a:schemeClr val="tx1"/>
                </a:solidFill>
                <a:latin typeface="+mn-lt"/>
                <a:ea typeface="+mn-ea"/>
                <a:cs typeface="+mn-cs"/>
              </a:defRPr>
            </a:lvl1pPr>
            <a:lvl2pPr marL="2133440" algn="l" defTabSz="2133440" rtl="0" eaLnBrk="1" latinLnBrk="0" hangingPunct="1">
              <a:defRPr sz="8300" kern="1200">
                <a:solidFill>
                  <a:schemeClr val="tx1"/>
                </a:solidFill>
                <a:latin typeface="+mn-lt"/>
                <a:ea typeface="+mn-ea"/>
                <a:cs typeface="+mn-cs"/>
              </a:defRPr>
            </a:lvl2pPr>
            <a:lvl3pPr marL="4266882" algn="l" defTabSz="2133440" rtl="0" eaLnBrk="1" latinLnBrk="0" hangingPunct="1">
              <a:defRPr sz="8300" kern="1200">
                <a:solidFill>
                  <a:schemeClr val="tx1"/>
                </a:solidFill>
                <a:latin typeface="+mn-lt"/>
                <a:ea typeface="+mn-ea"/>
                <a:cs typeface="+mn-cs"/>
              </a:defRPr>
            </a:lvl3pPr>
            <a:lvl4pPr marL="6400322" algn="l" defTabSz="2133440" rtl="0" eaLnBrk="1" latinLnBrk="0" hangingPunct="1">
              <a:defRPr sz="8300" kern="1200">
                <a:solidFill>
                  <a:schemeClr val="tx1"/>
                </a:solidFill>
                <a:latin typeface="+mn-lt"/>
                <a:ea typeface="+mn-ea"/>
                <a:cs typeface="+mn-cs"/>
              </a:defRPr>
            </a:lvl4pPr>
            <a:lvl5pPr marL="8533763" algn="l" defTabSz="2133440" rtl="0" eaLnBrk="1" latinLnBrk="0" hangingPunct="1">
              <a:defRPr sz="8300" kern="1200">
                <a:solidFill>
                  <a:schemeClr val="tx1"/>
                </a:solidFill>
                <a:latin typeface="+mn-lt"/>
                <a:ea typeface="+mn-ea"/>
                <a:cs typeface="+mn-cs"/>
              </a:defRPr>
            </a:lvl5pPr>
            <a:lvl6pPr marL="10667204" algn="l" defTabSz="2133440" rtl="0" eaLnBrk="1" latinLnBrk="0" hangingPunct="1">
              <a:defRPr sz="8300" kern="1200">
                <a:solidFill>
                  <a:schemeClr val="tx1"/>
                </a:solidFill>
                <a:latin typeface="+mn-lt"/>
                <a:ea typeface="+mn-ea"/>
                <a:cs typeface="+mn-cs"/>
              </a:defRPr>
            </a:lvl6pPr>
            <a:lvl7pPr marL="12800645" algn="l" defTabSz="2133440" rtl="0" eaLnBrk="1" latinLnBrk="0" hangingPunct="1">
              <a:defRPr sz="8300" kern="1200">
                <a:solidFill>
                  <a:schemeClr val="tx1"/>
                </a:solidFill>
                <a:latin typeface="+mn-lt"/>
                <a:ea typeface="+mn-ea"/>
                <a:cs typeface="+mn-cs"/>
              </a:defRPr>
            </a:lvl7pPr>
            <a:lvl8pPr marL="14934086" algn="l" defTabSz="2133440" rtl="0" eaLnBrk="1" latinLnBrk="0" hangingPunct="1">
              <a:defRPr sz="8300" kern="1200">
                <a:solidFill>
                  <a:schemeClr val="tx1"/>
                </a:solidFill>
                <a:latin typeface="+mn-lt"/>
                <a:ea typeface="+mn-ea"/>
                <a:cs typeface="+mn-cs"/>
              </a:defRPr>
            </a:lvl8pPr>
            <a:lvl9pPr marL="17067527" algn="l" defTabSz="2133440" rtl="0" eaLnBrk="1" latinLnBrk="0" hangingPunct="1">
              <a:defRPr sz="8300" kern="1200">
                <a:solidFill>
                  <a:schemeClr val="tx1"/>
                </a:solidFill>
                <a:latin typeface="+mn-lt"/>
                <a:ea typeface="+mn-ea"/>
                <a:cs typeface="+mn-cs"/>
              </a:defRPr>
            </a:lvl9pPr>
          </a:lstStyle>
          <a:p>
            <a:pPr algn="ctr"/>
            <a:r>
              <a:rPr lang="en-SG" sz="1000" dirty="0">
                <a:solidFill>
                  <a:srgbClr val="000000"/>
                </a:solidFill>
                <a:cs typeface="Arial" panose="020B0604020202020204" pitchFamily="34" charset="0"/>
              </a:rPr>
              <a:t>Figure 1. Comparison of different pre-training paradigms</a:t>
            </a:r>
          </a:p>
        </p:txBody>
      </p:sp>
      <p:pic>
        <p:nvPicPr>
          <p:cNvPr id="6" name="Picture 5" descr="A diagram of different types of words&#10;&#10;AI-generated content may be incorrect.">
            <a:extLst>
              <a:ext uri="{FF2B5EF4-FFF2-40B4-BE49-F238E27FC236}">
                <a16:creationId xmlns:a16="http://schemas.microsoft.com/office/drawing/2014/main" id="{AE274609-3064-9356-4D2B-0405D6E1E5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8233" y="2431410"/>
            <a:ext cx="3733189" cy="2488793"/>
          </a:xfrm>
          <a:prstGeom prst="rect">
            <a:avLst/>
          </a:prstGeom>
        </p:spPr>
      </p:pic>
    </p:spTree>
    <p:extLst>
      <p:ext uri="{BB962C8B-B14F-4D97-AF65-F5344CB8AC3E}">
        <p14:creationId xmlns:p14="http://schemas.microsoft.com/office/powerpoint/2010/main" val="3963253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A2594-53BD-0860-1E06-7A0A9758DCAB}"/>
              </a:ext>
            </a:extLst>
          </p:cNvPr>
          <p:cNvSpPr>
            <a:spLocks noGrp="1"/>
          </p:cNvSpPr>
          <p:nvPr>
            <p:ph type="title"/>
          </p:nvPr>
        </p:nvSpPr>
        <p:spPr/>
        <p:txBody>
          <a:bodyPr>
            <a:normAutofit/>
          </a:bodyPr>
          <a:lstStyle/>
          <a:p>
            <a:r>
              <a:rPr lang="en-US" sz="2800" dirty="0" err="1"/>
              <a:t>MaskedCLIP</a:t>
            </a:r>
            <a:r>
              <a:rPr lang="en-US" sz="2800" dirty="0"/>
              <a:t>: Bridging the Masked and CLIP </a:t>
            </a:r>
            <a:r>
              <a:rPr lang="en-SG" sz="2800" dirty="0"/>
              <a:t>Space for SSVLP</a:t>
            </a:r>
          </a:p>
        </p:txBody>
      </p:sp>
      <p:sp>
        <p:nvSpPr>
          <p:cNvPr id="3" name="Content Placeholder 2">
            <a:extLst>
              <a:ext uri="{FF2B5EF4-FFF2-40B4-BE49-F238E27FC236}">
                <a16:creationId xmlns:a16="http://schemas.microsoft.com/office/drawing/2014/main" id="{2DB6287A-62EC-7912-7BD7-E0EF7E76B5A6}"/>
              </a:ext>
            </a:extLst>
          </p:cNvPr>
          <p:cNvSpPr>
            <a:spLocks noGrp="1"/>
          </p:cNvSpPr>
          <p:nvPr>
            <p:ph idx="1"/>
          </p:nvPr>
        </p:nvSpPr>
        <p:spPr>
          <a:xfrm>
            <a:off x="838200" y="1825625"/>
            <a:ext cx="5257800" cy="4351338"/>
          </a:xfrm>
        </p:spPr>
        <p:txBody>
          <a:bodyPr>
            <a:normAutofit lnSpcReduction="10000"/>
          </a:bodyPr>
          <a:lstStyle/>
          <a:p>
            <a:pPr marL="0" indent="0">
              <a:lnSpc>
                <a:spcPct val="100000"/>
              </a:lnSpc>
              <a:buNone/>
            </a:pPr>
            <a:r>
              <a:rPr lang="en-SG" sz="2000" dirty="0" err="1"/>
              <a:t>MaskedCLIP</a:t>
            </a:r>
            <a:r>
              <a:rPr lang="en-SG" sz="2000" dirty="0"/>
              <a:t>: Synergistic Masked Space and CLIP Space Learning</a:t>
            </a:r>
          </a:p>
          <a:p>
            <a:pPr>
              <a:lnSpc>
                <a:spcPct val="100000"/>
              </a:lnSpc>
            </a:pPr>
            <a:r>
              <a:rPr lang="en-SG" sz="1400" dirty="0"/>
              <a:t>(a) </a:t>
            </a:r>
            <a:r>
              <a:rPr lang="en-US" altLang="zh-CN" sz="1400" dirty="0"/>
              <a:t>Bridger Transformer</a:t>
            </a:r>
            <a:endParaRPr lang="en-SG" sz="1400" dirty="0"/>
          </a:p>
          <a:p>
            <a:pPr lvl="1">
              <a:lnSpc>
                <a:spcPct val="100000"/>
              </a:lnSpc>
            </a:pPr>
            <a:r>
              <a:rPr lang="en-US" altLang="zh-CN" sz="1200" dirty="0"/>
              <a:t>Due to the natural semantic hierarchy of the general masked feature space and the semantic specific CLIP feature space, we proposed a bridge transformer to connect the two spaces so that the </a:t>
            </a:r>
            <a:r>
              <a:rPr lang="en-US" altLang="zh-CN" sz="1200" dirty="0">
                <a:solidFill>
                  <a:srgbClr val="FF0000"/>
                </a:solidFill>
              </a:rPr>
              <a:t>CLIP features can benefit from the general masked features </a:t>
            </a:r>
            <a:r>
              <a:rPr lang="en-US" altLang="zh-CN" sz="1200" dirty="0"/>
              <a:t>for semantic feature extraction.</a:t>
            </a:r>
            <a:endParaRPr lang="en-SG" sz="1100" dirty="0"/>
          </a:p>
          <a:p>
            <a:pPr>
              <a:lnSpc>
                <a:spcPct val="100000"/>
              </a:lnSpc>
            </a:pPr>
            <a:r>
              <a:rPr lang="en-SG" sz="1400" dirty="0"/>
              <a:t>(b) Labeled-guided Contrastive Loss</a:t>
            </a:r>
          </a:p>
          <a:p>
            <a:pPr lvl="1">
              <a:lnSpc>
                <a:spcPct val="100000"/>
              </a:lnSpc>
            </a:pPr>
            <a:r>
              <a:rPr lang="en-US" sz="1200" dirty="0"/>
              <a:t>We leverage the categorical label information when available and ensure image-text </a:t>
            </a:r>
            <a:r>
              <a:rPr lang="en-US" sz="1200" dirty="0">
                <a:solidFill>
                  <a:srgbClr val="FF0000"/>
                </a:solidFill>
              </a:rPr>
              <a:t>pairs with same categorical label are pulled together</a:t>
            </a:r>
            <a:r>
              <a:rPr lang="en-US" sz="1200" dirty="0"/>
              <a:t> in CLIP feature space.</a:t>
            </a:r>
            <a:endParaRPr lang="en-SG" sz="1200" dirty="0"/>
          </a:p>
          <a:p>
            <a:pPr>
              <a:lnSpc>
                <a:spcPct val="100000"/>
              </a:lnSpc>
            </a:pPr>
            <a:r>
              <a:rPr lang="en-SG" sz="1400" dirty="0"/>
              <a:t>(c) Masked Knowledge Distillation</a:t>
            </a:r>
          </a:p>
          <a:p>
            <a:pPr lvl="1">
              <a:lnSpc>
                <a:spcPct val="100000"/>
              </a:lnSpc>
            </a:pPr>
            <a:r>
              <a:rPr lang="en-US" altLang="zh-CN" sz="1200" dirty="0"/>
              <a:t>We propose to distill knowledge from CLIP feature space back to masked feature space with a knowledge distillation loss on momentum features of complete images in CLIP space to reconstructed masked features from masked space to </a:t>
            </a:r>
            <a:r>
              <a:rPr lang="en-US" altLang="zh-CN" sz="1200" dirty="0">
                <a:solidFill>
                  <a:srgbClr val="FF0000"/>
                </a:solidFill>
              </a:rPr>
              <a:t>distill semantic information to masked feature space</a:t>
            </a:r>
            <a:r>
              <a:rPr lang="en-US" altLang="zh-CN" sz="1200" dirty="0"/>
              <a:t>, which also enhances CLIP in global semantic information learning by extracting semantic information from local image patches.</a:t>
            </a:r>
            <a:endParaRPr lang="en-SG" sz="1200" dirty="0"/>
          </a:p>
          <a:p>
            <a:pPr marL="0" indent="0">
              <a:lnSpc>
                <a:spcPct val="100000"/>
              </a:lnSpc>
              <a:buNone/>
            </a:pPr>
            <a:endParaRPr lang="en-SG" dirty="0"/>
          </a:p>
        </p:txBody>
      </p:sp>
      <p:sp>
        <p:nvSpPr>
          <p:cNvPr id="4" name="TextBox 15">
            <a:extLst>
              <a:ext uri="{FF2B5EF4-FFF2-40B4-BE49-F238E27FC236}">
                <a16:creationId xmlns:a16="http://schemas.microsoft.com/office/drawing/2014/main" id="{5CB2A442-7F55-80E4-8F74-A783D2835CD7}"/>
              </a:ext>
            </a:extLst>
          </p:cNvPr>
          <p:cNvSpPr txBox="1"/>
          <p:nvPr/>
        </p:nvSpPr>
        <p:spPr>
          <a:xfrm>
            <a:off x="6577583" y="4853524"/>
            <a:ext cx="4776217" cy="1323439"/>
          </a:xfrm>
          <a:prstGeom prst="rect">
            <a:avLst/>
          </a:prstGeom>
          <a:noFill/>
        </p:spPr>
        <p:txBody>
          <a:bodyPr wrap="square" rtlCol="0">
            <a:spAutoFit/>
          </a:bodyPr>
          <a:lstStyle>
            <a:defPPr>
              <a:defRPr lang="en-US"/>
            </a:defPPr>
            <a:lvl1pPr marL="0" algn="l" defTabSz="2133440" rtl="0" eaLnBrk="1" latinLnBrk="0" hangingPunct="1">
              <a:defRPr sz="8300" kern="1200">
                <a:solidFill>
                  <a:schemeClr val="tx1"/>
                </a:solidFill>
                <a:latin typeface="+mn-lt"/>
                <a:ea typeface="+mn-ea"/>
                <a:cs typeface="+mn-cs"/>
              </a:defRPr>
            </a:lvl1pPr>
            <a:lvl2pPr marL="2133440" algn="l" defTabSz="2133440" rtl="0" eaLnBrk="1" latinLnBrk="0" hangingPunct="1">
              <a:defRPr sz="8300" kern="1200">
                <a:solidFill>
                  <a:schemeClr val="tx1"/>
                </a:solidFill>
                <a:latin typeface="+mn-lt"/>
                <a:ea typeface="+mn-ea"/>
                <a:cs typeface="+mn-cs"/>
              </a:defRPr>
            </a:lvl2pPr>
            <a:lvl3pPr marL="4266882" algn="l" defTabSz="2133440" rtl="0" eaLnBrk="1" latinLnBrk="0" hangingPunct="1">
              <a:defRPr sz="8300" kern="1200">
                <a:solidFill>
                  <a:schemeClr val="tx1"/>
                </a:solidFill>
                <a:latin typeface="+mn-lt"/>
                <a:ea typeface="+mn-ea"/>
                <a:cs typeface="+mn-cs"/>
              </a:defRPr>
            </a:lvl3pPr>
            <a:lvl4pPr marL="6400322" algn="l" defTabSz="2133440" rtl="0" eaLnBrk="1" latinLnBrk="0" hangingPunct="1">
              <a:defRPr sz="8300" kern="1200">
                <a:solidFill>
                  <a:schemeClr val="tx1"/>
                </a:solidFill>
                <a:latin typeface="+mn-lt"/>
                <a:ea typeface="+mn-ea"/>
                <a:cs typeface="+mn-cs"/>
              </a:defRPr>
            </a:lvl4pPr>
            <a:lvl5pPr marL="8533763" algn="l" defTabSz="2133440" rtl="0" eaLnBrk="1" latinLnBrk="0" hangingPunct="1">
              <a:defRPr sz="8300" kern="1200">
                <a:solidFill>
                  <a:schemeClr val="tx1"/>
                </a:solidFill>
                <a:latin typeface="+mn-lt"/>
                <a:ea typeface="+mn-ea"/>
                <a:cs typeface="+mn-cs"/>
              </a:defRPr>
            </a:lvl5pPr>
            <a:lvl6pPr marL="10667204" algn="l" defTabSz="2133440" rtl="0" eaLnBrk="1" latinLnBrk="0" hangingPunct="1">
              <a:defRPr sz="8300" kern="1200">
                <a:solidFill>
                  <a:schemeClr val="tx1"/>
                </a:solidFill>
                <a:latin typeface="+mn-lt"/>
                <a:ea typeface="+mn-ea"/>
                <a:cs typeface="+mn-cs"/>
              </a:defRPr>
            </a:lvl6pPr>
            <a:lvl7pPr marL="12800645" algn="l" defTabSz="2133440" rtl="0" eaLnBrk="1" latinLnBrk="0" hangingPunct="1">
              <a:defRPr sz="8300" kern="1200">
                <a:solidFill>
                  <a:schemeClr val="tx1"/>
                </a:solidFill>
                <a:latin typeface="+mn-lt"/>
                <a:ea typeface="+mn-ea"/>
                <a:cs typeface="+mn-cs"/>
              </a:defRPr>
            </a:lvl7pPr>
            <a:lvl8pPr marL="14934086" algn="l" defTabSz="2133440" rtl="0" eaLnBrk="1" latinLnBrk="0" hangingPunct="1">
              <a:defRPr sz="8300" kern="1200">
                <a:solidFill>
                  <a:schemeClr val="tx1"/>
                </a:solidFill>
                <a:latin typeface="+mn-lt"/>
                <a:ea typeface="+mn-ea"/>
                <a:cs typeface="+mn-cs"/>
              </a:defRPr>
            </a:lvl8pPr>
            <a:lvl9pPr marL="17067527" algn="l" defTabSz="2133440" rtl="0" eaLnBrk="1" latinLnBrk="0" hangingPunct="1">
              <a:defRPr sz="8300" kern="1200">
                <a:solidFill>
                  <a:schemeClr val="tx1"/>
                </a:solidFill>
                <a:latin typeface="+mn-lt"/>
                <a:ea typeface="+mn-ea"/>
                <a:cs typeface="+mn-cs"/>
              </a:defRPr>
            </a:lvl9pPr>
          </a:lstStyle>
          <a:p>
            <a:r>
              <a:rPr lang="en-SG" sz="1000" dirty="0">
                <a:cs typeface="Arial" panose="020B0604020202020204" pitchFamily="34" charset="0"/>
              </a:rPr>
              <a:t>Figure 2. </a:t>
            </a:r>
            <a:r>
              <a:rPr lang="en-US" sz="1000" dirty="0">
                <a:cs typeface="Arial" panose="020B0604020202020204" pitchFamily="34" charset="0"/>
              </a:rPr>
              <a:t>Architecture and dataflow of our proposed </a:t>
            </a:r>
            <a:r>
              <a:rPr lang="en-US" sz="1000" dirty="0" err="1">
                <a:cs typeface="Arial" panose="020B0604020202020204" pitchFamily="34" charset="0"/>
              </a:rPr>
              <a:t>MaskedCLIP</a:t>
            </a:r>
            <a:r>
              <a:rPr lang="en-US" sz="1000" dirty="0">
                <a:cs typeface="Arial" panose="020B0604020202020204" pitchFamily="34" charset="0"/>
              </a:rPr>
              <a:t> framework. Our framework consists of five modules, namely an image encoder, a bridge transformer, a text encoder, an image decoder, and a feature decoder to process both image and text data for synergistic masked image modeling and contrastive language-image pre-training. We employ the bridge transformer to connect the masked and CLIP feature space to resolve the feature incompatibility issue and the feature decoder to predict masked image features for masked knowledge distillation.</a:t>
            </a:r>
          </a:p>
        </p:txBody>
      </p:sp>
      <p:pic>
        <p:nvPicPr>
          <p:cNvPr id="8" name="Picture 7" descr="A diagram of a bridge encoder&#10;&#10;AI-generated content may be incorrect.">
            <a:extLst>
              <a:ext uri="{FF2B5EF4-FFF2-40B4-BE49-F238E27FC236}">
                <a16:creationId xmlns:a16="http://schemas.microsoft.com/office/drawing/2014/main" id="{D57BFC98-FAAB-AEF7-322F-2827B39F5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5935" y="1690688"/>
            <a:ext cx="3379511" cy="3033250"/>
          </a:xfrm>
          <a:prstGeom prst="rect">
            <a:avLst/>
          </a:prstGeom>
        </p:spPr>
      </p:pic>
    </p:spTree>
    <p:extLst>
      <p:ext uri="{BB962C8B-B14F-4D97-AF65-F5344CB8AC3E}">
        <p14:creationId xmlns:p14="http://schemas.microsoft.com/office/powerpoint/2010/main" val="1030049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478A1-EA17-EDA2-9D5B-54EB5663F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E7EA0-0898-9025-D276-750CB1ECD703}"/>
              </a:ext>
            </a:extLst>
          </p:cNvPr>
          <p:cNvSpPr>
            <a:spLocks noGrp="1"/>
          </p:cNvSpPr>
          <p:nvPr>
            <p:ph type="title"/>
          </p:nvPr>
        </p:nvSpPr>
        <p:spPr/>
        <p:txBody>
          <a:bodyPr>
            <a:normAutofit/>
          </a:bodyPr>
          <a:lstStyle/>
          <a:p>
            <a:r>
              <a:rPr lang="en-US" sz="2800" dirty="0" err="1"/>
              <a:t>MaskedCLIP</a:t>
            </a:r>
            <a:r>
              <a:rPr lang="en-US" sz="2800" dirty="0"/>
              <a:t>: Bridging the Masked and CLIP </a:t>
            </a:r>
            <a:r>
              <a:rPr lang="en-SG" sz="2800" dirty="0"/>
              <a:t>Space for SSVLP</a:t>
            </a:r>
          </a:p>
        </p:txBody>
      </p:sp>
      <p:sp>
        <p:nvSpPr>
          <p:cNvPr id="3" name="Content Placeholder 2">
            <a:extLst>
              <a:ext uri="{FF2B5EF4-FFF2-40B4-BE49-F238E27FC236}">
                <a16:creationId xmlns:a16="http://schemas.microsoft.com/office/drawing/2014/main" id="{C4F32538-9E6F-1A05-023D-3670E134832D}"/>
              </a:ext>
            </a:extLst>
          </p:cNvPr>
          <p:cNvSpPr>
            <a:spLocks noGrp="1"/>
          </p:cNvSpPr>
          <p:nvPr>
            <p:ph idx="1"/>
          </p:nvPr>
        </p:nvSpPr>
        <p:spPr>
          <a:xfrm>
            <a:off x="838200" y="1825625"/>
            <a:ext cx="5257800" cy="4351338"/>
          </a:xfrm>
        </p:spPr>
        <p:txBody>
          <a:bodyPr>
            <a:normAutofit lnSpcReduction="10000"/>
          </a:bodyPr>
          <a:lstStyle/>
          <a:p>
            <a:pPr marL="0" indent="0">
              <a:lnSpc>
                <a:spcPct val="100000"/>
              </a:lnSpc>
              <a:buNone/>
            </a:pPr>
            <a:r>
              <a:rPr lang="en-SG" sz="2000" dirty="0"/>
              <a:t>Experiments:</a:t>
            </a:r>
          </a:p>
          <a:p>
            <a:pPr>
              <a:lnSpc>
                <a:spcPct val="100000"/>
              </a:lnSpc>
            </a:pPr>
            <a:r>
              <a:rPr lang="en-US" altLang="en-US" sz="1400" dirty="0"/>
              <a:t>Datasets </a:t>
            </a:r>
          </a:p>
          <a:p>
            <a:pPr lvl="1">
              <a:lnSpc>
                <a:spcPct val="100000"/>
              </a:lnSpc>
            </a:pPr>
            <a:r>
              <a:rPr lang="en-US" altLang="en-US" sz="1200" dirty="0"/>
              <a:t>Pre-train: We assembly a pre-training dataset with 348,481 color fundus images, with 142,249 paired images and 206,232 unpaired images.</a:t>
            </a:r>
          </a:p>
          <a:p>
            <a:pPr lvl="1">
              <a:lnSpc>
                <a:spcPct val="100000"/>
              </a:lnSpc>
            </a:pPr>
            <a:r>
              <a:rPr lang="en-US" altLang="en-US" sz="1200" dirty="0"/>
              <a:t>Fine-tune: We leverage 7 public datasets on retinal image analysis.</a:t>
            </a:r>
          </a:p>
          <a:p>
            <a:pPr>
              <a:lnSpc>
                <a:spcPct val="100000"/>
              </a:lnSpc>
            </a:pPr>
            <a:r>
              <a:rPr lang="en-US" altLang="en-US" sz="1400" dirty="0"/>
              <a:t>Comparison Methods:</a:t>
            </a:r>
          </a:p>
          <a:p>
            <a:pPr lvl="1">
              <a:lnSpc>
                <a:spcPct val="100000"/>
              </a:lnSpc>
            </a:pPr>
            <a:r>
              <a:rPr lang="en-US" altLang="en-US" sz="1200" dirty="0"/>
              <a:t>No Pre-training</a:t>
            </a:r>
          </a:p>
          <a:p>
            <a:pPr lvl="2">
              <a:lnSpc>
                <a:spcPct val="100000"/>
              </a:lnSpc>
            </a:pPr>
            <a:r>
              <a:rPr lang="en-US" altLang="en-US" sz="1200" dirty="0"/>
              <a:t>Random</a:t>
            </a:r>
          </a:p>
          <a:p>
            <a:pPr lvl="1">
              <a:lnSpc>
                <a:spcPct val="100000"/>
              </a:lnSpc>
            </a:pPr>
            <a:r>
              <a:rPr lang="en-US" altLang="en-US" sz="1200" dirty="0"/>
              <a:t>Pre-training Method</a:t>
            </a:r>
          </a:p>
          <a:p>
            <a:pPr lvl="2">
              <a:lnSpc>
                <a:spcPct val="100000"/>
              </a:lnSpc>
            </a:pPr>
            <a:r>
              <a:rPr lang="en-US" altLang="en-US" sz="1200" dirty="0"/>
              <a:t>MAE</a:t>
            </a:r>
          </a:p>
          <a:p>
            <a:pPr lvl="2">
              <a:lnSpc>
                <a:spcPct val="100000"/>
              </a:lnSpc>
            </a:pPr>
            <a:r>
              <a:rPr lang="en-US" altLang="en-US" sz="1200" dirty="0"/>
              <a:t>DINO-v2</a:t>
            </a:r>
          </a:p>
          <a:p>
            <a:pPr lvl="2">
              <a:lnSpc>
                <a:spcPct val="100000"/>
              </a:lnSpc>
            </a:pPr>
            <a:r>
              <a:rPr lang="en-US" altLang="en-US" sz="1200" dirty="0"/>
              <a:t>CLIP</a:t>
            </a:r>
          </a:p>
          <a:p>
            <a:pPr lvl="1">
              <a:lnSpc>
                <a:spcPct val="100000"/>
              </a:lnSpc>
            </a:pPr>
            <a:r>
              <a:rPr lang="en-US" altLang="en-US" sz="1200" dirty="0"/>
              <a:t>Supervised Pre-training Weights </a:t>
            </a:r>
            <a:r>
              <a:rPr lang="en-SG" altLang="en-US" sz="1200" dirty="0"/>
              <a:t>on</a:t>
            </a:r>
            <a:r>
              <a:rPr lang="zh-CN" altLang="en-US" sz="1200" dirty="0"/>
              <a:t> </a:t>
            </a:r>
            <a:r>
              <a:rPr lang="en-SG" altLang="zh-CN" sz="1200" dirty="0"/>
              <a:t>General Images</a:t>
            </a:r>
            <a:endParaRPr lang="en-US" altLang="en-US" sz="1200" dirty="0"/>
          </a:p>
          <a:p>
            <a:pPr lvl="2">
              <a:lnSpc>
                <a:spcPct val="100000"/>
              </a:lnSpc>
            </a:pPr>
            <a:r>
              <a:rPr lang="en-US" altLang="en-US" sz="1200" dirty="0"/>
              <a:t>ImageNet21K</a:t>
            </a:r>
          </a:p>
          <a:p>
            <a:pPr lvl="1">
              <a:lnSpc>
                <a:spcPct val="100000"/>
              </a:lnSpc>
            </a:pPr>
            <a:r>
              <a:rPr lang="en-US" altLang="en-US" sz="1200" dirty="0"/>
              <a:t>Medical Foundation Models</a:t>
            </a:r>
          </a:p>
          <a:p>
            <a:pPr lvl="2">
              <a:lnSpc>
                <a:spcPct val="100000"/>
              </a:lnSpc>
            </a:pPr>
            <a:r>
              <a:rPr lang="en-US" altLang="en-US" sz="1200" dirty="0"/>
              <a:t>FLARE</a:t>
            </a:r>
          </a:p>
          <a:p>
            <a:pPr lvl="2">
              <a:lnSpc>
                <a:spcPct val="100000"/>
              </a:lnSpc>
            </a:pPr>
            <a:r>
              <a:rPr lang="en-US" altLang="en-US" sz="1200" dirty="0" err="1"/>
              <a:t>RETFound</a:t>
            </a:r>
            <a:endParaRPr lang="en-US" altLang="en-US" sz="1200" dirty="0"/>
          </a:p>
        </p:txBody>
      </p:sp>
      <p:pic>
        <p:nvPicPr>
          <p:cNvPr id="5" name="Picture 4">
            <a:extLst>
              <a:ext uri="{FF2B5EF4-FFF2-40B4-BE49-F238E27FC236}">
                <a16:creationId xmlns:a16="http://schemas.microsoft.com/office/drawing/2014/main" id="{E3935391-8CA5-AAC8-F0B3-42D5B2B40AB6}"/>
              </a:ext>
            </a:extLst>
          </p:cNvPr>
          <p:cNvPicPr>
            <a:picLocks noChangeAspect="1"/>
          </p:cNvPicPr>
          <p:nvPr/>
        </p:nvPicPr>
        <p:blipFill>
          <a:blip r:embed="rId2"/>
          <a:stretch>
            <a:fillRect/>
          </a:stretch>
        </p:blipFill>
        <p:spPr>
          <a:xfrm>
            <a:off x="6248400" y="2850213"/>
            <a:ext cx="5105400" cy="1860227"/>
          </a:xfrm>
          <a:prstGeom prst="rect">
            <a:avLst/>
          </a:prstGeom>
        </p:spPr>
      </p:pic>
      <p:sp>
        <p:nvSpPr>
          <p:cNvPr id="6" name="TextBox 15">
            <a:extLst>
              <a:ext uri="{FF2B5EF4-FFF2-40B4-BE49-F238E27FC236}">
                <a16:creationId xmlns:a16="http://schemas.microsoft.com/office/drawing/2014/main" id="{ADAD7A24-ECC4-AC64-CFFB-B08EFDEA2B92}"/>
              </a:ext>
            </a:extLst>
          </p:cNvPr>
          <p:cNvSpPr txBox="1"/>
          <p:nvPr/>
        </p:nvSpPr>
        <p:spPr>
          <a:xfrm>
            <a:off x="6172200" y="4818820"/>
            <a:ext cx="5257799" cy="400110"/>
          </a:xfrm>
          <a:prstGeom prst="rect">
            <a:avLst/>
          </a:prstGeom>
          <a:noFill/>
        </p:spPr>
        <p:txBody>
          <a:bodyPr wrap="square" rtlCol="0">
            <a:spAutoFit/>
          </a:bodyPr>
          <a:lstStyle>
            <a:defPPr>
              <a:defRPr lang="en-US"/>
            </a:defPPr>
            <a:lvl1pPr marL="0" algn="l" defTabSz="2133440" rtl="0" eaLnBrk="1" latinLnBrk="0" hangingPunct="1">
              <a:defRPr sz="8300" kern="1200">
                <a:solidFill>
                  <a:schemeClr val="tx1"/>
                </a:solidFill>
                <a:latin typeface="+mn-lt"/>
                <a:ea typeface="+mn-ea"/>
                <a:cs typeface="+mn-cs"/>
              </a:defRPr>
            </a:lvl1pPr>
            <a:lvl2pPr marL="2133440" algn="l" defTabSz="2133440" rtl="0" eaLnBrk="1" latinLnBrk="0" hangingPunct="1">
              <a:defRPr sz="8300" kern="1200">
                <a:solidFill>
                  <a:schemeClr val="tx1"/>
                </a:solidFill>
                <a:latin typeface="+mn-lt"/>
                <a:ea typeface="+mn-ea"/>
                <a:cs typeface="+mn-cs"/>
              </a:defRPr>
            </a:lvl2pPr>
            <a:lvl3pPr marL="4266882" algn="l" defTabSz="2133440" rtl="0" eaLnBrk="1" latinLnBrk="0" hangingPunct="1">
              <a:defRPr sz="8300" kern="1200">
                <a:solidFill>
                  <a:schemeClr val="tx1"/>
                </a:solidFill>
                <a:latin typeface="+mn-lt"/>
                <a:ea typeface="+mn-ea"/>
                <a:cs typeface="+mn-cs"/>
              </a:defRPr>
            </a:lvl3pPr>
            <a:lvl4pPr marL="6400322" algn="l" defTabSz="2133440" rtl="0" eaLnBrk="1" latinLnBrk="0" hangingPunct="1">
              <a:defRPr sz="8300" kern="1200">
                <a:solidFill>
                  <a:schemeClr val="tx1"/>
                </a:solidFill>
                <a:latin typeface="+mn-lt"/>
                <a:ea typeface="+mn-ea"/>
                <a:cs typeface="+mn-cs"/>
              </a:defRPr>
            </a:lvl4pPr>
            <a:lvl5pPr marL="8533763" algn="l" defTabSz="2133440" rtl="0" eaLnBrk="1" latinLnBrk="0" hangingPunct="1">
              <a:defRPr sz="8300" kern="1200">
                <a:solidFill>
                  <a:schemeClr val="tx1"/>
                </a:solidFill>
                <a:latin typeface="+mn-lt"/>
                <a:ea typeface="+mn-ea"/>
                <a:cs typeface="+mn-cs"/>
              </a:defRPr>
            </a:lvl5pPr>
            <a:lvl6pPr marL="10667204" algn="l" defTabSz="2133440" rtl="0" eaLnBrk="1" latinLnBrk="0" hangingPunct="1">
              <a:defRPr sz="8300" kern="1200">
                <a:solidFill>
                  <a:schemeClr val="tx1"/>
                </a:solidFill>
                <a:latin typeface="+mn-lt"/>
                <a:ea typeface="+mn-ea"/>
                <a:cs typeface="+mn-cs"/>
              </a:defRPr>
            </a:lvl6pPr>
            <a:lvl7pPr marL="12800645" algn="l" defTabSz="2133440" rtl="0" eaLnBrk="1" latinLnBrk="0" hangingPunct="1">
              <a:defRPr sz="8300" kern="1200">
                <a:solidFill>
                  <a:schemeClr val="tx1"/>
                </a:solidFill>
                <a:latin typeface="+mn-lt"/>
                <a:ea typeface="+mn-ea"/>
                <a:cs typeface="+mn-cs"/>
              </a:defRPr>
            </a:lvl7pPr>
            <a:lvl8pPr marL="14934086" algn="l" defTabSz="2133440" rtl="0" eaLnBrk="1" latinLnBrk="0" hangingPunct="1">
              <a:defRPr sz="8300" kern="1200">
                <a:solidFill>
                  <a:schemeClr val="tx1"/>
                </a:solidFill>
                <a:latin typeface="+mn-lt"/>
                <a:ea typeface="+mn-ea"/>
                <a:cs typeface="+mn-cs"/>
              </a:defRPr>
            </a:lvl8pPr>
            <a:lvl9pPr marL="17067527" algn="l" defTabSz="2133440" rtl="0" eaLnBrk="1" latinLnBrk="0" hangingPunct="1">
              <a:defRPr sz="8300" kern="1200">
                <a:solidFill>
                  <a:schemeClr val="tx1"/>
                </a:solidFill>
                <a:latin typeface="+mn-lt"/>
                <a:ea typeface="+mn-ea"/>
                <a:cs typeface="+mn-cs"/>
              </a:defRPr>
            </a:lvl9pPr>
          </a:lstStyle>
          <a:p>
            <a:r>
              <a:rPr lang="en-SG" sz="1000" dirty="0">
                <a:cs typeface="Arial" panose="020B0604020202020204" pitchFamily="34" charset="0"/>
              </a:rPr>
              <a:t>Table 1. Comparison with </a:t>
            </a:r>
            <a:r>
              <a:rPr lang="en-SG" sz="1000" dirty="0" err="1">
                <a:cs typeface="Arial" panose="020B0604020202020204" pitchFamily="34" charset="0"/>
              </a:rPr>
              <a:t>SoTA</a:t>
            </a:r>
            <a:r>
              <a:rPr lang="en-SG" sz="1000" dirty="0">
                <a:cs typeface="Arial" panose="020B0604020202020204" pitchFamily="34" charset="0"/>
              </a:rPr>
              <a:t> methods and foundation models on different downstream tasks. The best results are in </a:t>
            </a:r>
            <a:r>
              <a:rPr lang="en-SG" sz="1000" b="1" dirty="0">
                <a:cs typeface="Arial" panose="020B0604020202020204" pitchFamily="34" charset="0"/>
              </a:rPr>
              <a:t>bold</a:t>
            </a:r>
            <a:r>
              <a:rPr lang="en-SG" sz="1000" dirty="0">
                <a:cs typeface="Arial" panose="020B0604020202020204" pitchFamily="34" charset="0"/>
              </a:rPr>
              <a:t>, and the second-best results are </a:t>
            </a:r>
            <a:r>
              <a:rPr lang="en-SG" sz="1000" u="sng" dirty="0">
                <a:cs typeface="Arial" panose="020B0604020202020204" pitchFamily="34" charset="0"/>
              </a:rPr>
              <a:t>underlined</a:t>
            </a:r>
            <a:r>
              <a:rPr lang="en-SG" sz="1000" dirty="0">
                <a:cs typeface="Arial" panose="020B0604020202020204" pitchFamily="34" charset="0"/>
              </a:rPr>
              <a:t>.</a:t>
            </a:r>
          </a:p>
        </p:txBody>
      </p:sp>
    </p:spTree>
    <p:extLst>
      <p:ext uri="{BB962C8B-B14F-4D97-AF65-F5344CB8AC3E}">
        <p14:creationId xmlns:p14="http://schemas.microsoft.com/office/powerpoint/2010/main" val="2034505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A2594-53BD-0860-1E06-7A0A9758DCAB}"/>
              </a:ext>
            </a:extLst>
          </p:cNvPr>
          <p:cNvSpPr>
            <a:spLocks noGrp="1"/>
          </p:cNvSpPr>
          <p:nvPr>
            <p:ph type="title"/>
          </p:nvPr>
        </p:nvSpPr>
        <p:spPr/>
        <p:txBody>
          <a:bodyPr>
            <a:normAutofit/>
          </a:bodyPr>
          <a:lstStyle/>
          <a:p>
            <a:r>
              <a:rPr lang="en-US" sz="2800" dirty="0" err="1"/>
              <a:t>MaskedCLIP</a:t>
            </a:r>
            <a:r>
              <a:rPr lang="en-US" sz="2800" dirty="0"/>
              <a:t>: Bridging the Masked and CLIP </a:t>
            </a:r>
            <a:r>
              <a:rPr lang="en-SG" sz="2800" dirty="0"/>
              <a:t>Space for SSVLP</a:t>
            </a:r>
          </a:p>
        </p:txBody>
      </p:sp>
      <p:sp>
        <p:nvSpPr>
          <p:cNvPr id="3" name="Content Placeholder 2">
            <a:extLst>
              <a:ext uri="{FF2B5EF4-FFF2-40B4-BE49-F238E27FC236}">
                <a16:creationId xmlns:a16="http://schemas.microsoft.com/office/drawing/2014/main" id="{2DB6287A-62EC-7912-7BD7-E0EF7E76B5A6}"/>
              </a:ext>
            </a:extLst>
          </p:cNvPr>
          <p:cNvSpPr>
            <a:spLocks noGrp="1"/>
          </p:cNvSpPr>
          <p:nvPr>
            <p:ph idx="1"/>
          </p:nvPr>
        </p:nvSpPr>
        <p:spPr>
          <a:xfrm>
            <a:off x="838200" y="1825625"/>
            <a:ext cx="5257800" cy="4351338"/>
          </a:xfrm>
        </p:spPr>
        <p:txBody>
          <a:bodyPr>
            <a:normAutofit/>
          </a:bodyPr>
          <a:lstStyle/>
          <a:p>
            <a:pPr marL="0" indent="0">
              <a:lnSpc>
                <a:spcPct val="100000"/>
              </a:lnSpc>
              <a:buNone/>
            </a:pPr>
            <a:r>
              <a:rPr lang="en-SG" sz="2000" dirty="0"/>
              <a:t>Experiments:</a:t>
            </a:r>
          </a:p>
          <a:p>
            <a:pPr>
              <a:lnSpc>
                <a:spcPct val="100000"/>
              </a:lnSpc>
            </a:pPr>
            <a:r>
              <a:rPr lang="en-US" altLang="zh-CN" sz="1400" dirty="0"/>
              <a:t>Ablation Study</a:t>
            </a:r>
            <a:endParaRPr lang="en-SG" sz="1400" dirty="0"/>
          </a:p>
          <a:p>
            <a:pPr marL="0" indent="0">
              <a:lnSpc>
                <a:spcPct val="100000"/>
              </a:lnSpc>
              <a:buNone/>
            </a:pPr>
            <a:endParaRPr lang="en-US" altLang="en-US" sz="1200" dirty="0"/>
          </a:p>
        </p:txBody>
      </p:sp>
      <p:sp>
        <p:nvSpPr>
          <p:cNvPr id="6" name="TextBox 15">
            <a:extLst>
              <a:ext uri="{FF2B5EF4-FFF2-40B4-BE49-F238E27FC236}">
                <a16:creationId xmlns:a16="http://schemas.microsoft.com/office/drawing/2014/main" id="{6EE3FAE1-9C02-A8D3-E9D1-F497C791E44D}"/>
              </a:ext>
            </a:extLst>
          </p:cNvPr>
          <p:cNvSpPr txBox="1"/>
          <p:nvPr/>
        </p:nvSpPr>
        <p:spPr>
          <a:xfrm>
            <a:off x="1397000" y="4248212"/>
            <a:ext cx="9398000" cy="248701"/>
          </a:xfrm>
          <a:prstGeom prst="rect">
            <a:avLst/>
          </a:prstGeom>
          <a:noFill/>
        </p:spPr>
        <p:txBody>
          <a:bodyPr wrap="square" rtlCol="0">
            <a:spAutoFit/>
          </a:bodyPr>
          <a:lstStyle>
            <a:defPPr>
              <a:defRPr lang="en-US"/>
            </a:defPPr>
            <a:lvl1pPr marL="0" algn="l" defTabSz="2133440" rtl="0" eaLnBrk="1" latinLnBrk="0" hangingPunct="1">
              <a:defRPr sz="8300" kern="1200">
                <a:solidFill>
                  <a:schemeClr val="tx1"/>
                </a:solidFill>
                <a:latin typeface="+mn-lt"/>
                <a:ea typeface="+mn-ea"/>
                <a:cs typeface="+mn-cs"/>
              </a:defRPr>
            </a:lvl1pPr>
            <a:lvl2pPr marL="2133440" algn="l" defTabSz="2133440" rtl="0" eaLnBrk="1" latinLnBrk="0" hangingPunct="1">
              <a:defRPr sz="8300" kern="1200">
                <a:solidFill>
                  <a:schemeClr val="tx1"/>
                </a:solidFill>
                <a:latin typeface="+mn-lt"/>
                <a:ea typeface="+mn-ea"/>
                <a:cs typeface="+mn-cs"/>
              </a:defRPr>
            </a:lvl2pPr>
            <a:lvl3pPr marL="4266882" algn="l" defTabSz="2133440" rtl="0" eaLnBrk="1" latinLnBrk="0" hangingPunct="1">
              <a:defRPr sz="8300" kern="1200">
                <a:solidFill>
                  <a:schemeClr val="tx1"/>
                </a:solidFill>
                <a:latin typeface="+mn-lt"/>
                <a:ea typeface="+mn-ea"/>
                <a:cs typeface="+mn-cs"/>
              </a:defRPr>
            </a:lvl3pPr>
            <a:lvl4pPr marL="6400322" algn="l" defTabSz="2133440" rtl="0" eaLnBrk="1" latinLnBrk="0" hangingPunct="1">
              <a:defRPr sz="8300" kern="1200">
                <a:solidFill>
                  <a:schemeClr val="tx1"/>
                </a:solidFill>
                <a:latin typeface="+mn-lt"/>
                <a:ea typeface="+mn-ea"/>
                <a:cs typeface="+mn-cs"/>
              </a:defRPr>
            </a:lvl4pPr>
            <a:lvl5pPr marL="8533763" algn="l" defTabSz="2133440" rtl="0" eaLnBrk="1" latinLnBrk="0" hangingPunct="1">
              <a:defRPr sz="8300" kern="1200">
                <a:solidFill>
                  <a:schemeClr val="tx1"/>
                </a:solidFill>
                <a:latin typeface="+mn-lt"/>
                <a:ea typeface="+mn-ea"/>
                <a:cs typeface="+mn-cs"/>
              </a:defRPr>
            </a:lvl5pPr>
            <a:lvl6pPr marL="10667204" algn="l" defTabSz="2133440" rtl="0" eaLnBrk="1" latinLnBrk="0" hangingPunct="1">
              <a:defRPr sz="8300" kern="1200">
                <a:solidFill>
                  <a:schemeClr val="tx1"/>
                </a:solidFill>
                <a:latin typeface="+mn-lt"/>
                <a:ea typeface="+mn-ea"/>
                <a:cs typeface="+mn-cs"/>
              </a:defRPr>
            </a:lvl6pPr>
            <a:lvl7pPr marL="12800645" algn="l" defTabSz="2133440" rtl="0" eaLnBrk="1" latinLnBrk="0" hangingPunct="1">
              <a:defRPr sz="8300" kern="1200">
                <a:solidFill>
                  <a:schemeClr val="tx1"/>
                </a:solidFill>
                <a:latin typeface="+mn-lt"/>
                <a:ea typeface="+mn-ea"/>
                <a:cs typeface="+mn-cs"/>
              </a:defRPr>
            </a:lvl7pPr>
            <a:lvl8pPr marL="14934086" algn="l" defTabSz="2133440" rtl="0" eaLnBrk="1" latinLnBrk="0" hangingPunct="1">
              <a:defRPr sz="8300" kern="1200">
                <a:solidFill>
                  <a:schemeClr val="tx1"/>
                </a:solidFill>
                <a:latin typeface="+mn-lt"/>
                <a:ea typeface="+mn-ea"/>
                <a:cs typeface="+mn-cs"/>
              </a:defRPr>
            </a:lvl8pPr>
            <a:lvl9pPr marL="17067527" algn="l" defTabSz="2133440" rtl="0" eaLnBrk="1" latinLnBrk="0" hangingPunct="1">
              <a:defRPr sz="8300" kern="1200">
                <a:solidFill>
                  <a:schemeClr val="tx1"/>
                </a:solidFill>
                <a:latin typeface="+mn-lt"/>
                <a:ea typeface="+mn-ea"/>
                <a:cs typeface="+mn-cs"/>
              </a:defRPr>
            </a:lvl9pPr>
          </a:lstStyle>
          <a:p>
            <a:pPr algn="ctr"/>
            <a:r>
              <a:rPr lang="en-SG" sz="1000" dirty="0">
                <a:cs typeface="Arial" panose="020B0604020202020204" pitchFamily="34" charset="0"/>
              </a:rPr>
              <a:t>Table 2. </a:t>
            </a:r>
            <a:r>
              <a:rPr lang="en-US" sz="1000" dirty="0">
                <a:cs typeface="Arial" panose="020B0604020202020204" pitchFamily="34" charset="0"/>
              </a:rPr>
              <a:t>Ablation study on different downstream tasks with 10% training data.</a:t>
            </a:r>
            <a:r>
              <a:rPr lang="en-SG" sz="1000" dirty="0">
                <a:cs typeface="Arial" panose="020B0604020202020204" pitchFamily="34" charset="0"/>
              </a:rPr>
              <a:t> The best results are in </a:t>
            </a:r>
            <a:r>
              <a:rPr lang="en-SG" sz="1000" b="1" dirty="0">
                <a:cs typeface="Arial" panose="020B0604020202020204" pitchFamily="34" charset="0"/>
              </a:rPr>
              <a:t>bold</a:t>
            </a:r>
            <a:r>
              <a:rPr lang="en-SG" sz="1000" dirty="0">
                <a:cs typeface="Arial" panose="020B0604020202020204" pitchFamily="34" charset="0"/>
              </a:rPr>
              <a:t>, and the second-best results are </a:t>
            </a:r>
            <a:r>
              <a:rPr lang="en-SG" sz="1000" u="sng" dirty="0">
                <a:cs typeface="Arial" panose="020B0604020202020204" pitchFamily="34" charset="0"/>
              </a:rPr>
              <a:t>underlined</a:t>
            </a:r>
            <a:r>
              <a:rPr lang="en-SG" sz="1000" dirty="0">
                <a:cs typeface="Arial" panose="020B0604020202020204" pitchFamily="34" charset="0"/>
              </a:rPr>
              <a:t>.</a:t>
            </a:r>
          </a:p>
        </p:txBody>
      </p:sp>
      <p:pic>
        <p:nvPicPr>
          <p:cNvPr id="8" name="Picture 7">
            <a:extLst>
              <a:ext uri="{FF2B5EF4-FFF2-40B4-BE49-F238E27FC236}">
                <a16:creationId xmlns:a16="http://schemas.microsoft.com/office/drawing/2014/main" id="{CFA56A82-CCF8-C506-E9A1-B9057E964531}"/>
              </a:ext>
            </a:extLst>
          </p:cNvPr>
          <p:cNvPicPr>
            <a:picLocks noChangeAspect="1"/>
          </p:cNvPicPr>
          <p:nvPr/>
        </p:nvPicPr>
        <p:blipFill>
          <a:blip r:embed="rId2"/>
          <a:stretch>
            <a:fillRect/>
          </a:stretch>
        </p:blipFill>
        <p:spPr>
          <a:xfrm>
            <a:off x="1397000" y="3079233"/>
            <a:ext cx="9398000" cy="1034042"/>
          </a:xfrm>
          <a:prstGeom prst="rect">
            <a:avLst/>
          </a:prstGeom>
        </p:spPr>
      </p:pic>
    </p:spTree>
    <p:extLst>
      <p:ext uri="{BB962C8B-B14F-4D97-AF65-F5344CB8AC3E}">
        <p14:creationId xmlns:p14="http://schemas.microsoft.com/office/powerpoint/2010/main" val="2400555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A2594-53BD-0860-1E06-7A0A9758DCAB}"/>
              </a:ext>
            </a:extLst>
          </p:cNvPr>
          <p:cNvSpPr>
            <a:spLocks noGrp="1"/>
          </p:cNvSpPr>
          <p:nvPr>
            <p:ph type="title"/>
          </p:nvPr>
        </p:nvSpPr>
        <p:spPr/>
        <p:txBody>
          <a:bodyPr>
            <a:normAutofit/>
          </a:bodyPr>
          <a:lstStyle/>
          <a:p>
            <a:r>
              <a:rPr lang="en-US" sz="2800" dirty="0" err="1"/>
              <a:t>MaskedCLIP</a:t>
            </a:r>
            <a:r>
              <a:rPr lang="en-US" sz="2800" dirty="0"/>
              <a:t>: Bridging the Masked and CLIP </a:t>
            </a:r>
            <a:r>
              <a:rPr lang="en-SG" sz="2800" dirty="0"/>
              <a:t>Space for SSVLP</a:t>
            </a:r>
          </a:p>
        </p:txBody>
      </p:sp>
      <p:sp>
        <p:nvSpPr>
          <p:cNvPr id="3" name="Content Placeholder 2">
            <a:extLst>
              <a:ext uri="{FF2B5EF4-FFF2-40B4-BE49-F238E27FC236}">
                <a16:creationId xmlns:a16="http://schemas.microsoft.com/office/drawing/2014/main" id="{2DB6287A-62EC-7912-7BD7-E0EF7E76B5A6}"/>
              </a:ext>
            </a:extLst>
          </p:cNvPr>
          <p:cNvSpPr>
            <a:spLocks noGrp="1"/>
          </p:cNvSpPr>
          <p:nvPr>
            <p:ph idx="1"/>
          </p:nvPr>
        </p:nvSpPr>
        <p:spPr>
          <a:xfrm>
            <a:off x="838200" y="1825625"/>
            <a:ext cx="5257800" cy="4351338"/>
          </a:xfrm>
        </p:spPr>
        <p:txBody>
          <a:bodyPr/>
          <a:lstStyle/>
          <a:p>
            <a:pPr marL="0" indent="0">
              <a:lnSpc>
                <a:spcPct val="100000"/>
              </a:lnSpc>
              <a:buNone/>
            </a:pPr>
            <a:r>
              <a:rPr lang="en-SG" sz="2000" dirty="0"/>
              <a:t>Experiments:</a:t>
            </a:r>
          </a:p>
          <a:p>
            <a:pPr>
              <a:lnSpc>
                <a:spcPct val="100000"/>
              </a:lnSpc>
            </a:pPr>
            <a:r>
              <a:rPr lang="en-SG" sz="1400" dirty="0"/>
              <a:t>More Label Efficiency Analysis</a:t>
            </a:r>
            <a:endParaRPr lang="en-SG" sz="2000" dirty="0"/>
          </a:p>
          <a:p>
            <a:pPr>
              <a:lnSpc>
                <a:spcPct val="100000"/>
              </a:lnSpc>
            </a:pPr>
            <a:endParaRPr lang="en-US" altLang="en-US" sz="1200" dirty="0"/>
          </a:p>
        </p:txBody>
      </p:sp>
      <p:sp>
        <p:nvSpPr>
          <p:cNvPr id="8" name="TextBox 7">
            <a:extLst>
              <a:ext uri="{FF2B5EF4-FFF2-40B4-BE49-F238E27FC236}">
                <a16:creationId xmlns:a16="http://schemas.microsoft.com/office/drawing/2014/main" id="{46AA90BA-030E-F869-B2F0-9520FCE62FC6}"/>
              </a:ext>
            </a:extLst>
          </p:cNvPr>
          <p:cNvSpPr txBox="1"/>
          <p:nvPr/>
        </p:nvSpPr>
        <p:spPr>
          <a:xfrm>
            <a:off x="1257300" y="4852643"/>
            <a:ext cx="9677400" cy="246221"/>
          </a:xfrm>
          <a:prstGeom prst="rect">
            <a:avLst/>
          </a:prstGeom>
          <a:noFill/>
        </p:spPr>
        <p:txBody>
          <a:bodyPr wrap="square" rtlCol="0">
            <a:spAutoFit/>
          </a:bodyPr>
          <a:lstStyle/>
          <a:p>
            <a:pPr algn="ctr"/>
            <a:r>
              <a:rPr lang="en-SG" sz="1000" dirty="0">
                <a:cs typeface="Arial" panose="020B0604020202020204" pitchFamily="34" charset="0"/>
              </a:rPr>
              <a:t>Figure 2. </a:t>
            </a:r>
            <a:r>
              <a:rPr lang="en-US" sz="1000" dirty="0">
                <a:cs typeface="Arial" panose="020B0604020202020204" pitchFamily="34" charset="0"/>
              </a:rPr>
              <a:t>Label efficiency analysis on exemplary downstream tasks. The X axis shows the training data proportion, and the Y axis shows the ROC score.</a:t>
            </a:r>
          </a:p>
        </p:txBody>
      </p:sp>
      <p:pic>
        <p:nvPicPr>
          <p:cNvPr id="10" name="Picture 9" descr="A close-up of a graph&#10;&#10;AI-generated content may be incorrect.">
            <a:extLst>
              <a:ext uri="{FF2B5EF4-FFF2-40B4-BE49-F238E27FC236}">
                <a16:creationId xmlns:a16="http://schemas.microsoft.com/office/drawing/2014/main" id="{404DE190-1F7F-A97F-3DDC-FF028C5382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7300" y="2769238"/>
            <a:ext cx="9680070" cy="2010611"/>
          </a:xfrm>
          <a:prstGeom prst="rect">
            <a:avLst/>
          </a:prstGeom>
        </p:spPr>
      </p:pic>
    </p:spTree>
    <p:extLst>
      <p:ext uri="{BB962C8B-B14F-4D97-AF65-F5344CB8AC3E}">
        <p14:creationId xmlns:p14="http://schemas.microsoft.com/office/powerpoint/2010/main" val="3034788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219FF-D67E-3D20-6676-34A997F5BD11}"/>
              </a:ext>
            </a:extLst>
          </p:cNvPr>
          <p:cNvSpPr>
            <a:spLocks noGrp="1"/>
          </p:cNvSpPr>
          <p:nvPr>
            <p:ph type="title"/>
          </p:nvPr>
        </p:nvSpPr>
        <p:spPr/>
        <p:txBody>
          <a:bodyPr>
            <a:normAutofit/>
          </a:bodyPr>
          <a:lstStyle/>
          <a:p>
            <a:r>
              <a:rPr lang="en-US" sz="2800" dirty="0" err="1"/>
              <a:t>MaskedCLIP</a:t>
            </a:r>
            <a:r>
              <a:rPr lang="en-US" sz="2800" dirty="0"/>
              <a:t>: Bridging the Masked and CLIP </a:t>
            </a:r>
            <a:r>
              <a:rPr lang="en-SG" sz="2800" dirty="0"/>
              <a:t>Space for SSVLP</a:t>
            </a:r>
          </a:p>
        </p:txBody>
      </p:sp>
      <p:sp>
        <p:nvSpPr>
          <p:cNvPr id="3" name="Content Placeholder 2">
            <a:extLst>
              <a:ext uri="{FF2B5EF4-FFF2-40B4-BE49-F238E27FC236}">
                <a16:creationId xmlns:a16="http://schemas.microsoft.com/office/drawing/2014/main" id="{958A3F34-62EC-8D7F-AEFC-13D83F7E87EA}"/>
              </a:ext>
            </a:extLst>
          </p:cNvPr>
          <p:cNvSpPr>
            <a:spLocks noGrp="1"/>
          </p:cNvSpPr>
          <p:nvPr>
            <p:ph idx="1"/>
          </p:nvPr>
        </p:nvSpPr>
        <p:spPr/>
        <p:txBody>
          <a:bodyPr>
            <a:normAutofit/>
          </a:bodyPr>
          <a:lstStyle/>
          <a:p>
            <a:pPr marL="0" indent="0">
              <a:lnSpc>
                <a:spcPct val="150000"/>
              </a:lnSpc>
              <a:buNone/>
            </a:pPr>
            <a:r>
              <a:rPr lang="en-SG" sz="2000" dirty="0"/>
              <a:t>Conclusion:</a:t>
            </a:r>
          </a:p>
          <a:p>
            <a:pPr>
              <a:lnSpc>
                <a:spcPct val="150000"/>
              </a:lnSpc>
            </a:pPr>
            <a:r>
              <a:rPr lang="en-US" altLang="en-US" sz="1400" dirty="0">
                <a:solidFill>
                  <a:srgbClr val="000000"/>
                </a:solidFill>
                <a:cs typeface="Arial" panose="020B0604020202020204" pitchFamily="34" charset="0"/>
              </a:rPr>
              <a:t>In this paper, we introduce a novel task termed semi-supervised vision-language pre-training for learning foundation models.</a:t>
            </a:r>
            <a:endParaRPr lang="en-SG" sz="1400" dirty="0"/>
          </a:p>
          <a:p>
            <a:pPr>
              <a:lnSpc>
                <a:spcPct val="150000"/>
              </a:lnSpc>
            </a:pPr>
            <a:r>
              <a:rPr lang="en-US" altLang="en-US" sz="1400" dirty="0">
                <a:solidFill>
                  <a:srgbClr val="000000"/>
                </a:solidFill>
                <a:cs typeface="Arial" panose="020B0604020202020204" pitchFamily="34" charset="0"/>
              </a:rPr>
              <a:t>We propose </a:t>
            </a:r>
            <a:r>
              <a:rPr lang="en-US" altLang="en-US" sz="1400" dirty="0" err="1">
                <a:solidFill>
                  <a:srgbClr val="000000"/>
                </a:solidFill>
                <a:cs typeface="Arial" panose="020B0604020202020204" pitchFamily="34" charset="0"/>
              </a:rPr>
              <a:t>MaskedCLIP</a:t>
            </a:r>
            <a:r>
              <a:rPr lang="en-US" altLang="en-US" sz="1400" dirty="0">
                <a:solidFill>
                  <a:srgbClr val="000000"/>
                </a:solidFill>
                <a:cs typeface="Arial" panose="020B0604020202020204" pitchFamily="34" charset="0"/>
              </a:rPr>
              <a:t>, a principally designed framework for semi-supervised vision-language pre-training.</a:t>
            </a:r>
            <a:endParaRPr lang="en-SG" sz="1400" dirty="0"/>
          </a:p>
          <a:p>
            <a:pPr>
              <a:lnSpc>
                <a:spcPct val="150000"/>
              </a:lnSpc>
            </a:pPr>
            <a:r>
              <a:rPr lang="en-US" altLang="en-US" sz="1400" dirty="0">
                <a:solidFill>
                  <a:srgbClr val="000000"/>
                </a:solidFill>
                <a:cs typeface="Arial" panose="020B0604020202020204" pitchFamily="34" charset="0"/>
              </a:rPr>
              <a:t>We conduct extensive experiments to evaluate the effectiveness of our method on retinal image analysis, where it significantly outperforms existing methods across seven downstream tasks and demonstrates exceptional label efficiency.</a:t>
            </a:r>
          </a:p>
          <a:p>
            <a:r>
              <a:rPr lang="en-SG" sz="1400" dirty="0">
                <a:solidFill>
                  <a:srgbClr val="000000"/>
                </a:solidFill>
                <a:cs typeface="Arial" panose="020B0604020202020204" pitchFamily="34" charset="0"/>
              </a:rPr>
              <a:t>Our study shows that rather than focusing exclusively </a:t>
            </a:r>
            <a:r>
              <a:rPr lang="en-US" sz="1400" dirty="0">
                <a:solidFill>
                  <a:srgbClr val="000000"/>
                </a:solidFill>
                <a:cs typeface="Arial" panose="020B0604020202020204" pitchFamily="34" charset="0"/>
              </a:rPr>
              <a:t>on either paired or unpaired image data, </a:t>
            </a:r>
            <a:r>
              <a:rPr lang="en-US" sz="1400" dirty="0">
                <a:solidFill>
                  <a:srgbClr val="FF0000"/>
                </a:solidFill>
                <a:cs typeface="Arial" panose="020B0604020202020204" pitchFamily="34" charset="0"/>
              </a:rPr>
              <a:t>a unified approach that leverages all available image data is key to develop more powerful </a:t>
            </a:r>
            <a:r>
              <a:rPr lang="en-SG" sz="1400" dirty="0">
                <a:solidFill>
                  <a:srgbClr val="FF0000"/>
                </a:solidFill>
                <a:cs typeface="Arial" panose="020B0604020202020204" pitchFamily="34" charset="0"/>
              </a:rPr>
              <a:t>foundation models</a:t>
            </a:r>
            <a:r>
              <a:rPr lang="en-SG" sz="1400" dirty="0">
                <a:solidFill>
                  <a:srgbClr val="000000"/>
                </a:solidFill>
                <a:cs typeface="Arial" panose="020B0604020202020204" pitchFamily="34" charset="0"/>
              </a:rPr>
              <a:t>.</a:t>
            </a:r>
          </a:p>
          <a:p>
            <a:pPr marL="0" indent="0">
              <a:lnSpc>
                <a:spcPct val="150000"/>
              </a:lnSpc>
              <a:buNone/>
            </a:pPr>
            <a:endParaRPr lang="en-SG" dirty="0"/>
          </a:p>
        </p:txBody>
      </p:sp>
    </p:spTree>
    <p:extLst>
      <p:ext uri="{BB962C8B-B14F-4D97-AF65-F5344CB8AC3E}">
        <p14:creationId xmlns:p14="http://schemas.microsoft.com/office/powerpoint/2010/main" val="944171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85B6ABD-57C4-46D5-8636-3BA46EE4B2B0}"/>
              </a:ext>
            </a:extLst>
          </p:cNvPr>
          <p:cNvSpPr txBox="1"/>
          <p:nvPr/>
        </p:nvSpPr>
        <p:spPr>
          <a:xfrm>
            <a:off x="3067050" y="3013501"/>
            <a:ext cx="6057900" cy="830997"/>
          </a:xfrm>
          <a:prstGeom prst="rect">
            <a:avLst/>
          </a:prstGeom>
          <a:noFill/>
        </p:spPr>
        <p:txBody>
          <a:bodyPr wrap="square" rtlCol="0">
            <a:spAutoFit/>
          </a:bodyPr>
          <a:lstStyle/>
          <a:p>
            <a:pPr algn="ctr"/>
            <a:r>
              <a:rPr lang="en-US" sz="4800" dirty="0"/>
              <a:t>Thanks for listening!</a:t>
            </a:r>
            <a:endParaRPr lang="en-SG" sz="4800" dirty="0"/>
          </a:p>
        </p:txBody>
      </p:sp>
    </p:spTree>
    <p:extLst>
      <p:ext uri="{BB962C8B-B14F-4D97-AF65-F5344CB8AC3E}">
        <p14:creationId xmlns:p14="http://schemas.microsoft.com/office/powerpoint/2010/main" val="4030494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220</TotalTime>
  <Words>877</Words>
  <Application>Microsoft Office PowerPoint</Application>
  <PresentationFormat>Widescreen</PresentationFormat>
  <Paragraphs>55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MaskedCLIP: Bridging the Masked and CLIP Space for Semi-Supervised Medical Vision-Language Pre-training</vt:lpstr>
      <vt:lpstr>MaskedCLIP: Bridging the Masked and CLIP Space for SSVLP</vt:lpstr>
      <vt:lpstr>MaskedCLIP: Bridging the Masked and CLIP Space for SSVLP</vt:lpstr>
      <vt:lpstr>MaskedCLIP: Bridging the Masked and CLIP Space for SSVLP</vt:lpstr>
      <vt:lpstr>MaskedCLIP: Bridging the Masked and CLIP Space for SSVLP</vt:lpstr>
      <vt:lpstr>MaskedCLIP: Bridging the Masked and CLIP Space for SSVLP</vt:lpstr>
      <vt:lpstr>MaskedCLIP: Bridging the Masked and CLIP Space for SSVLP</vt:lpstr>
      <vt:lpstr>MaskedCLIP: Bridging the Masked and CLIP Space for SSVLP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Zhu Lei</dc:creator>
  <cp:lastModifiedBy>Lei Zhu</cp:lastModifiedBy>
  <cp:revision>115</cp:revision>
  <dcterms:created xsi:type="dcterms:W3CDTF">2024-08-24T05:49:13Z</dcterms:created>
  <dcterms:modified xsi:type="dcterms:W3CDTF">2025-09-07T06:43:39Z</dcterms:modified>
</cp:coreProperties>
</file>